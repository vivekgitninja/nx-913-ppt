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Respected Principal, Dean of Student Affairs, HODs, and fellow student leads: Today, we introduce NX-913 — an enterprise-grade platform built specifically for our institution to centralize, streamline, and elevate how our college organizes, manages, and documents every single event, workshop, and hackathon.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time our college hosts a festival or workshop, our faculty and student coordinators spend dozens of hours on repetitive manual work. Payments are tracked on personal UPI accounts, gate entry is bottlenecked by paper registers, and generating NAAC reports takes weeks of manual collation. NX-913 was engineered to solve every single one of these bottlenecks.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NX-913 operates on a secure, role-based architecture. A student sees a personalized hub; a club organizer gets an operations command center; judges get an evaluation portal; and college leadership gets complete administrative oversight and audit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students, NX-913 turns campus involvement into a seamless experience. They log in with their college or GitHub account, find hackathon teammates instantly through the Solo Hacker directory, get instant digital QR passes on their phones, and build an on-platform portfolio of badges and verified achievements.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Hosting a national-level or inter-department hackathon on NX-913 is seamless. Teams manage their work in private workspaces, submit their GitHub repos and live links directly, and judges evaluate submissions digitally on weighted rubrics that instantly feed into a live, transparent leaderboard.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our flagship engineering innovations is the Offline PWA Protocol. During large college fests, auditorium network connectivity often collapses. NX-913's scanner works completely offline, validating tickets locally and syncing with the central database the moment Wi-Fi reconnects. The gates never stop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goodbye to weeks of manual Canva certificate creation. Organizers design a template once, and the platform auto-generates hundreds of personalized certificates in seconds. Crucially, every certificate features a tamper-proof QR code that recruiters can verify online, eliminating certificate forgery under our college's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our faculty coordinators and HODs, this is a game-changer. NX-913 automatically aggregates attendance, photos, speaker details, and feedback into a standardized, ready-to-sign official Event Report formatted specifically for NAAC and IQAC compliance, reducing post-event paperwork from 2 weeks to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paid events and workshops, NX-913 eliminates unverified UPI screenshots and personal bank transfers. All transactions flow through an official Razorpay gateway with instant invoicing, real-time revenue analytics, and an audit trail for college accounts.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Club organizers gain an all-in-one management suite: they can send bulk email broadcasts, monitor real-time registration velocity, manage logos in a shared asset library, and let our built-in AI assistant answer repetitive attendee questions 24/7.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just build a simple website; NX-913 is built on modern enterprise architecture. Using asynchronous background queues with Redis and BullMQ, the system handles heavy traffic spikes during ticket releases and certificate generation without slowing down or crashing.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College leadership retains 100% control. The admin dashboard ensures that no event goes live without proper faculty authorization, provides cross-department participation analytics, and maintains a permanent institutional history of all extracurricular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show you this in action right now with a live 3-minute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built, tested, and optimized NX-913. We propose starting with a pilot for the next department event, followed by onboarding all student clubs. We seek your official approval today to launch NX-913 as our college's official event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Anticipated questions from the Dean, Principal, and faculty — answered with confidence. (1) Internet failure: Offline PWA Protocol — encrypted local cache, sub-0.5s validation, auto-sync on reconnect. (2) Fake events: strict RBAC — only verified club organizers can create events, and every event needs faculty/admin approval before going public. (3) NAAC/NBA value: AI report generator exports structured DOCX/PDF with participant lists, time-stamped attendance, feedback, and financials — formatted for NAAC Criterion V. (4) Data security: JWT with refresh-token rotation, 2FA, encrypted password hashing, role-based queries, and rate-limiting. (5) Server crash: PDF rendering, certificates, and bulk email run on async BullMQ/Redis workers, keeping the API server 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We look forward to your approval, guidance, and partnership in making NX-913 the college's official event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411480" y="347472"/>
            <a:ext cx="384048" cy="384048"/>
          </a:xfrm>
          <a:prstGeom prst="roundRect">
            <a:avLst>
              <a:gd name="adj" fmla="val 19048"/>
            </a:avLst>
          </a:prstGeom>
          <a:solidFill>
            <a:srgbClr val="DC2626"/>
          </a:solidFill>
          <a:ln/>
        </p:spPr>
      </p:sp>
      <p:sp>
        <p:nvSpPr>
          <p:cNvPr id="3" name="Text 1"/>
          <p:cNvSpPr/>
          <p:nvPr/>
        </p:nvSpPr>
        <p:spPr>
          <a:xfrm>
            <a:off x="411480" y="347472"/>
            <a:ext cx="384048" cy="384048"/>
          </a:xfrm>
          <a:prstGeom prst="rect">
            <a:avLst/>
          </a:prstGeom>
          <a:noFill/>
          <a:ln/>
        </p:spPr>
        <p:txBody>
          <a:bodyPr wrap="square" rtlCol="0" anchor="ctr"/>
          <a:lstStyle/>
          <a:p>
            <a:pPr algn="ctr" indent="0" marL="0">
              <a:buNone/>
            </a:pPr>
            <a:r>
              <a:rPr lang="en-US" sz="1600" b="1" dirty="0">
                <a:solidFill>
                  <a:srgbClr val="FFFFFF"/>
                </a:solidFill>
                <a:latin typeface="Chakra Petch" pitchFamily="34" charset="0"/>
                <a:ea typeface="Chakra Petch" pitchFamily="34" charset="-122"/>
                <a:cs typeface="Chakra Petch" pitchFamily="34" charset="-120"/>
              </a:rPr>
              <a:t>N</a:t>
            </a:r>
            <a:endParaRPr lang="en-US" sz="1600" dirty="0"/>
          </a:p>
        </p:txBody>
      </p:sp>
      <p:sp>
        <p:nvSpPr>
          <p:cNvPr id="4" name="Text 2"/>
          <p:cNvSpPr/>
          <p:nvPr/>
        </p:nvSpPr>
        <p:spPr>
          <a:xfrm>
            <a:off x="886968" y="365760"/>
            <a:ext cx="2926080" cy="347472"/>
          </a:xfrm>
          <a:prstGeom prst="rect">
            <a:avLst/>
          </a:prstGeom>
          <a:noFill/>
          <a:ln/>
        </p:spPr>
        <p:txBody>
          <a:bodyPr wrap="square" rtlCol="0" anchor="ctr"/>
          <a:lstStyle/>
          <a:p>
            <a:pPr indent="0" marL="0">
              <a:buNone/>
            </a:pPr>
            <a:r>
              <a:rPr lang="en-US" b="1" dirty="0">
                <a:solidFill>
                  <a:srgbClr val="F5F5F5"/>
                </a:solidFill>
                <a:latin typeface="Chakra Petch" pitchFamily="34" charset="0"/>
                <a:ea typeface="Chakra Petch" pitchFamily="34" charset="-122"/>
                <a:cs typeface="Chakra Petch" pitchFamily="34" charset="-120"/>
              </a:rPr>
              <a:t>NX-913  </a:t>
            </a:r>
            <a:pPr indent="0" marL="0">
              <a:buNone/>
            </a:pPr>
            <a:r>
              <a:rPr lang="en-US" sz="1100" dirty="0">
                <a:solidFill>
                  <a:srgbClr val="71717A"/>
                </a:solidFill>
                <a:latin typeface="Rajdhani" pitchFamily="34" charset="0"/>
                <a:ea typeface="Rajdhani" pitchFamily="34" charset="-122"/>
                <a:cs typeface="Rajdhani" pitchFamily="34" charset="-120"/>
              </a:rPr>
              <a:t>CAMPUS OS</a:t>
            </a:r>
            <a:endParaRPr lang="en-US" sz="1100" dirty="0"/>
          </a:p>
        </p:txBody>
      </p:sp>
      <p:sp>
        <p:nvSpPr>
          <p:cNvPr id="5" name="Text 3"/>
          <p:cNvSpPr/>
          <p:nvPr/>
        </p:nvSpPr>
        <p:spPr>
          <a:xfrm>
            <a:off x="9814255" y="402336"/>
            <a:ext cx="1965960" cy="274320"/>
          </a:xfrm>
          <a:prstGeom prst="rect">
            <a:avLst/>
          </a:prstGeom>
          <a:noFill/>
          <a:ln/>
        </p:spPr>
        <p:txBody>
          <a:bodyPr wrap="square" rtlCol="0" anchor="ctr"/>
          <a:lstStyle/>
          <a:p>
            <a:pPr algn="r" indent="0" marL="0">
              <a:buNone/>
            </a:pPr>
            <a:r>
              <a:rPr lang="en-US" sz="900" spc="200" kern="0" dirty="0">
                <a:solidFill>
                  <a:srgbClr val="71717A"/>
                </a:solidFill>
                <a:latin typeface="JetBrains Mono" pitchFamily="34" charset="0"/>
                <a:ea typeface="JetBrains Mono" pitchFamily="34" charset="-122"/>
                <a:cs typeface="JetBrains Mono" pitchFamily="34" charset="-120"/>
              </a:rPr>
              <a:t>PITCH DECK</a:t>
            </a:r>
            <a:endParaRPr lang="en-US" sz="900" dirty="0"/>
          </a:p>
        </p:txBody>
      </p:sp>
      <p:sp>
        <p:nvSpPr>
          <p:cNvPr id="6" name="Shape 4"/>
          <p:cNvSpPr/>
          <p:nvPr/>
        </p:nvSpPr>
        <p:spPr>
          <a:xfrm>
            <a:off x="-1371600" y="-1097280"/>
            <a:ext cx="6400800" cy="6400800"/>
          </a:xfrm>
          <a:prstGeom prst="ellipse">
            <a:avLst/>
          </a:prstGeom>
          <a:solidFill>
            <a:srgbClr val="DC2626">
              <a:alpha val="12000"/>
            </a:srgbClr>
          </a:solidFill>
          <a:ln/>
        </p:spPr>
      </p:sp>
      <p:sp>
        <p:nvSpPr>
          <p:cNvPr id="7" name="Shape 5"/>
          <p:cNvSpPr/>
          <p:nvPr/>
        </p:nvSpPr>
        <p:spPr>
          <a:xfrm>
            <a:off x="777240" y="1828800"/>
            <a:ext cx="2011680" cy="420624"/>
          </a:xfrm>
          <a:prstGeom prst="roundRect">
            <a:avLst>
              <a:gd name="adj" fmla="val 50000"/>
            </a:avLst>
          </a:prstGeom>
          <a:solidFill>
            <a:srgbClr val="120B0B"/>
          </a:solidFill>
          <a:ln w="12700">
            <a:solidFill>
              <a:srgbClr val="7F1D1D"/>
            </a:solidFill>
            <a:prstDash val="solid"/>
          </a:ln>
        </p:spPr>
      </p:sp>
      <p:sp>
        <p:nvSpPr>
          <p:cNvPr id="8" name="Text 6"/>
          <p:cNvSpPr/>
          <p:nvPr/>
        </p:nvSpPr>
        <p:spPr>
          <a:xfrm>
            <a:off x="777240" y="1828800"/>
            <a:ext cx="2011680" cy="420624"/>
          </a:xfrm>
          <a:prstGeom prst="rect">
            <a:avLst/>
          </a:prstGeom>
          <a:noFill/>
          <a:ln/>
        </p:spPr>
        <p:txBody>
          <a:bodyPr wrap="square" rtlCol="0" anchor="ctr"/>
          <a:lstStyle/>
          <a:p>
            <a:pPr algn="ctr" indent="0" marL="0">
              <a:buNone/>
            </a:pPr>
            <a:r>
              <a:rPr lang="en-US" sz="1100" spc="150" kern="0" dirty="0">
                <a:solidFill>
                  <a:srgbClr val="F87171"/>
                </a:solidFill>
                <a:latin typeface="JetBrains Mono" pitchFamily="34" charset="0"/>
                <a:ea typeface="JetBrains Mono" pitchFamily="34" charset="-122"/>
                <a:cs typeface="JetBrains Mono" pitchFamily="34" charset="-120"/>
              </a:rPr>
              <a:t>N X - 9 1 3</a:t>
            </a:r>
            <a:endParaRPr lang="en-US" sz="1100" dirty="0"/>
          </a:p>
        </p:txBody>
      </p:sp>
      <p:sp>
        <p:nvSpPr>
          <p:cNvPr id="9" name="Text 7"/>
          <p:cNvSpPr/>
          <p:nvPr/>
        </p:nvSpPr>
        <p:spPr>
          <a:xfrm>
            <a:off x="749808" y="2331720"/>
            <a:ext cx="6035040" cy="1280160"/>
          </a:xfrm>
          <a:prstGeom prst="rect">
            <a:avLst/>
          </a:prstGeom>
          <a:noFill/>
          <a:ln/>
        </p:spPr>
        <p:txBody>
          <a:bodyPr wrap="square" rtlCol="0" anchor="ctr"/>
          <a:lstStyle/>
          <a:p>
            <a:pPr algn="l" indent="0" marL="0">
              <a:buNone/>
            </a:pPr>
            <a:r>
              <a:rPr lang="en-US" sz="6600" b="1" spc="100" kern="0" dirty="0">
                <a:solidFill>
                  <a:srgbClr val="EF4444"/>
                </a:solidFill>
                <a:latin typeface="Chakra Petch" pitchFamily="34" charset="0"/>
                <a:ea typeface="Chakra Petch" pitchFamily="34" charset="-122"/>
                <a:cs typeface="Chakra Petch" pitchFamily="34" charset="-120"/>
              </a:rPr>
              <a:t>NX-913</a:t>
            </a:r>
            <a:endParaRPr lang="en-US" sz="6600" dirty="0"/>
          </a:p>
        </p:txBody>
      </p:sp>
      <p:sp>
        <p:nvSpPr>
          <p:cNvPr id="10" name="Text 8"/>
          <p:cNvSpPr/>
          <p:nvPr/>
        </p:nvSpPr>
        <p:spPr>
          <a:xfrm>
            <a:off x="777240" y="3611880"/>
            <a:ext cx="6492240" cy="822960"/>
          </a:xfrm>
          <a:prstGeom prst="rect">
            <a:avLst/>
          </a:prstGeom>
          <a:noFill/>
          <a:ln/>
        </p:spPr>
        <p:txBody>
          <a:bodyPr wrap="square" rtlCol="0" anchor="ctr"/>
          <a:lstStyle/>
          <a:p>
            <a:pPr algn="l" indent="0" marL="0">
              <a:lnSpc>
                <a:spcPts val="2800"/>
              </a:lnSpc>
              <a:buNone/>
            </a:pPr>
            <a:r>
              <a:rPr lang="en-US" sz="2000" b="1" dirty="0">
                <a:solidFill>
                  <a:srgbClr val="F5F5F5"/>
                </a:solidFill>
                <a:latin typeface="Chakra Petch" pitchFamily="34" charset="0"/>
                <a:ea typeface="Chakra Petch" pitchFamily="34" charset="-122"/>
                <a:cs typeface="Chakra Petch" pitchFamily="34" charset="-120"/>
              </a:rPr>
              <a:t>The Next-Generation Campus Event &amp; Hackathon Operating System</a:t>
            </a:r>
            <a:endParaRPr lang="en-US" sz="2000" dirty="0"/>
          </a:p>
        </p:txBody>
      </p:sp>
      <p:sp>
        <p:nvSpPr>
          <p:cNvPr id="11" name="Text 9"/>
          <p:cNvSpPr/>
          <p:nvPr/>
        </p:nvSpPr>
        <p:spPr>
          <a:xfrm>
            <a:off x="777240" y="4572000"/>
            <a:ext cx="6492240" cy="365760"/>
          </a:xfrm>
          <a:prstGeom prst="rect">
            <a:avLst/>
          </a:prstGeom>
          <a:noFill/>
          <a:ln/>
        </p:spPr>
        <p:txBody>
          <a:bodyPr wrap="square" rtlCol="0" anchor="ctr"/>
          <a:lstStyle/>
          <a:p>
            <a:pPr algn="l" indent="0" marL="0">
              <a:buNone/>
            </a:pPr>
            <a:r>
              <a:rPr lang="en-US" sz="1500" dirty="0">
                <a:solidFill>
                  <a:srgbClr val="FFD700"/>
                </a:solidFill>
                <a:latin typeface="Rajdhani" pitchFamily="34" charset="0"/>
                <a:ea typeface="Rajdhani" pitchFamily="34" charset="-122"/>
                <a:cs typeface="Rajdhani" pitchFamily="34" charset="-120"/>
              </a:rPr>
              <a:t>From Registration to NAAC Reports — In One Click</a:t>
            </a:r>
            <a:endParaRPr lang="en-US" sz="1500" dirty="0"/>
          </a:p>
        </p:txBody>
      </p:sp>
      <p:sp>
        <p:nvSpPr>
          <p:cNvPr id="12" name="Text 10"/>
          <p:cNvSpPr/>
          <p:nvPr/>
        </p:nvSpPr>
        <p:spPr>
          <a:xfrm>
            <a:off x="777240" y="5029200"/>
            <a:ext cx="6492240" cy="365760"/>
          </a:xfrm>
          <a:prstGeom prst="rect">
            <a:avLst/>
          </a:prstGeom>
          <a:noFill/>
          <a:ln/>
        </p:spPr>
        <p:txBody>
          <a:bodyPr wrap="square" rtlCol="0" anchor="ctr"/>
          <a:lstStyle/>
          <a:p>
            <a:pPr algn="l" indent="0" marL="0">
              <a:buNone/>
            </a:pPr>
            <a:r>
              <a:rPr lang="en-US" sz="1300" dirty="0">
                <a:solidFill>
                  <a:srgbClr val="9CA3AF"/>
                </a:solidFill>
                <a:latin typeface="Rajdhani" pitchFamily="34" charset="0"/>
                <a:ea typeface="Rajdhani" pitchFamily="34" charset="-122"/>
                <a:cs typeface="Rajdhani" pitchFamily="34" charset="-120"/>
              </a:rPr>
              <a:t>Unified Student Engagement · Hackathon Lifecycle · Academic Compliance</a:t>
            </a:r>
            <a:endParaRPr lang="en-US" sz="1300" dirty="0"/>
          </a:p>
        </p:txBody>
      </p:sp>
      <p:sp>
        <p:nvSpPr>
          <p:cNvPr id="13" name="Shape 11"/>
          <p:cNvSpPr/>
          <p:nvPr/>
        </p:nvSpPr>
        <p:spPr>
          <a:xfrm>
            <a:off x="777240" y="5532120"/>
            <a:ext cx="1481328" cy="384048"/>
          </a:xfrm>
          <a:prstGeom prst="roundRect">
            <a:avLst>
              <a:gd name="adj" fmla="val 50000"/>
            </a:avLst>
          </a:prstGeom>
          <a:solidFill>
            <a:srgbClr val="19191E"/>
          </a:solidFill>
          <a:ln w="12700">
            <a:solidFill>
              <a:srgbClr val="26262D"/>
            </a:solidFill>
            <a:prstDash val="solid"/>
          </a:ln>
        </p:spPr>
      </p:sp>
      <p:sp>
        <p:nvSpPr>
          <p:cNvPr id="14" name="Text 12"/>
          <p:cNvSpPr/>
          <p:nvPr/>
        </p:nvSpPr>
        <p:spPr>
          <a:xfrm>
            <a:off x="777240" y="5532120"/>
            <a:ext cx="1481328" cy="384048"/>
          </a:xfrm>
          <a:prstGeom prst="rect">
            <a:avLst/>
          </a:prstGeom>
          <a:noFill/>
          <a:ln/>
        </p:spPr>
        <p:txBody>
          <a:bodyPr wrap="square" rtlCol="0" anchor="ctr"/>
          <a:lstStyle/>
          <a:p>
            <a:pPr algn="ctr" indent="0" marL="0">
              <a:buNone/>
            </a:pPr>
            <a:r>
              <a:rPr lang="en-US" sz="1050" b="1" dirty="0">
                <a:solidFill>
                  <a:srgbClr val="F5F5F5"/>
                </a:solidFill>
                <a:latin typeface="Rajdhani" pitchFamily="34" charset="0"/>
                <a:ea typeface="Rajdhani" pitchFamily="34" charset="-122"/>
                <a:cs typeface="Rajdhani" pitchFamily="34" charset="-120"/>
              </a:rPr>
              <a:t>🎓 Student Portal</a:t>
            </a:r>
            <a:endParaRPr lang="en-US" sz="1050" dirty="0"/>
          </a:p>
        </p:txBody>
      </p:sp>
      <p:sp>
        <p:nvSpPr>
          <p:cNvPr id="15" name="Shape 13"/>
          <p:cNvSpPr/>
          <p:nvPr/>
        </p:nvSpPr>
        <p:spPr>
          <a:xfrm>
            <a:off x="2423160" y="5532120"/>
            <a:ext cx="1481328" cy="384048"/>
          </a:xfrm>
          <a:prstGeom prst="roundRect">
            <a:avLst>
              <a:gd name="adj" fmla="val 50000"/>
            </a:avLst>
          </a:prstGeom>
          <a:solidFill>
            <a:srgbClr val="19191E"/>
          </a:solidFill>
          <a:ln w="12700">
            <a:solidFill>
              <a:srgbClr val="26262D"/>
            </a:solidFill>
            <a:prstDash val="solid"/>
          </a:ln>
        </p:spPr>
      </p:sp>
      <p:sp>
        <p:nvSpPr>
          <p:cNvPr id="16" name="Text 14"/>
          <p:cNvSpPr/>
          <p:nvPr/>
        </p:nvSpPr>
        <p:spPr>
          <a:xfrm>
            <a:off x="2423160" y="5532120"/>
            <a:ext cx="1481328" cy="384048"/>
          </a:xfrm>
          <a:prstGeom prst="rect">
            <a:avLst/>
          </a:prstGeom>
          <a:noFill/>
          <a:ln/>
        </p:spPr>
        <p:txBody>
          <a:bodyPr wrap="square" rtlCol="0" anchor="ctr"/>
          <a:lstStyle/>
          <a:p>
            <a:pPr algn="ctr" indent="0" marL="0">
              <a:buNone/>
            </a:pPr>
            <a:r>
              <a:rPr lang="en-US" sz="1050" b="1" dirty="0">
                <a:solidFill>
                  <a:srgbClr val="F5F5F5"/>
                </a:solidFill>
                <a:latin typeface="Rajdhani" pitchFamily="34" charset="0"/>
                <a:ea typeface="Rajdhani" pitchFamily="34" charset="-122"/>
                <a:cs typeface="Rajdhani" pitchFamily="34" charset="-120"/>
              </a:rPr>
              <a:t>🎪 Organizer Suite</a:t>
            </a:r>
            <a:endParaRPr lang="en-US" sz="1050" dirty="0"/>
          </a:p>
        </p:txBody>
      </p:sp>
      <p:sp>
        <p:nvSpPr>
          <p:cNvPr id="17" name="Shape 15"/>
          <p:cNvSpPr/>
          <p:nvPr/>
        </p:nvSpPr>
        <p:spPr>
          <a:xfrm>
            <a:off x="4069080" y="5532120"/>
            <a:ext cx="1481328" cy="384048"/>
          </a:xfrm>
          <a:prstGeom prst="roundRect">
            <a:avLst>
              <a:gd name="adj" fmla="val 50000"/>
            </a:avLst>
          </a:prstGeom>
          <a:solidFill>
            <a:srgbClr val="19191E"/>
          </a:solidFill>
          <a:ln w="12700">
            <a:solidFill>
              <a:srgbClr val="26262D"/>
            </a:solidFill>
            <a:prstDash val="solid"/>
          </a:ln>
        </p:spPr>
      </p:sp>
      <p:sp>
        <p:nvSpPr>
          <p:cNvPr id="18" name="Text 16"/>
          <p:cNvSpPr/>
          <p:nvPr/>
        </p:nvSpPr>
        <p:spPr>
          <a:xfrm>
            <a:off x="4069080" y="5532120"/>
            <a:ext cx="1481328" cy="384048"/>
          </a:xfrm>
          <a:prstGeom prst="rect">
            <a:avLst/>
          </a:prstGeom>
          <a:noFill/>
          <a:ln/>
        </p:spPr>
        <p:txBody>
          <a:bodyPr wrap="square" rtlCol="0" anchor="ctr"/>
          <a:lstStyle/>
          <a:p>
            <a:pPr algn="ctr" indent="0" marL="0">
              <a:buNone/>
            </a:pPr>
            <a:r>
              <a:rPr lang="en-US" sz="1050" b="1" dirty="0">
                <a:solidFill>
                  <a:srgbClr val="F5F5F5"/>
                </a:solidFill>
                <a:latin typeface="Rajdhani" pitchFamily="34" charset="0"/>
                <a:ea typeface="Rajdhani" pitchFamily="34" charset="-122"/>
                <a:cs typeface="Rajdhani" pitchFamily="34" charset="-120"/>
              </a:rPr>
              <a:t>⚖️ Judging Console</a:t>
            </a:r>
            <a:endParaRPr lang="en-US" sz="1050" dirty="0"/>
          </a:p>
        </p:txBody>
      </p:sp>
      <p:sp>
        <p:nvSpPr>
          <p:cNvPr id="19" name="Shape 17"/>
          <p:cNvSpPr/>
          <p:nvPr/>
        </p:nvSpPr>
        <p:spPr>
          <a:xfrm>
            <a:off x="5715000" y="5532120"/>
            <a:ext cx="1481328" cy="384048"/>
          </a:xfrm>
          <a:prstGeom prst="roundRect">
            <a:avLst>
              <a:gd name="adj" fmla="val 50000"/>
            </a:avLst>
          </a:prstGeom>
          <a:solidFill>
            <a:srgbClr val="19191E"/>
          </a:solidFill>
          <a:ln w="12700">
            <a:solidFill>
              <a:srgbClr val="26262D"/>
            </a:solidFill>
            <a:prstDash val="solid"/>
          </a:ln>
        </p:spPr>
      </p:sp>
      <p:sp>
        <p:nvSpPr>
          <p:cNvPr id="20" name="Text 18"/>
          <p:cNvSpPr/>
          <p:nvPr/>
        </p:nvSpPr>
        <p:spPr>
          <a:xfrm>
            <a:off x="5715000" y="5532120"/>
            <a:ext cx="1481328" cy="384048"/>
          </a:xfrm>
          <a:prstGeom prst="rect">
            <a:avLst/>
          </a:prstGeom>
          <a:noFill/>
          <a:ln/>
        </p:spPr>
        <p:txBody>
          <a:bodyPr wrap="square" rtlCol="0" anchor="ctr"/>
          <a:lstStyle/>
          <a:p>
            <a:pPr algn="ctr" indent="0" marL="0">
              <a:buNone/>
            </a:pPr>
            <a:r>
              <a:rPr lang="en-US" sz="1050" b="1" dirty="0">
                <a:solidFill>
                  <a:srgbClr val="F5F5F5"/>
                </a:solidFill>
                <a:latin typeface="Rajdhani" pitchFamily="34" charset="0"/>
                <a:ea typeface="Rajdhani" pitchFamily="34" charset="-122"/>
                <a:cs typeface="Rajdhani" pitchFamily="34" charset="-120"/>
              </a:rPr>
              <a:t>🏛️ Admin Oversight</a:t>
            </a:r>
            <a:endParaRPr lang="en-US" sz="1050" dirty="0"/>
          </a:p>
        </p:txBody>
      </p:sp>
      <p:sp>
        <p:nvSpPr>
          <p:cNvPr id="21" name="Shape 19"/>
          <p:cNvSpPr/>
          <p:nvPr/>
        </p:nvSpPr>
        <p:spPr>
          <a:xfrm>
            <a:off x="7635240" y="1234440"/>
            <a:ext cx="4023360" cy="4892040"/>
          </a:xfrm>
          <a:prstGeom prst="roundRect">
            <a:avLst>
              <a:gd name="adj" fmla="val 2045"/>
            </a:avLst>
          </a:prstGeom>
          <a:solidFill>
            <a:srgbClr val="0C0C10"/>
          </a:solidFill>
          <a:ln w="12700">
            <a:solidFill>
              <a:srgbClr val="333333"/>
            </a:solidFill>
            <a:prstDash val="solid"/>
          </a:ln>
        </p:spPr>
      </p:sp>
      <p:sp>
        <p:nvSpPr>
          <p:cNvPr id="22" name="Shape 20"/>
          <p:cNvSpPr/>
          <p:nvPr/>
        </p:nvSpPr>
        <p:spPr>
          <a:xfrm>
            <a:off x="7690104" y="1289304"/>
            <a:ext cx="3913632" cy="310896"/>
          </a:xfrm>
          <a:prstGeom prst="rect">
            <a:avLst/>
          </a:prstGeom>
          <a:solidFill>
            <a:srgbClr val="14141A"/>
          </a:solidFill>
          <a:ln/>
        </p:spPr>
      </p:sp>
      <p:sp>
        <p:nvSpPr>
          <p:cNvPr id="23" name="Shape 21"/>
          <p:cNvSpPr/>
          <p:nvPr/>
        </p:nvSpPr>
        <p:spPr>
          <a:xfrm>
            <a:off x="7763256" y="1376172"/>
            <a:ext cx="109728" cy="109728"/>
          </a:xfrm>
          <a:prstGeom prst="ellipse">
            <a:avLst/>
          </a:prstGeom>
          <a:solidFill>
            <a:srgbClr val="7F1D1D"/>
          </a:solidFill>
          <a:ln/>
        </p:spPr>
      </p:sp>
      <p:sp>
        <p:nvSpPr>
          <p:cNvPr id="24" name="Shape 22"/>
          <p:cNvSpPr/>
          <p:nvPr/>
        </p:nvSpPr>
        <p:spPr>
          <a:xfrm>
            <a:off x="7946136" y="1376172"/>
            <a:ext cx="109728" cy="109728"/>
          </a:xfrm>
          <a:prstGeom prst="ellipse">
            <a:avLst/>
          </a:prstGeom>
          <a:solidFill>
            <a:srgbClr val="B45309"/>
          </a:solidFill>
          <a:ln/>
        </p:spPr>
      </p:sp>
      <p:sp>
        <p:nvSpPr>
          <p:cNvPr id="25" name="Shape 23"/>
          <p:cNvSpPr/>
          <p:nvPr/>
        </p:nvSpPr>
        <p:spPr>
          <a:xfrm>
            <a:off x="8129016" y="1376172"/>
            <a:ext cx="109728" cy="109728"/>
          </a:xfrm>
          <a:prstGeom prst="ellipse">
            <a:avLst/>
          </a:prstGeom>
          <a:solidFill>
            <a:srgbClr val="166534"/>
          </a:solidFill>
          <a:ln/>
        </p:spPr>
      </p:sp>
      <p:sp>
        <p:nvSpPr>
          <p:cNvPr id="26" name="Shape 24"/>
          <p:cNvSpPr/>
          <p:nvPr/>
        </p:nvSpPr>
        <p:spPr>
          <a:xfrm>
            <a:off x="8293608" y="1353312"/>
            <a:ext cx="3108960" cy="182880"/>
          </a:xfrm>
          <a:prstGeom prst="roundRect">
            <a:avLst>
              <a:gd name="adj" fmla="val 50000"/>
            </a:avLst>
          </a:prstGeom>
          <a:solidFill>
            <a:srgbClr val="0A0A0E"/>
          </a:solidFill>
          <a:ln w="6350">
            <a:solidFill>
              <a:srgbClr val="26262D"/>
            </a:solidFill>
            <a:prstDash val="solid"/>
          </a:ln>
        </p:spPr>
      </p:sp>
      <p:sp>
        <p:nvSpPr>
          <p:cNvPr id="27" name="Text 25"/>
          <p:cNvSpPr/>
          <p:nvPr/>
        </p:nvSpPr>
        <p:spPr>
          <a:xfrm>
            <a:off x="8348472" y="1353312"/>
            <a:ext cx="3017520" cy="182880"/>
          </a:xfrm>
          <a:prstGeom prst="rect">
            <a:avLst/>
          </a:prstGeom>
          <a:noFill/>
          <a:ln/>
        </p:spPr>
        <p:txBody>
          <a:bodyPr wrap="square" rtlCol="0" anchor="ctr"/>
          <a:lstStyle/>
          <a:p>
            <a:pPr algn="ctr" indent="0" marL="0">
              <a:buNone/>
            </a:pPr>
            <a:r>
              <a:rPr lang="en-US" sz="800" dirty="0">
                <a:solidFill>
                  <a:srgbClr val="71717A"/>
                </a:solidFill>
                <a:latin typeface="JetBrains Mono" pitchFamily="34" charset="0"/>
                <a:ea typeface="JetBrains Mono" pitchFamily="34" charset="-122"/>
                <a:cs typeface="JetBrains Mono" pitchFamily="34" charset="-120"/>
              </a:rPr>
              <a:t>https://nx-913.com</a:t>
            </a:r>
            <a:endParaRPr lang="en-US" sz="800" dirty="0"/>
          </a:p>
        </p:txBody>
      </p:sp>
      <p:pic>
        <p:nvPicPr>
          <p:cNvPr id="28" name="Image 0" descr="/Users/vivek/Trend/assets/site/01-home.png">    </p:cNvPr>
          <p:cNvPicPr>
            <a:picLocks noChangeAspect="1"/>
          </p:cNvPicPr>
          <p:nvPr/>
        </p:nvPicPr>
        <p:blipFill>
          <a:blip r:embed="rId1"/>
          <a:stretch>
            <a:fillRect/>
          </a:stretch>
        </p:blipFill>
        <p:spPr>
          <a:xfrm>
            <a:off x="7690104" y="1655064"/>
            <a:ext cx="3913632" cy="4379976"/>
          </a:xfrm>
          <a:prstGeom prst="rect">
            <a:avLst/>
          </a:prstGeom>
        </p:spPr>
      </p:pic>
      <p:sp>
        <p:nvSpPr>
          <p:cNvPr id="29" name="Shape 26"/>
          <p:cNvSpPr/>
          <p:nvPr/>
        </p:nvSpPr>
        <p:spPr>
          <a:xfrm>
            <a:off x="8183880" y="5806440"/>
            <a:ext cx="2926080" cy="457200"/>
          </a:xfrm>
          <a:prstGeom prst="ellipse">
            <a:avLst/>
          </a:prstGeom>
          <a:solidFill>
            <a:srgbClr val="DC2626">
              <a:alpha val="14000"/>
            </a:srgbClr>
          </a:solidFill>
          <a:ln/>
        </p:spPr>
      </p:sp>
      <p:sp>
        <p:nvSpPr>
          <p:cNvPr id="30" name="Shape 27"/>
          <p:cNvSpPr/>
          <p:nvPr/>
        </p:nvSpPr>
        <p:spPr>
          <a:xfrm>
            <a:off x="0" y="6775704"/>
            <a:ext cx="761981" cy="45720"/>
          </a:xfrm>
          <a:prstGeom prst="rect">
            <a:avLst/>
          </a:prstGeom>
          <a:solidFill>
            <a:srgbClr val="DC2626"/>
          </a:solidFill>
          <a:ln/>
        </p:spPr>
      </p:sp>
      <p:sp>
        <p:nvSpPr>
          <p:cNvPr id="31" name="Text 28"/>
          <p:cNvSpPr/>
          <p:nvPr/>
        </p:nvSpPr>
        <p:spPr>
          <a:xfrm>
            <a:off x="411480" y="6355080"/>
            <a:ext cx="5486400" cy="274320"/>
          </a:xfrm>
          <a:prstGeom prst="rect">
            <a:avLst/>
          </a:prstGeom>
          <a:noFill/>
          <a:ln/>
        </p:spPr>
        <p:txBody>
          <a:bodyPr wrap="square" rtlCol="0" anchor="ctr"/>
          <a:lstStyle/>
          <a:p>
            <a:pPr indent="0" marL="0">
              <a:buNone/>
            </a:pPr>
            <a:r>
              <a:rPr lang="en-US" sz="900" spc="150" kern="0" dirty="0">
                <a:solidFill>
                  <a:srgbClr val="71717A"/>
                </a:solidFill>
                <a:latin typeface="Rajdhani" pitchFamily="34" charset="0"/>
                <a:ea typeface="Rajdhani" pitchFamily="34" charset="-122"/>
                <a:cs typeface="Rajdhani" pitchFamily="34" charset="-120"/>
              </a:rPr>
              <a:t>NX-913 · CAMPUS EVENT &amp; HACKATHON OS</a:t>
            </a:r>
            <a:endParaRPr lang="en-US" sz="900" dirty="0"/>
          </a:p>
        </p:txBody>
      </p:sp>
      <p:sp>
        <p:nvSpPr>
          <p:cNvPr id="32" name="Text 29"/>
          <p:cNvSpPr/>
          <p:nvPr/>
        </p:nvSpPr>
        <p:spPr>
          <a:xfrm>
            <a:off x="10728655" y="6355080"/>
            <a:ext cx="1051560" cy="274320"/>
          </a:xfrm>
          <a:prstGeom prst="rect">
            <a:avLst/>
          </a:prstGeom>
          <a:noFill/>
          <a:ln/>
        </p:spPr>
        <p:txBody>
          <a:bodyPr wrap="square" rtlCol="0" anchor="ctr"/>
          <a:lstStyle/>
          <a:p>
            <a:pPr algn="r" indent="0" marL="0">
              <a:buNone/>
            </a:pPr>
            <a:r>
              <a:rPr lang="en-US" sz="1000" dirty="0">
                <a:solidFill>
                  <a:srgbClr val="9CA3AF"/>
                </a:solidFill>
                <a:latin typeface="JetBrains Mono" pitchFamily="34" charset="0"/>
                <a:ea typeface="JetBrains Mono" pitchFamily="34" charset="-122"/>
                <a:cs typeface="JetBrains Mono" pitchFamily="34" charset="-120"/>
              </a:rPr>
              <a:t>01 / 16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411480" y="347472"/>
            <a:ext cx="384048" cy="384048"/>
          </a:xfrm>
          <a:prstGeom prst="roundRect">
            <a:avLst>
              <a:gd name="adj" fmla="val 19048"/>
            </a:avLst>
          </a:prstGeom>
          <a:solidFill>
            <a:srgbClr val="DC2626"/>
          </a:solidFill>
          <a:ln/>
        </p:spPr>
      </p:sp>
      <p:sp>
        <p:nvSpPr>
          <p:cNvPr id="3" name="Text 1"/>
          <p:cNvSpPr/>
          <p:nvPr/>
        </p:nvSpPr>
        <p:spPr>
          <a:xfrm>
            <a:off x="411480" y="347472"/>
            <a:ext cx="384048" cy="384048"/>
          </a:xfrm>
          <a:prstGeom prst="rect">
            <a:avLst/>
          </a:prstGeom>
          <a:noFill/>
          <a:ln/>
        </p:spPr>
        <p:txBody>
          <a:bodyPr wrap="square" rtlCol="0" anchor="ctr"/>
          <a:lstStyle/>
          <a:p>
            <a:pPr algn="ctr" indent="0" marL="0">
              <a:buNone/>
            </a:pPr>
            <a:r>
              <a:rPr lang="en-US" sz="1600" b="1" dirty="0">
                <a:solidFill>
                  <a:srgbClr val="FFFFFF"/>
                </a:solidFill>
                <a:latin typeface="Chakra Petch" pitchFamily="34" charset="0"/>
                <a:ea typeface="Chakra Petch" pitchFamily="34" charset="-122"/>
                <a:cs typeface="Chakra Petch" pitchFamily="34" charset="-120"/>
              </a:rPr>
              <a:t>N</a:t>
            </a:r>
            <a:endParaRPr lang="en-US" sz="1600" dirty="0"/>
          </a:p>
        </p:txBody>
      </p:sp>
      <p:sp>
        <p:nvSpPr>
          <p:cNvPr id="4" name="Text 2"/>
          <p:cNvSpPr/>
          <p:nvPr/>
        </p:nvSpPr>
        <p:spPr>
          <a:xfrm>
            <a:off x="886968" y="365760"/>
            <a:ext cx="2926080" cy="347472"/>
          </a:xfrm>
          <a:prstGeom prst="rect">
            <a:avLst/>
          </a:prstGeom>
          <a:noFill/>
          <a:ln/>
        </p:spPr>
        <p:txBody>
          <a:bodyPr wrap="square" rtlCol="0" anchor="ctr"/>
          <a:lstStyle/>
          <a:p>
            <a:pPr indent="0" marL="0">
              <a:buNone/>
            </a:pPr>
            <a:r>
              <a:rPr lang="en-US" b="1" dirty="0">
                <a:solidFill>
                  <a:srgbClr val="F5F5F5"/>
                </a:solidFill>
                <a:latin typeface="Chakra Petch" pitchFamily="34" charset="0"/>
                <a:ea typeface="Chakra Petch" pitchFamily="34" charset="-122"/>
                <a:cs typeface="Chakra Petch" pitchFamily="34" charset="-120"/>
              </a:rPr>
              <a:t>NX-913  </a:t>
            </a:r>
            <a:pPr indent="0" marL="0">
              <a:buNone/>
            </a:pPr>
            <a:r>
              <a:rPr lang="en-US" sz="1100" dirty="0">
                <a:solidFill>
                  <a:srgbClr val="71717A"/>
                </a:solidFill>
                <a:latin typeface="Rajdhani" pitchFamily="34" charset="0"/>
                <a:ea typeface="Rajdhani" pitchFamily="34" charset="-122"/>
                <a:cs typeface="Rajdhani" pitchFamily="34" charset="-120"/>
              </a:rPr>
              <a:t>CAMPUS OS</a:t>
            </a:r>
            <a:endParaRPr lang="en-US" sz="1100" dirty="0"/>
          </a:p>
        </p:txBody>
      </p:sp>
      <p:sp>
        <p:nvSpPr>
          <p:cNvPr id="5" name="Text 3"/>
          <p:cNvSpPr/>
          <p:nvPr/>
        </p:nvSpPr>
        <p:spPr>
          <a:xfrm>
            <a:off x="9814255" y="402336"/>
            <a:ext cx="1965960" cy="274320"/>
          </a:xfrm>
          <a:prstGeom prst="rect">
            <a:avLst/>
          </a:prstGeom>
          <a:noFill/>
          <a:ln/>
        </p:spPr>
        <p:txBody>
          <a:bodyPr wrap="square" rtlCol="0" anchor="ctr"/>
          <a:lstStyle/>
          <a:p>
            <a:pPr algn="r" indent="0" marL="0">
              <a:buNone/>
            </a:pPr>
            <a:r>
              <a:rPr lang="en-US" sz="900" spc="200" kern="0" dirty="0">
                <a:solidFill>
                  <a:srgbClr val="71717A"/>
                </a:solidFill>
                <a:latin typeface="JetBrains Mono" pitchFamily="34" charset="0"/>
                <a:ea typeface="JetBrains Mono" pitchFamily="34" charset="-122"/>
                <a:cs typeface="JetBrains Mono" pitchFamily="34" charset="-120"/>
              </a:rPr>
              <a:t>PITCH DECK</a:t>
            </a:r>
            <a:endParaRPr lang="en-US" sz="900" dirty="0"/>
          </a:p>
        </p:txBody>
      </p:sp>
      <p:sp>
        <p:nvSpPr>
          <p:cNvPr id="6" name="Shape 4"/>
          <p:cNvSpPr/>
          <p:nvPr/>
        </p:nvSpPr>
        <p:spPr>
          <a:xfrm>
            <a:off x="411480" y="960120"/>
            <a:ext cx="1143000" cy="347472"/>
          </a:xfrm>
          <a:prstGeom prst="roundRect">
            <a:avLst>
              <a:gd name="adj" fmla="val 50000"/>
            </a:avLst>
          </a:prstGeom>
          <a:solidFill>
            <a:srgbClr val="1A0D0D"/>
          </a:solidFill>
          <a:ln w="12700">
            <a:solidFill>
              <a:srgbClr val="7F1D1D"/>
            </a:solidFill>
            <a:prstDash val="solid"/>
          </a:ln>
        </p:spPr>
      </p:sp>
      <p:sp>
        <p:nvSpPr>
          <p:cNvPr id="7" name="Text 5"/>
          <p:cNvSpPr/>
          <p:nvPr/>
        </p:nvSpPr>
        <p:spPr>
          <a:xfrm>
            <a:off x="411480" y="960120"/>
            <a:ext cx="1143000" cy="347472"/>
          </a:xfrm>
          <a:prstGeom prst="rect">
            <a:avLst/>
          </a:prstGeom>
          <a:noFill/>
          <a:ln/>
        </p:spPr>
        <p:txBody>
          <a:bodyPr wrap="square" rtlCol="0" anchor="ctr"/>
          <a:lstStyle/>
          <a:p>
            <a:pPr algn="ctr" indent="0" marL="0">
              <a:buNone/>
            </a:pPr>
            <a:r>
              <a:rPr lang="en-US" sz="900" spc="100" kern="0" dirty="0">
                <a:solidFill>
                  <a:srgbClr val="F87171"/>
                </a:solidFill>
                <a:latin typeface="JetBrains Mono" pitchFamily="34" charset="0"/>
                <a:ea typeface="JetBrains Mono" pitchFamily="34" charset="-122"/>
                <a:cs typeface="JetBrains Mono" pitchFamily="34" charset="-120"/>
              </a:rPr>
              <a:t>02 THE PAIN POINTS</a:t>
            </a:r>
            <a:endParaRPr lang="en-US" sz="900" dirty="0"/>
          </a:p>
        </p:txBody>
      </p:sp>
      <p:sp>
        <p:nvSpPr>
          <p:cNvPr id="8" name="Text 6"/>
          <p:cNvSpPr/>
          <p:nvPr/>
        </p:nvSpPr>
        <p:spPr>
          <a:xfrm>
            <a:off x="384048" y="1371600"/>
            <a:ext cx="11368735" cy="822960"/>
          </a:xfrm>
          <a:prstGeom prst="rect">
            <a:avLst/>
          </a:prstGeom>
          <a:noFill/>
          <a:ln/>
        </p:spPr>
        <p:txBody>
          <a:bodyPr wrap="square" rtlCol="0" anchor="ctr"/>
          <a:lstStyle/>
          <a:p>
            <a:pPr indent="0" marL="0">
              <a:buNone/>
            </a:pPr>
            <a:r>
              <a:rPr lang="en-US" sz="3400" b="1" dirty="0">
                <a:solidFill>
                  <a:srgbClr val="F5F5F5"/>
                </a:solidFill>
                <a:latin typeface="Chakra Petch" pitchFamily="34" charset="0"/>
                <a:ea typeface="Chakra Petch" pitchFamily="34" charset="-122"/>
                <a:cs typeface="Chakra Petch" pitchFamily="34" charset="-120"/>
              </a:rPr>
              <a:t>The Current Campus Dilemma</a:t>
            </a:r>
            <a:endParaRPr lang="en-US" sz="3400" dirty="0"/>
          </a:p>
        </p:txBody>
      </p:sp>
      <p:sp>
        <p:nvSpPr>
          <p:cNvPr id="9" name="Text 7"/>
          <p:cNvSpPr/>
          <p:nvPr/>
        </p:nvSpPr>
        <p:spPr>
          <a:xfrm>
            <a:off x="411480" y="2121408"/>
            <a:ext cx="10545775" cy="411480"/>
          </a:xfrm>
          <a:prstGeom prst="rect">
            <a:avLst/>
          </a:prstGeom>
          <a:noFill/>
          <a:ln/>
        </p:spPr>
        <p:txBody>
          <a:bodyPr wrap="square" rtlCol="0" anchor="t"/>
          <a:lstStyle/>
          <a:p>
            <a:pPr indent="0" marL="0">
              <a:buNone/>
            </a:pPr>
            <a:r>
              <a:rPr lang="en-US" sz="1500" dirty="0">
                <a:solidFill>
                  <a:srgbClr val="9CA3AF"/>
                </a:solidFill>
                <a:latin typeface="Rajdhani" pitchFamily="34" charset="0"/>
                <a:ea typeface="Rajdhani" pitchFamily="34" charset="-122"/>
                <a:cs typeface="Rajdhani" pitchFamily="34" charset="-120"/>
              </a:rPr>
              <a:t>Manual, disconnected workflows cost us hours, money, and student trust — every single event.</a:t>
            </a:r>
            <a:endParaRPr lang="en-US" sz="1500" dirty="0"/>
          </a:p>
        </p:txBody>
      </p:sp>
      <p:sp>
        <p:nvSpPr>
          <p:cNvPr id="10" name="Shape 8"/>
          <p:cNvSpPr/>
          <p:nvPr/>
        </p:nvSpPr>
        <p:spPr>
          <a:xfrm>
            <a:off x="411480" y="2697480"/>
            <a:ext cx="5583784" cy="1024128"/>
          </a:xfrm>
          <a:prstGeom prst="roundRect">
            <a:avLst>
              <a:gd name="adj" fmla="val 8929"/>
            </a:avLst>
          </a:prstGeom>
          <a:solidFill>
            <a:srgbClr val="0F0F14"/>
          </a:solidFill>
          <a:ln w="12700">
            <a:solidFill>
              <a:srgbClr val="26262D"/>
            </a:solidFill>
            <a:prstDash val="solid"/>
          </a:ln>
        </p:spPr>
      </p:sp>
      <p:sp>
        <p:nvSpPr>
          <p:cNvPr id="11" name="Shape 9"/>
          <p:cNvSpPr/>
          <p:nvPr/>
        </p:nvSpPr>
        <p:spPr>
          <a:xfrm>
            <a:off x="411480" y="2807208"/>
            <a:ext cx="45720" cy="804672"/>
          </a:xfrm>
          <a:prstGeom prst="rect">
            <a:avLst/>
          </a:prstGeom>
          <a:solidFill>
            <a:srgbClr val="DC2626"/>
          </a:solidFill>
          <a:ln/>
        </p:spPr>
      </p:sp>
      <p:sp>
        <p:nvSpPr>
          <p:cNvPr id="12" name="Text 10"/>
          <p:cNvSpPr/>
          <p:nvPr/>
        </p:nvSpPr>
        <p:spPr>
          <a:xfrm>
            <a:off x="612648" y="2788920"/>
            <a:ext cx="5218024"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Scattered Information</a:t>
            </a:r>
            <a:endParaRPr lang="en-US" sz="1450" dirty="0"/>
          </a:p>
        </p:txBody>
      </p:sp>
      <p:sp>
        <p:nvSpPr>
          <p:cNvPr id="13" name="Text 11"/>
          <p:cNvSpPr/>
          <p:nvPr/>
        </p:nvSpPr>
        <p:spPr>
          <a:xfrm>
            <a:off x="612648" y="3227832"/>
            <a:ext cx="5218024" cy="384048"/>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20+ clubs use separate Google Forms, WhatsApp groups, Notion pages &amp; Unstop links — students miss out on events.</a:t>
            </a:r>
            <a:endParaRPr lang="en-US" sz="1250" dirty="0"/>
          </a:p>
        </p:txBody>
      </p:sp>
      <p:sp>
        <p:nvSpPr>
          <p:cNvPr id="14" name="Shape 12"/>
          <p:cNvSpPr/>
          <p:nvPr/>
        </p:nvSpPr>
        <p:spPr>
          <a:xfrm>
            <a:off x="6196432" y="2697480"/>
            <a:ext cx="5583784" cy="1024128"/>
          </a:xfrm>
          <a:prstGeom prst="roundRect">
            <a:avLst>
              <a:gd name="adj" fmla="val 8929"/>
            </a:avLst>
          </a:prstGeom>
          <a:solidFill>
            <a:srgbClr val="0F0F14"/>
          </a:solidFill>
          <a:ln w="12700">
            <a:solidFill>
              <a:srgbClr val="26262D"/>
            </a:solidFill>
            <a:prstDash val="solid"/>
          </a:ln>
        </p:spPr>
      </p:sp>
      <p:sp>
        <p:nvSpPr>
          <p:cNvPr id="15" name="Shape 13"/>
          <p:cNvSpPr/>
          <p:nvPr/>
        </p:nvSpPr>
        <p:spPr>
          <a:xfrm>
            <a:off x="6196432" y="2807208"/>
            <a:ext cx="45720" cy="804672"/>
          </a:xfrm>
          <a:prstGeom prst="rect">
            <a:avLst/>
          </a:prstGeom>
          <a:solidFill>
            <a:srgbClr val="DC2626"/>
          </a:solidFill>
          <a:ln/>
        </p:spPr>
      </p:sp>
      <p:sp>
        <p:nvSpPr>
          <p:cNvPr id="16" name="Text 14"/>
          <p:cNvSpPr/>
          <p:nvPr/>
        </p:nvSpPr>
        <p:spPr>
          <a:xfrm>
            <a:off x="6397600" y="2788920"/>
            <a:ext cx="5218024"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Manual Payment Chaos</a:t>
            </a:r>
            <a:endParaRPr lang="en-US" sz="1450" dirty="0"/>
          </a:p>
        </p:txBody>
      </p:sp>
      <p:sp>
        <p:nvSpPr>
          <p:cNvPr id="17" name="Text 15"/>
          <p:cNvSpPr/>
          <p:nvPr/>
        </p:nvSpPr>
        <p:spPr>
          <a:xfrm>
            <a:off x="6397600" y="3227832"/>
            <a:ext cx="5218024" cy="384048"/>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UPI screenshots &amp; manual bank verification → reconciliation delays, cash leakage &amp; accounting disputes.</a:t>
            </a:r>
            <a:endParaRPr lang="en-US" sz="1250" dirty="0"/>
          </a:p>
        </p:txBody>
      </p:sp>
      <p:sp>
        <p:nvSpPr>
          <p:cNvPr id="18" name="Shape 16"/>
          <p:cNvSpPr/>
          <p:nvPr/>
        </p:nvSpPr>
        <p:spPr>
          <a:xfrm>
            <a:off x="411480" y="3922776"/>
            <a:ext cx="5583784" cy="1024128"/>
          </a:xfrm>
          <a:prstGeom prst="roundRect">
            <a:avLst>
              <a:gd name="adj" fmla="val 8929"/>
            </a:avLst>
          </a:prstGeom>
          <a:solidFill>
            <a:srgbClr val="0F0F14"/>
          </a:solidFill>
          <a:ln w="12700">
            <a:solidFill>
              <a:srgbClr val="26262D"/>
            </a:solidFill>
            <a:prstDash val="solid"/>
          </a:ln>
        </p:spPr>
      </p:sp>
      <p:sp>
        <p:nvSpPr>
          <p:cNvPr id="19" name="Shape 17"/>
          <p:cNvSpPr/>
          <p:nvPr/>
        </p:nvSpPr>
        <p:spPr>
          <a:xfrm>
            <a:off x="411480" y="4032504"/>
            <a:ext cx="45720" cy="804672"/>
          </a:xfrm>
          <a:prstGeom prst="rect">
            <a:avLst/>
          </a:prstGeom>
          <a:solidFill>
            <a:srgbClr val="DC2626"/>
          </a:solidFill>
          <a:ln/>
        </p:spPr>
      </p:sp>
      <p:sp>
        <p:nvSpPr>
          <p:cNvPr id="20" name="Text 18"/>
          <p:cNvSpPr/>
          <p:nvPr/>
        </p:nvSpPr>
        <p:spPr>
          <a:xfrm>
            <a:off x="612648" y="4014216"/>
            <a:ext cx="5218024"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Gate Congestion &amp; Fake Passes</a:t>
            </a:r>
            <a:endParaRPr lang="en-US" sz="1450" dirty="0"/>
          </a:p>
        </p:txBody>
      </p:sp>
      <p:sp>
        <p:nvSpPr>
          <p:cNvPr id="21" name="Text 19"/>
          <p:cNvSpPr/>
          <p:nvPr/>
        </p:nvSpPr>
        <p:spPr>
          <a:xfrm>
            <a:off x="612648" y="4453128"/>
            <a:ext cx="5218024" cy="384048"/>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Manual paper registers at auditorium doors cause long queues &amp; ticket duplication.</a:t>
            </a:r>
            <a:endParaRPr lang="en-US" sz="1250" dirty="0"/>
          </a:p>
        </p:txBody>
      </p:sp>
      <p:sp>
        <p:nvSpPr>
          <p:cNvPr id="22" name="Shape 20"/>
          <p:cNvSpPr/>
          <p:nvPr/>
        </p:nvSpPr>
        <p:spPr>
          <a:xfrm>
            <a:off x="6196432" y="3922776"/>
            <a:ext cx="5583784" cy="1024128"/>
          </a:xfrm>
          <a:prstGeom prst="roundRect">
            <a:avLst>
              <a:gd name="adj" fmla="val 8929"/>
            </a:avLst>
          </a:prstGeom>
          <a:solidFill>
            <a:srgbClr val="0F0F14"/>
          </a:solidFill>
          <a:ln w="12700">
            <a:solidFill>
              <a:srgbClr val="26262D"/>
            </a:solidFill>
            <a:prstDash val="solid"/>
          </a:ln>
        </p:spPr>
      </p:sp>
      <p:sp>
        <p:nvSpPr>
          <p:cNvPr id="23" name="Shape 21"/>
          <p:cNvSpPr/>
          <p:nvPr/>
        </p:nvSpPr>
        <p:spPr>
          <a:xfrm>
            <a:off x="6196432" y="4032504"/>
            <a:ext cx="45720" cy="804672"/>
          </a:xfrm>
          <a:prstGeom prst="rect">
            <a:avLst/>
          </a:prstGeom>
          <a:solidFill>
            <a:srgbClr val="DC2626"/>
          </a:solidFill>
          <a:ln/>
        </p:spPr>
      </p:sp>
      <p:sp>
        <p:nvSpPr>
          <p:cNvPr id="24" name="Text 22"/>
          <p:cNvSpPr/>
          <p:nvPr/>
        </p:nvSpPr>
        <p:spPr>
          <a:xfrm>
            <a:off x="6397600" y="4014216"/>
            <a:ext cx="5218024"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Hackathon Nightmares</a:t>
            </a:r>
            <a:endParaRPr lang="en-US" sz="1450" dirty="0"/>
          </a:p>
        </p:txBody>
      </p:sp>
      <p:sp>
        <p:nvSpPr>
          <p:cNvPr id="25" name="Text 23"/>
          <p:cNvSpPr/>
          <p:nvPr/>
        </p:nvSpPr>
        <p:spPr>
          <a:xfrm>
            <a:off x="6397600" y="4453128"/>
            <a:ext cx="5218024" cy="384048"/>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Team formation friction, lost submissions &amp; manual judging sheets → delayed results &amp; disputes.</a:t>
            </a:r>
            <a:endParaRPr lang="en-US" sz="1250" dirty="0"/>
          </a:p>
        </p:txBody>
      </p:sp>
      <p:sp>
        <p:nvSpPr>
          <p:cNvPr id="26" name="Shape 24"/>
          <p:cNvSpPr/>
          <p:nvPr/>
        </p:nvSpPr>
        <p:spPr>
          <a:xfrm>
            <a:off x="411480" y="5148072"/>
            <a:ext cx="5583784" cy="1024128"/>
          </a:xfrm>
          <a:prstGeom prst="roundRect">
            <a:avLst>
              <a:gd name="adj" fmla="val 8929"/>
            </a:avLst>
          </a:prstGeom>
          <a:solidFill>
            <a:srgbClr val="0F0F14"/>
          </a:solidFill>
          <a:ln w="12700">
            <a:solidFill>
              <a:srgbClr val="26262D"/>
            </a:solidFill>
            <a:prstDash val="solid"/>
          </a:ln>
        </p:spPr>
      </p:sp>
      <p:sp>
        <p:nvSpPr>
          <p:cNvPr id="27" name="Shape 25"/>
          <p:cNvSpPr/>
          <p:nvPr/>
        </p:nvSpPr>
        <p:spPr>
          <a:xfrm>
            <a:off x="411480" y="5257800"/>
            <a:ext cx="45720" cy="804672"/>
          </a:xfrm>
          <a:prstGeom prst="rect">
            <a:avLst/>
          </a:prstGeom>
          <a:solidFill>
            <a:srgbClr val="DC2626"/>
          </a:solidFill>
          <a:ln/>
        </p:spPr>
      </p:sp>
      <p:sp>
        <p:nvSpPr>
          <p:cNvPr id="28" name="Text 26"/>
          <p:cNvSpPr/>
          <p:nvPr/>
        </p:nvSpPr>
        <p:spPr>
          <a:xfrm>
            <a:off x="612648" y="5239512"/>
            <a:ext cx="5218024"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Certificate &amp; Reporting Burden</a:t>
            </a:r>
            <a:endParaRPr lang="en-US" sz="1450" dirty="0"/>
          </a:p>
        </p:txBody>
      </p:sp>
      <p:sp>
        <p:nvSpPr>
          <p:cNvPr id="29" name="Text 27"/>
          <p:cNvSpPr/>
          <p:nvPr/>
        </p:nvSpPr>
        <p:spPr>
          <a:xfrm>
            <a:off x="612648" y="5678424"/>
            <a:ext cx="5218024" cy="384048"/>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Organizers spend weeks emailing Canva certificates; faculty spend weeks compiling NAAC/IQAC reports.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411480" y="347472"/>
            <a:ext cx="384048" cy="384048"/>
          </a:xfrm>
          <a:prstGeom prst="roundRect">
            <a:avLst>
              <a:gd name="adj" fmla="val 19048"/>
            </a:avLst>
          </a:prstGeom>
          <a:solidFill>
            <a:srgbClr val="DC2626"/>
          </a:solidFill>
          <a:ln/>
        </p:spPr>
      </p:sp>
      <p:sp>
        <p:nvSpPr>
          <p:cNvPr id="3" name="Text 1"/>
          <p:cNvSpPr/>
          <p:nvPr/>
        </p:nvSpPr>
        <p:spPr>
          <a:xfrm>
            <a:off x="411480" y="347472"/>
            <a:ext cx="384048" cy="384048"/>
          </a:xfrm>
          <a:prstGeom prst="rect">
            <a:avLst/>
          </a:prstGeom>
          <a:noFill/>
          <a:ln/>
        </p:spPr>
        <p:txBody>
          <a:bodyPr wrap="square" rtlCol="0" anchor="ctr"/>
          <a:lstStyle/>
          <a:p>
            <a:pPr algn="ctr" indent="0" marL="0">
              <a:buNone/>
            </a:pPr>
            <a:r>
              <a:rPr lang="en-US" sz="1600" b="1" dirty="0">
                <a:solidFill>
                  <a:srgbClr val="FFFFFF"/>
                </a:solidFill>
                <a:latin typeface="Chakra Petch" pitchFamily="34" charset="0"/>
                <a:ea typeface="Chakra Petch" pitchFamily="34" charset="-122"/>
                <a:cs typeface="Chakra Petch" pitchFamily="34" charset="-120"/>
              </a:rPr>
              <a:t>N</a:t>
            </a:r>
            <a:endParaRPr lang="en-US" sz="1600" dirty="0"/>
          </a:p>
        </p:txBody>
      </p:sp>
      <p:sp>
        <p:nvSpPr>
          <p:cNvPr id="4" name="Text 2"/>
          <p:cNvSpPr/>
          <p:nvPr/>
        </p:nvSpPr>
        <p:spPr>
          <a:xfrm>
            <a:off x="886968" y="365760"/>
            <a:ext cx="2926080" cy="347472"/>
          </a:xfrm>
          <a:prstGeom prst="rect">
            <a:avLst/>
          </a:prstGeom>
          <a:noFill/>
          <a:ln/>
        </p:spPr>
        <p:txBody>
          <a:bodyPr wrap="square" rtlCol="0" anchor="ctr"/>
          <a:lstStyle/>
          <a:p>
            <a:pPr indent="0" marL="0">
              <a:buNone/>
            </a:pPr>
            <a:r>
              <a:rPr lang="en-US" b="1" dirty="0">
                <a:solidFill>
                  <a:srgbClr val="F5F5F5"/>
                </a:solidFill>
                <a:latin typeface="Chakra Petch" pitchFamily="34" charset="0"/>
                <a:ea typeface="Chakra Petch" pitchFamily="34" charset="-122"/>
                <a:cs typeface="Chakra Petch" pitchFamily="34" charset="-120"/>
              </a:rPr>
              <a:t>NX-913  </a:t>
            </a:r>
            <a:pPr indent="0" marL="0">
              <a:buNone/>
            </a:pPr>
            <a:r>
              <a:rPr lang="en-US" sz="1100" dirty="0">
                <a:solidFill>
                  <a:srgbClr val="71717A"/>
                </a:solidFill>
                <a:latin typeface="Rajdhani" pitchFamily="34" charset="0"/>
                <a:ea typeface="Rajdhani" pitchFamily="34" charset="-122"/>
                <a:cs typeface="Rajdhani" pitchFamily="34" charset="-120"/>
              </a:rPr>
              <a:t>CAMPUS OS</a:t>
            </a:r>
            <a:endParaRPr lang="en-US" sz="1100" dirty="0"/>
          </a:p>
        </p:txBody>
      </p:sp>
      <p:sp>
        <p:nvSpPr>
          <p:cNvPr id="5" name="Text 3"/>
          <p:cNvSpPr/>
          <p:nvPr/>
        </p:nvSpPr>
        <p:spPr>
          <a:xfrm>
            <a:off x="9814255" y="402336"/>
            <a:ext cx="1965960" cy="274320"/>
          </a:xfrm>
          <a:prstGeom prst="rect">
            <a:avLst/>
          </a:prstGeom>
          <a:noFill/>
          <a:ln/>
        </p:spPr>
        <p:txBody>
          <a:bodyPr wrap="square" rtlCol="0" anchor="ctr"/>
          <a:lstStyle/>
          <a:p>
            <a:pPr algn="r" indent="0" marL="0">
              <a:buNone/>
            </a:pPr>
            <a:r>
              <a:rPr lang="en-US" sz="900" spc="200" kern="0" dirty="0">
                <a:solidFill>
                  <a:srgbClr val="71717A"/>
                </a:solidFill>
                <a:latin typeface="JetBrains Mono" pitchFamily="34" charset="0"/>
                <a:ea typeface="JetBrains Mono" pitchFamily="34" charset="-122"/>
                <a:cs typeface="JetBrains Mono" pitchFamily="34" charset="-120"/>
              </a:rPr>
              <a:t>PITCH DECK</a:t>
            </a:r>
            <a:endParaRPr lang="en-US" sz="900" dirty="0"/>
          </a:p>
        </p:txBody>
      </p:sp>
      <p:sp>
        <p:nvSpPr>
          <p:cNvPr id="6" name="Shape 4"/>
          <p:cNvSpPr/>
          <p:nvPr/>
        </p:nvSpPr>
        <p:spPr>
          <a:xfrm>
            <a:off x="411480" y="960120"/>
            <a:ext cx="1143000" cy="347472"/>
          </a:xfrm>
          <a:prstGeom prst="roundRect">
            <a:avLst>
              <a:gd name="adj" fmla="val 50000"/>
            </a:avLst>
          </a:prstGeom>
          <a:solidFill>
            <a:srgbClr val="1A0D0D"/>
          </a:solidFill>
          <a:ln w="12700">
            <a:solidFill>
              <a:srgbClr val="7F1D1D"/>
            </a:solidFill>
            <a:prstDash val="solid"/>
          </a:ln>
        </p:spPr>
      </p:sp>
      <p:sp>
        <p:nvSpPr>
          <p:cNvPr id="7" name="Text 5"/>
          <p:cNvSpPr/>
          <p:nvPr/>
        </p:nvSpPr>
        <p:spPr>
          <a:xfrm>
            <a:off x="411480" y="960120"/>
            <a:ext cx="1143000" cy="347472"/>
          </a:xfrm>
          <a:prstGeom prst="rect">
            <a:avLst/>
          </a:prstGeom>
          <a:noFill/>
          <a:ln/>
        </p:spPr>
        <p:txBody>
          <a:bodyPr wrap="square" rtlCol="0" anchor="ctr"/>
          <a:lstStyle/>
          <a:p>
            <a:pPr algn="ctr" indent="0" marL="0">
              <a:buNone/>
            </a:pPr>
            <a:r>
              <a:rPr lang="en-US" sz="900" spc="100" kern="0" dirty="0">
                <a:solidFill>
                  <a:srgbClr val="F87171"/>
                </a:solidFill>
                <a:latin typeface="JetBrains Mono" pitchFamily="34" charset="0"/>
                <a:ea typeface="JetBrains Mono" pitchFamily="34" charset="-122"/>
                <a:cs typeface="JetBrains Mono" pitchFamily="34" charset="-120"/>
              </a:rPr>
              <a:t>03 THE SOLUTION</a:t>
            </a:r>
            <a:endParaRPr lang="en-US" sz="900" dirty="0"/>
          </a:p>
        </p:txBody>
      </p:sp>
      <p:sp>
        <p:nvSpPr>
          <p:cNvPr id="8" name="Text 6"/>
          <p:cNvSpPr/>
          <p:nvPr/>
        </p:nvSpPr>
        <p:spPr>
          <a:xfrm>
            <a:off x="384048" y="1371600"/>
            <a:ext cx="11368735" cy="822960"/>
          </a:xfrm>
          <a:prstGeom prst="rect">
            <a:avLst/>
          </a:prstGeom>
          <a:noFill/>
          <a:ln/>
        </p:spPr>
        <p:txBody>
          <a:bodyPr wrap="square" rtlCol="0" anchor="ctr"/>
          <a:lstStyle/>
          <a:p>
            <a:pPr indent="0" marL="0">
              <a:buNone/>
            </a:pPr>
            <a:r>
              <a:rPr lang="en-US" sz="3400" b="1" dirty="0">
                <a:solidFill>
                  <a:srgbClr val="F5F5F5"/>
                </a:solidFill>
                <a:latin typeface="Chakra Petch" pitchFamily="34" charset="0"/>
                <a:ea typeface="Chakra Petch" pitchFamily="34" charset="-122"/>
                <a:cs typeface="Chakra Petch" pitchFamily="34" charset="-120"/>
              </a:rPr>
              <a:t>System Overview &amp; Role-Based Architecture</a:t>
            </a:r>
            <a:endParaRPr lang="en-US" sz="3400" dirty="0"/>
          </a:p>
        </p:txBody>
      </p:sp>
      <p:sp>
        <p:nvSpPr>
          <p:cNvPr id="9" name="Text 7"/>
          <p:cNvSpPr/>
          <p:nvPr/>
        </p:nvSpPr>
        <p:spPr>
          <a:xfrm>
            <a:off x="411480" y="2121408"/>
            <a:ext cx="10545775" cy="411480"/>
          </a:xfrm>
          <a:prstGeom prst="rect">
            <a:avLst/>
          </a:prstGeom>
          <a:noFill/>
          <a:ln/>
        </p:spPr>
        <p:txBody>
          <a:bodyPr wrap="square" rtlCol="0" anchor="t"/>
          <a:lstStyle/>
          <a:p>
            <a:pPr indent="0" marL="0">
              <a:buNone/>
            </a:pPr>
            <a:r>
              <a:rPr lang="en-US" sz="1500" dirty="0">
                <a:solidFill>
                  <a:srgbClr val="9CA3AF"/>
                </a:solidFill>
                <a:latin typeface="Rajdhani" pitchFamily="34" charset="0"/>
                <a:ea typeface="Rajdhani" pitchFamily="34" charset="-122"/>
                <a:cs typeface="Rajdhani" pitchFamily="34" charset="-120"/>
              </a:rPr>
              <a:t>One platform. Four secure portals. Zero fragmented tools.</a:t>
            </a:r>
            <a:endParaRPr lang="en-US" sz="1500" dirty="0"/>
          </a:p>
        </p:txBody>
      </p:sp>
      <p:sp>
        <p:nvSpPr>
          <p:cNvPr id="10" name="Shape 8"/>
          <p:cNvSpPr/>
          <p:nvPr/>
        </p:nvSpPr>
        <p:spPr>
          <a:xfrm>
            <a:off x="411480" y="2697480"/>
            <a:ext cx="3655466" cy="1636776"/>
          </a:xfrm>
          <a:prstGeom prst="roundRect">
            <a:avLst>
              <a:gd name="adj" fmla="val 5587"/>
            </a:avLst>
          </a:prstGeom>
          <a:solidFill>
            <a:srgbClr val="0F0F14"/>
          </a:solidFill>
          <a:ln w="12700">
            <a:solidFill>
              <a:srgbClr val="26262D"/>
            </a:solidFill>
            <a:prstDash val="solid"/>
          </a:ln>
        </p:spPr>
      </p:sp>
      <p:sp>
        <p:nvSpPr>
          <p:cNvPr id="11" name="Shape 9"/>
          <p:cNvSpPr/>
          <p:nvPr/>
        </p:nvSpPr>
        <p:spPr>
          <a:xfrm>
            <a:off x="411480" y="2807208"/>
            <a:ext cx="45720" cy="1417320"/>
          </a:xfrm>
          <a:prstGeom prst="rect">
            <a:avLst/>
          </a:prstGeom>
          <a:solidFill>
            <a:srgbClr val="DC2626"/>
          </a:solidFill>
          <a:ln/>
        </p:spPr>
      </p:sp>
      <p:sp>
        <p:nvSpPr>
          <p:cNvPr id="12" name="Text 10"/>
          <p:cNvSpPr/>
          <p:nvPr/>
        </p:nvSpPr>
        <p:spPr>
          <a:xfrm>
            <a:off x="612648" y="2788920"/>
            <a:ext cx="3289706"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Student / Attendee Portal</a:t>
            </a:r>
            <a:endParaRPr lang="en-US" sz="1450" dirty="0"/>
          </a:p>
        </p:txBody>
      </p:sp>
      <p:sp>
        <p:nvSpPr>
          <p:cNvPr id="13" name="Text 11"/>
          <p:cNvSpPr/>
          <p:nvPr/>
        </p:nvSpPr>
        <p:spPr>
          <a:xfrm>
            <a:off x="612648" y="3227832"/>
            <a:ext cx="3289706" cy="996696"/>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One-click event discovery, team builder, digital ticket pass &amp; verifiable certificate vault.</a:t>
            </a:r>
            <a:endParaRPr lang="en-US" sz="1250" dirty="0"/>
          </a:p>
        </p:txBody>
      </p:sp>
      <p:sp>
        <p:nvSpPr>
          <p:cNvPr id="14" name="Shape 12"/>
          <p:cNvSpPr/>
          <p:nvPr/>
        </p:nvSpPr>
        <p:spPr>
          <a:xfrm>
            <a:off x="4268114" y="2697480"/>
            <a:ext cx="3655466" cy="1636776"/>
          </a:xfrm>
          <a:prstGeom prst="roundRect">
            <a:avLst>
              <a:gd name="adj" fmla="val 5587"/>
            </a:avLst>
          </a:prstGeom>
          <a:solidFill>
            <a:srgbClr val="0F0F14"/>
          </a:solidFill>
          <a:ln w="12700">
            <a:solidFill>
              <a:srgbClr val="26262D"/>
            </a:solidFill>
            <a:prstDash val="solid"/>
          </a:ln>
        </p:spPr>
      </p:sp>
      <p:sp>
        <p:nvSpPr>
          <p:cNvPr id="15" name="Shape 13"/>
          <p:cNvSpPr/>
          <p:nvPr/>
        </p:nvSpPr>
        <p:spPr>
          <a:xfrm>
            <a:off x="4268114" y="2807208"/>
            <a:ext cx="45720" cy="1417320"/>
          </a:xfrm>
          <a:prstGeom prst="rect">
            <a:avLst/>
          </a:prstGeom>
          <a:solidFill>
            <a:srgbClr val="DC2626"/>
          </a:solidFill>
          <a:ln/>
        </p:spPr>
      </p:sp>
      <p:sp>
        <p:nvSpPr>
          <p:cNvPr id="16" name="Text 14"/>
          <p:cNvSpPr/>
          <p:nvPr/>
        </p:nvSpPr>
        <p:spPr>
          <a:xfrm>
            <a:off x="4469282" y="2788920"/>
            <a:ext cx="3289706"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Organizer &amp; Faculty Coordinator Portal</a:t>
            </a:r>
            <a:endParaRPr lang="en-US" sz="1450" dirty="0"/>
          </a:p>
        </p:txBody>
      </p:sp>
      <p:sp>
        <p:nvSpPr>
          <p:cNvPr id="17" name="Text 15"/>
          <p:cNvSpPr/>
          <p:nvPr/>
        </p:nvSpPr>
        <p:spPr>
          <a:xfrm>
            <a:off x="4469282" y="3227832"/>
            <a:ext cx="3289706" cy="996696"/>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Event builder, ticketing tiers, coupon engine, broadcast center &amp; live attendance scanner.</a:t>
            </a:r>
            <a:endParaRPr lang="en-US" sz="1250" dirty="0"/>
          </a:p>
        </p:txBody>
      </p:sp>
      <p:sp>
        <p:nvSpPr>
          <p:cNvPr id="18" name="Shape 16"/>
          <p:cNvSpPr/>
          <p:nvPr/>
        </p:nvSpPr>
        <p:spPr>
          <a:xfrm>
            <a:off x="8124749" y="2697480"/>
            <a:ext cx="3655466" cy="1636776"/>
          </a:xfrm>
          <a:prstGeom prst="roundRect">
            <a:avLst>
              <a:gd name="adj" fmla="val 5587"/>
            </a:avLst>
          </a:prstGeom>
          <a:solidFill>
            <a:srgbClr val="0F0F14"/>
          </a:solidFill>
          <a:ln w="12700">
            <a:solidFill>
              <a:srgbClr val="26262D"/>
            </a:solidFill>
            <a:prstDash val="solid"/>
          </a:ln>
        </p:spPr>
      </p:sp>
      <p:sp>
        <p:nvSpPr>
          <p:cNvPr id="19" name="Shape 17"/>
          <p:cNvSpPr/>
          <p:nvPr/>
        </p:nvSpPr>
        <p:spPr>
          <a:xfrm>
            <a:off x="8124749" y="2807208"/>
            <a:ext cx="45720" cy="1417320"/>
          </a:xfrm>
          <a:prstGeom prst="rect">
            <a:avLst/>
          </a:prstGeom>
          <a:solidFill>
            <a:srgbClr val="DC2626"/>
          </a:solidFill>
          <a:ln/>
        </p:spPr>
      </p:sp>
      <p:sp>
        <p:nvSpPr>
          <p:cNvPr id="20" name="Text 18"/>
          <p:cNvSpPr/>
          <p:nvPr/>
        </p:nvSpPr>
        <p:spPr>
          <a:xfrm>
            <a:off x="8325917" y="2788920"/>
            <a:ext cx="3289706"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Hackathon Judging &amp; Mentor Console</a:t>
            </a:r>
            <a:endParaRPr lang="en-US" sz="1450" dirty="0"/>
          </a:p>
        </p:txBody>
      </p:sp>
      <p:sp>
        <p:nvSpPr>
          <p:cNvPr id="21" name="Text 19"/>
          <p:cNvSpPr/>
          <p:nvPr/>
        </p:nvSpPr>
        <p:spPr>
          <a:xfrm>
            <a:off x="8325917" y="3227832"/>
            <a:ext cx="3289706" cy="996696"/>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Multi-criteria weighted scoring rubrics, submission inspection &amp; live dynamic leaderboards.</a:t>
            </a:r>
            <a:endParaRPr lang="en-US" sz="1250" dirty="0"/>
          </a:p>
        </p:txBody>
      </p:sp>
      <p:sp>
        <p:nvSpPr>
          <p:cNvPr id="22" name="Shape 20"/>
          <p:cNvSpPr/>
          <p:nvPr/>
        </p:nvSpPr>
        <p:spPr>
          <a:xfrm>
            <a:off x="411480" y="4535424"/>
            <a:ext cx="3655466" cy="1636776"/>
          </a:xfrm>
          <a:prstGeom prst="roundRect">
            <a:avLst>
              <a:gd name="adj" fmla="val 5587"/>
            </a:avLst>
          </a:prstGeom>
          <a:solidFill>
            <a:srgbClr val="0F0F14"/>
          </a:solidFill>
          <a:ln w="12700">
            <a:solidFill>
              <a:srgbClr val="26262D"/>
            </a:solidFill>
            <a:prstDash val="solid"/>
          </a:ln>
        </p:spPr>
      </p:sp>
      <p:sp>
        <p:nvSpPr>
          <p:cNvPr id="23" name="Shape 21"/>
          <p:cNvSpPr/>
          <p:nvPr/>
        </p:nvSpPr>
        <p:spPr>
          <a:xfrm>
            <a:off x="411480" y="4645152"/>
            <a:ext cx="45720" cy="1417320"/>
          </a:xfrm>
          <a:prstGeom prst="rect">
            <a:avLst/>
          </a:prstGeom>
          <a:solidFill>
            <a:srgbClr val="DC2626"/>
          </a:solidFill>
          <a:ln/>
        </p:spPr>
      </p:sp>
      <p:sp>
        <p:nvSpPr>
          <p:cNvPr id="24" name="Text 22"/>
          <p:cNvSpPr/>
          <p:nvPr/>
        </p:nvSpPr>
        <p:spPr>
          <a:xfrm>
            <a:off x="612648" y="4626864"/>
            <a:ext cx="3289706"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College Admin &amp; Dean Oversight Panel</a:t>
            </a:r>
            <a:endParaRPr lang="en-US" sz="1450" dirty="0"/>
          </a:p>
        </p:txBody>
      </p:sp>
      <p:sp>
        <p:nvSpPr>
          <p:cNvPr id="25" name="Text 23"/>
          <p:cNvSpPr/>
          <p:nvPr/>
        </p:nvSpPr>
        <p:spPr>
          <a:xfrm>
            <a:off x="612648" y="5065776"/>
            <a:ext cx="3289706" cy="996696"/>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Event approval workflows, cross-department analytics, asset libraries &amp; system audit logs.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411480" y="347472"/>
            <a:ext cx="384048" cy="384048"/>
          </a:xfrm>
          <a:prstGeom prst="roundRect">
            <a:avLst>
              <a:gd name="adj" fmla="val 19048"/>
            </a:avLst>
          </a:prstGeom>
          <a:solidFill>
            <a:srgbClr val="DC2626"/>
          </a:solidFill>
          <a:ln/>
        </p:spPr>
      </p:sp>
      <p:sp>
        <p:nvSpPr>
          <p:cNvPr id="3" name="Text 1"/>
          <p:cNvSpPr/>
          <p:nvPr/>
        </p:nvSpPr>
        <p:spPr>
          <a:xfrm>
            <a:off x="411480" y="347472"/>
            <a:ext cx="384048" cy="384048"/>
          </a:xfrm>
          <a:prstGeom prst="rect">
            <a:avLst/>
          </a:prstGeom>
          <a:noFill/>
          <a:ln/>
        </p:spPr>
        <p:txBody>
          <a:bodyPr wrap="square" rtlCol="0" anchor="ctr"/>
          <a:lstStyle/>
          <a:p>
            <a:pPr algn="ctr" indent="0" marL="0">
              <a:buNone/>
            </a:pPr>
            <a:r>
              <a:rPr lang="en-US" sz="1600" b="1" dirty="0">
                <a:solidFill>
                  <a:srgbClr val="FFFFFF"/>
                </a:solidFill>
                <a:latin typeface="Chakra Petch" pitchFamily="34" charset="0"/>
                <a:ea typeface="Chakra Petch" pitchFamily="34" charset="-122"/>
                <a:cs typeface="Chakra Petch" pitchFamily="34" charset="-120"/>
              </a:rPr>
              <a:t>N</a:t>
            </a:r>
            <a:endParaRPr lang="en-US" sz="1600" dirty="0"/>
          </a:p>
        </p:txBody>
      </p:sp>
      <p:sp>
        <p:nvSpPr>
          <p:cNvPr id="4" name="Text 2"/>
          <p:cNvSpPr/>
          <p:nvPr/>
        </p:nvSpPr>
        <p:spPr>
          <a:xfrm>
            <a:off x="886968" y="365760"/>
            <a:ext cx="2926080" cy="347472"/>
          </a:xfrm>
          <a:prstGeom prst="rect">
            <a:avLst/>
          </a:prstGeom>
          <a:noFill/>
          <a:ln/>
        </p:spPr>
        <p:txBody>
          <a:bodyPr wrap="square" rtlCol="0" anchor="ctr"/>
          <a:lstStyle/>
          <a:p>
            <a:pPr indent="0" marL="0">
              <a:buNone/>
            </a:pPr>
            <a:r>
              <a:rPr lang="en-US" b="1" dirty="0">
                <a:solidFill>
                  <a:srgbClr val="F5F5F5"/>
                </a:solidFill>
                <a:latin typeface="Chakra Petch" pitchFamily="34" charset="0"/>
                <a:ea typeface="Chakra Petch" pitchFamily="34" charset="-122"/>
                <a:cs typeface="Chakra Petch" pitchFamily="34" charset="-120"/>
              </a:rPr>
              <a:t>NX-913  </a:t>
            </a:r>
            <a:pPr indent="0" marL="0">
              <a:buNone/>
            </a:pPr>
            <a:r>
              <a:rPr lang="en-US" sz="1100" dirty="0">
                <a:solidFill>
                  <a:srgbClr val="71717A"/>
                </a:solidFill>
                <a:latin typeface="Rajdhani" pitchFamily="34" charset="0"/>
                <a:ea typeface="Rajdhani" pitchFamily="34" charset="-122"/>
                <a:cs typeface="Rajdhani" pitchFamily="34" charset="-120"/>
              </a:rPr>
              <a:t>CAMPUS OS</a:t>
            </a:r>
            <a:endParaRPr lang="en-US" sz="1100" dirty="0"/>
          </a:p>
        </p:txBody>
      </p:sp>
      <p:sp>
        <p:nvSpPr>
          <p:cNvPr id="5" name="Text 3"/>
          <p:cNvSpPr/>
          <p:nvPr/>
        </p:nvSpPr>
        <p:spPr>
          <a:xfrm>
            <a:off x="9814255" y="402336"/>
            <a:ext cx="1965960" cy="274320"/>
          </a:xfrm>
          <a:prstGeom prst="rect">
            <a:avLst/>
          </a:prstGeom>
          <a:noFill/>
          <a:ln/>
        </p:spPr>
        <p:txBody>
          <a:bodyPr wrap="square" rtlCol="0" anchor="ctr"/>
          <a:lstStyle/>
          <a:p>
            <a:pPr algn="r" indent="0" marL="0">
              <a:buNone/>
            </a:pPr>
            <a:r>
              <a:rPr lang="en-US" sz="900" spc="200" kern="0" dirty="0">
                <a:solidFill>
                  <a:srgbClr val="71717A"/>
                </a:solidFill>
                <a:latin typeface="JetBrains Mono" pitchFamily="34" charset="0"/>
                <a:ea typeface="JetBrains Mono" pitchFamily="34" charset="-122"/>
                <a:cs typeface="JetBrains Mono" pitchFamily="34" charset="-120"/>
              </a:rPr>
              <a:t>PITCH DECK</a:t>
            </a:r>
            <a:endParaRPr lang="en-US" sz="900" dirty="0"/>
          </a:p>
        </p:txBody>
      </p:sp>
      <p:sp>
        <p:nvSpPr>
          <p:cNvPr id="6" name="Shape 4"/>
          <p:cNvSpPr/>
          <p:nvPr/>
        </p:nvSpPr>
        <p:spPr>
          <a:xfrm>
            <a:off x="411480" y="960120"/>
            <a:ext cx="1143000" cy="347472"/>
          </a:xfrm>
          <a:prstGeom prst="roundRect">
            <a:avLst>
              <a:gd name="adj" fmla="val 50000"/>
            </a:avLst>
          </a:prstGeom>
          <a:solidFill>
            <a:srgbClr val="1A0D0D"/>
          </a:solidFill>
          <a:ln w="12700">
            <a:solidFill>
              <a:srgbClr val="7F1D1D"/>
            </a:solidFill>
            <a:prstDash val="solid"/>
          </a:ln>
        </p:spPr>
      </p:sp>
      <p:sp>
        <p:nvSpPr>
          <p:cNvPr id="7" name="Text 5"/>
          <p:cNvSpPr/>
          <p:nvPr/>
        </p:nvSpPr>
        <p:spPr>
          <a:xfrm>
            <a:off x="411480" y="960120"/>
            <a:ext cx="1143000" cy="347472"/>
          </a:xfrm>
          <a:prstGeom prst="rect">
            <a:avLst/>
          </a:prstGeom>
          <a:noFill/>
          <a:ln/>
        </p:spPr>
        <p:txBody>
          <a:bodyPr wrap="square" rtlCol="0" anchor="ctr"/>
          <a:lstStyle/>
          <a:p>
            <a:pPr algn="ctr" indent="0" marL="0">
              <a:buNone/>
            </a:pPr>
            <a:r>
              <a:rPr lang="en-US" sz="900" spc="100" kern="0" dirty="0">
                <a:solidFill>
                  <a:srgbClr val="F87171"/>
                </a:solidFill>
                <a:latin typeface="JetBrains Mono" pitchFamily="34" charset="0"/>
                <a:ea typeface="JetBrains Mono" pitchFamily="34" charset="-122"/>
                <a:cs typeface="JetBrains Mono" pitchFamily="34" charset="-120"/>
              </a:rPr>
              <a:t>04 THE ECOSYSTEM</a:t>
            </a:r>
            <a:endParaRPr lang="en-US" sz="900" dirty="0"/>
          </a:p>
        </p:txBody>
      </p:sp>
      <p:sp>
        <p:nvSpPr>
          <p:cNvPr id="8" name="Text 6"/>
          <p:cNvSpPr/>
          <p:nvPr/>
        </p:nvSpPr>
        <p:spPr>
          <a:xfrm>
            <a:off x="384048" y="1371600"/>
            <a:ext cx="11368735" cy="822960"/>
          </a:xfrm>
          <a:prstGeom prst="rect">
            <a:avLst/>
          </a:prstGeom>
          <a:noFill/>
          <a:ln/>
        </p:spPr>
        <p:txBody>
          <a:bodyPr wrap="square" rtlCol="0" anchor="ctr"/>
          <a:lstStyle/>
          <a:p>
            <a:pPr indent="0" marL="0">
              <a:buNone/>
            </a:pPr>
            <a:r>
              <a:rPr lang="en-US" sz="3400" b="1" dirty="0">
                <a:solidFill>
                  <a:srgbClr val="F5F5F5"/>
                </a:solidFill>
                <a:latin typeface="Chakra Petch" pitchFamily="34" charset="0"/>
                <a:ea typeface="Chakra Petch" pitchFamily="34" charset="-122"/>
                <a:cs typeface="Chakra Petch" pitchFamily="34" charset="-120"/>
              </a:rPr>
              <a:t>The Student Experience</a:t>
            </a:r>
            <a:endParaRPr lang="en-US" sz="3400" dirty="0"/>
          </a:p>
        </p:txBody>
      </p:sp>
      <p:sp>
        <p:nvSpPr>
          <p:cNvPr id="9" name="Text 7"/>
          <p:cNvSpPr/>
          <p:nvPr/>
        </p:nvSpPr>
        <p:spPr>
          <a:xfrm>
            <a:off x="411480" y="2121408"/>
            <a:ext cx="10545775" cy="411480"/>
          </a:xfrm>
          <a:prstGeom prst="rect">
            <a:avLst/>
          </a:prstGeom>
          <a:noFill/>
          <a:ln/>
        </p:spPr>
        <p:txBody>
          <a:bodyPr wrap="square" rtlCol="0" anchor="t"/>
          <a:lstStyle/>
          <a:p>
            <a:pPr indent="0" marL="0">
              <a:buNone/>
            </a:pPr>
            <a:r>
              <a:rPr lang="en-US" sz="1500" dirty="0">
                <a:solidFill>
                  <a:srgbClr val="9CA3AF"/>
                </a:solidFill>
                <a:latin typeface="Rajdhani" pitchFamily="34" charset="0"/>
                <a:ea typeface="Rajdhani" pitchFamily="34" charset="-122"/>
                <a:cs typeface="Rajdhani" pitchFamily="34" charset="-120"/>
              </a:rPr>
              <a:t>Engagement, gamification &amp; community — everything a student needs in one hub.</a:t>
            </a:r>
            <a:endParaRPr lang="en-US" sz="1500" dirty="0"/>
          </a:p>
        </p:txBody>
      </p:sp>
      <p:sp>
        <p:nvSpPr>
          <p:cNvPr id="10" name="Shape 8"/>
          <p:cNvSpPr/>
          <p:nvPr/>
        </p:nvSpPr>
        <p:spPr>
          <a:xfrm>
            <a:off x="411480" y="2743200"/>
            <a:ext cx="3429000" cy="1021080"/>
          </a:xfrm>
          <a:prstGeom prst="roundRect">
            <a:avLst>
              <a:gd name="adj" fmla="val 8955"/>
            </a:avLst>
          </a:prstGeom>
          <a:solidFill>
            <a:srgbClr val="0F0F14"/>
          </a:solidFill>
          <a:ln w="12700">
            <a:solidFill>
              <a:srgbClr val="26262D"/>
            </a:solidFill>
            <a:prstDash val="solid"/>
          </a:ln>
        </p:spPr>
      </p:sp>
      <p:sp>
        <p:nvSpPr>
          <p:cNvPr id="11" name="Shape 9"/>
          <p:cNvSpPr/>
          <p:nvPr/>
        </p:nvSpPr>
        <p:spPr>
          <a:xfrm>
            <a:off x="411480" y="2852928"/>
            <a:ext cx="45720" cy="801624"/>
          </a:xfrm>
          <a:prstGeom prst="rect">
            <a:avLst/>
          </a:prstGeom>
          <a:solidFill>
            <a:srgbClr val="DC2626"/>
          </a:solidFill>
          <a:ln/>
        </p:spPr>
      </p:sp>
      <p:sp>
        <p:nvSpPr>
          <p:cNvPr id="12" name="Text 10"/>
          <p:cNvSpPr/>
          <p:nvPr/>
        </p:nvSpPr>
        <p:spPr>
          <a:xfrm>
            <a:off x="612648" y="2807208"/>
            <a:ext cx="3063240" cy="384048"/>
          </a:xfrm>
          <a:prstGeom prst="rect">
            <a:avLst/>
          </a:prstGeom>
          <a:noFill/>
          <a:ln/>
        </p:spPr>
        <p:txBody>
          <a:bodyPr wrap="square" rtlCol="0" anchor="t"/>
          <a:lstStyle/>
          <a:p>
            <a:pPr indent="0" marL="0">
              <a:buNone/>
            </a:pPr>
            <a:r>
              <a:rPr lang="en-US" sz="1250" b="1" dirty="0">
                <a:solidFill>
                  <a:srgbClr val="F5F5F5"/>
                </a:solidFill>
                <a:latin typeface="Chakra Petch" pitchFamily="34" charset="0"/>
                <a:ea typeface="Chakra Petch" pitchFamily="34" charset="-122"/>
                <a:cs typeface="Chakra Petch" pitchFamily="34" charset="-120"/>
              </a:rPr>
              <a:t>🔐 Secure &amp; Effortless Auth</a:t>
            </a:r>
            <a:endParaRPr lang="en-US" sz="1250" dirty="0"/>
          </a:p>
        </p:txBody>
      </p:sp>
      <p:sp>
        <p:nvSpPr>
          <p:cNvPr id="13" name="Text 11"/>
          <p:cNvSpPr/>
          <p:nvPr/>
        </p:nvSpPr>
        <p:spPr>
          <a:xfrm>
            <a:off x="612648" y="3145536"/>
            <a:ext cx="3063240" cy="509016"/>
          </a:xfrm>
          <a:prstGeom prst="rect">
            <a:avLst/>
          </a:prstGeom>
          <a:noFill/>
          <a:ln/>
        </p:spPr>
        <p:txBody>
          <a:bodyPr wrap="square" rtlCol="0" anchor="t"/>
          <a:lstStyle/>
          <a:p>
            <a:pPr indent="0" marL="0">
              <a:lnSpc>
                <a:spcPts val="1800"/>
              </a:lnSpc>
              <a:buNone/>
            </a:pPr>
            <a:r>
              <a:rPr lang="en-US" sz="1100" dirty="0">
                <a:solidFill>
                  <a:srgbClr val="9CA3AF"/>
                </a:solidFill>
                <a:latin typeface="Rajdhani" pitchFamily="34" charset="0"/>
                <a:ea typeface="Rajdhani" pitchFamily="34" charset="-122"/>
                <a:cs typeface="Rajdhani" pitchFamily="34" charset="-120"/>
              </a:rPr>
              <a:t>Google OAuth, GitHub OAuth, OTP login &amp; 2FA with session management.</a:t>
            </a:r>
            <a:endParaRPr lang="en-US" sz="1100" dirty="0"/>
          </a:p>
        </p:txBody>
      </p:sp>
      <p:sp>
        <p:nvSpPr>
          <p:cNvPr id="14" name="Shape 12"/>
          <p:cNvSpPr/>
          <p:nvPr/>
        </p:nvSpPr>
        <p:spPr>
          <a:xfrm>
            <a:off x="4023360" y="2743200"/>
            <a:ext cx="3429000" cy="1021080"/>
          </a:xfrm>
          <a:prstGeom prst="roundRect">
            <a:avLst>
              <a:gd name="adj" fmla="val 8955"/>
            </a:avLst>
          </a:prstGeom>
          <a:solidFill>
            <a:srgbClr val="0F0F14"/>
          </a:solidFill>
          <a:ln w="12700">
            <a:solidFill>
              <a:srgbClr val="26262D"/>
            </a:solidFill>
            <a:prstDash val="solid"/>
          </a:ln>
        </p:spPr>
      </p:sp>
      <p:sp>
        <p:nvSpPr>
          <p:cNvPr id="15" name="Shape 13"/>
          <p:cNvSpPr/>
          <p:nvPr/>
        </p:nvSpPr>
        <p:spPr>
          <a:xfrm>
            <a:off x="4023360" y="2852928"/>
            <a:ext cx="45720" cy="801624"/>
          </a:xfrm>
          <a:prstGeom prst="rect">
            <a:avLst/>
          </a:prstGeom>
          <a:solidFill>
            <a:srgbClr val="DC2626"/>
          </a:solidFill>
          <a:ln/>
        </p:spPr>
      </p:sp>
      <p:sp>
        <p:nvSpPr>
          <p:cNvPr id="16" name="Text 14"/>
          <p:cNvSpPr/>
          <p:nvPr/>
        </p:nvSpPr>
        <p:spPr>
          <a:xfrm>
            <a:off x="4224528" y="2807208"/>
            <a:ext cx="3063240" cy="384048"/>
          </a:xfrm>
          <a:prstGeom prst="rect">
            <a:avLst/>
          </a:prstGeom>
          <a:noFill/>
          <a:ln/>
        </p:spPr>
        <p:txBody>
          <a:bodyPr wrap="square" rtlCol="0" anchor="t"/>
          <a:lstStyle/>
          <a:p>
            <a:pPr indent="0" marL="0">
              <a:buNone/>
            </a:pPr>
            <a:r>
              <a:rPr lang="en-US" sz="1250" b="1" dirty="0">
                <a:solidFill>
                  <a:srgbClr val="F5F5F5"/>
                </a:solidFill>
                <a:latin typeface="Chakra Petch" pitchFamily="34" charset="0"/>
                <a:ea typeface="Chakra Petch" pitchFamily="34" charset="-122"/>
                <a:cs typeface="Chakra Petch" pitchFamily="34" charset="-120"/>
              </a:rPr>
              <a:t>🎫 Ticket &amp; Pass Wallet</a:t>
            </a:r>
            <a:endParaRPr lang="en-US" sz="1250" dirty="0"/>
          </a:p>
        </p:txBody>
      </p:sp>
      <p:sp>
        <p:nvSpPr>
          <p:cNvPr id="17" name="Text 15"/>
          <p:cNvSpPr/>
          <p:nvPr/>
        </p:nvSpPr>
        <p:spPr>
          <a:xfrm>
            <a:off x="4224528" y="3145536"/>
            <a:ext cx="3063240" cy="509016"/>
          </a:xfrm>
          <a:prstGeom prst="rect">
            <a:avLst/>
          </a:prstGeom>
          <a:noFill/>
          <a:ln/>
        </p:spPr>
        <p:txBody>
          <a:bodyPr wrap="square" rtlCol="0" anchor="t"/>
          <a:lstStyle/>
          <a:p>
            <a:pPr indent="0" marL="0">
              <a:lnSpc>
                <a:spcPts val="1800"/>
              </a:lnSpc>
              <a:buNone/>
            </a:pPr>
            <a:r>
              <a:rPr lang="en-US" sz="1100" dirty="0">
                <a:solidFill>
                  <a:srgbClr val="9CA3AF"/>
                </a:solidFill>
                <a:latin typeface="Rajdhani" pitchFamily="34" charset="0"/>
                <a:ea typeface="Rajdhani" pitchFamily="34" charset="-122"/>
                <a:cs typeface="Rajdhani" pitchFamily="34" charset="-120"/>
              </a:rPr>
              <a:t>Instant PDF tickets with QR codes, add-to-calendar (.ics) &amp; live pass status.</a:t>
            </a:r>
            <a:endParaRPr lang="en-US" sz="1100" dirty="0"/>
          </a:p>
        </p:txBody>
      </p:sp>
      <p:sp>
        <p:nvSpPr>
          <p:cNvPr id="18" name="Shape 16"/>
          <p:cNvSpPr/>
          <p:nvPr/>
        </p:nvSpPr>
        <p:spPr>
          <a:xfrm>
            <a:off x="411480" y="3947160"/>
            <a:ext cx="3429000" cy="1021080"/>
          </a:xfrm>
          <a:prstGeom prst="roundRect">
            <a:avLst>
              <a:gd name="adj" fmla="val 8955"/>
            </a:avLst>
          </a:prstGeom>
          <a:solidFill>
            <a:srgbClr val="0F0F14"/>
          </a:solidFill>
          <a:ln w="12700">
            <a:solidFill>
              <a:srgbClr val="26262D"/>
            </a:solidFill>
            <a:prstDash val="solid"/>
          </a:ln>
        </p:spPr>
      </p:sp>
      <p:sp>
        <p:nvSpPr>
          <p:cNvPr id="19" name="Shape 17"/>
          <p:cNvSpPr/>
          <p:nvPr/>
        </p:nvSpPr>
        <p:spPr>
          <a:xfrm>
            <a:off x="411480" y="4056888"/>
            <a:ext cx="45720" cy="801624"/>
          </a:xfrm>
          <a:prstGeom prst="rect">
            <a:avLst/>
          </a:prstGeom>
          <a:solidFill>
            <a:srgbClr val="DC2626"/>
          </a:solidFill>
          <a:ln/>
        </p:spPr>
      </p:sp>
      <p:sp>
        <p:nvSpPr>
          <p:cNvPr id="20" name="Text 18"/>
          <p:cNvSpPr/>
          <p:nvPr/>
        </p:nvSpPr>
        <p:spPr>
          <a:xfrm>
            <a:off x="612648" y="4011168"/>
            <a:ext cx="3063240" cy="384048"/>
          </a:xfrm>
          <a:prstGeom prst="rect">
            <a:avLst/>
          </a:prstGeom>
          <a:noFill/>
          <a:ln/>
        </p:spPr>
        <p:txBody>
          <a:bodyPr wrap="square" rtlCol="0" anchor="t"/>
          <a:lstStyle/>
          <a:p>
            <a:pPr indent="0" marL="0">
              <a:buNone/>
            </a:pPr>
            <a:r>
              <a:rPr lang="en-US" sz="1250" b="1" dirty="0">
                <a:solidFill>
                  <a:srgbClr val="F5F5F5"/>
                </a:solidFill>
                <a:latin typeface="Chakra Petch" pitchFamily="34" charset="0"/>
                <a:ea typeface="Chakra Petch" pitchFamily="34" charset="-122"/>
                <a:cs typeface="Chakra Petch" pitchFamily="34" charset="-120"/>
              </a:rPr>
              <a:t>🤝 Solo Hacker &amp; Team Matchmaking</a:t>
            </a:r>
            <a:endParaRPr lang="en-US" sz="1250" dirty="0"/>
          </a:p>
        </p:txBody>
      </p:sp>
      <p:sp>
        <p:nvSpPr>
          <p:cNvPr id="21" name="Text 19"/>
          <p:cNvSpPr/>
          <p:nvPr/>
        </p:nvSpPr>
        <p:spPr>
          <a:xfrm>
            <a:off x="612648" y="4349496"/>
            <a:ext cx="3063240" cy="509016"/>
          </a:xfrm>
          <a:prstGeom prst="rect">
            <a:avLst/>
          </a:prstGeom>
          <a:noFill/>
          <a:ln/>
        </p:spPr>
        <p:txBody>
          <a:bodyPr wrap="square" rtlCol="0" anchor="t"/>
          <a:lstStyle/>
          <a:p>
            <a:pPr indent="0" marL="0">
              <a:lnSpc>
                <a:spcPts val="1800"/>
              </a:lnSpc>
              <a:buNone/>
            </a:pPr>
            <a:r>
              <a:rPr lang="en-US" sz="1100" dirty="0">
                <a:solidFill>
                  <a:srgbClr val="9CA3AF"/>
                </a:solidFill>
                <a:latin typeface="Rajdhani" pitchFamily="34" charset="0"/>
                <a:ea typeface="Rajdhani" pitchFamily="34" charset="-122"/>
                <a:cs typeface="Rajdhani" pitchFamily="34" charset="-120"/>
              </a:rPr>
              <a:t>Find teammates by skill tag — Frontend, AI/ML, Backend, UI/UX.</a:t>
            </a:r>
            <a:endParaRPr lang="en-US" sz="1100" dirty="0"/>
          </a:p>
        </p:txBody>
      </p:sp>
      <p:sp>
        <p:nvSpPr>
          <p:cNvPr id="22" name="Shape 20"/>
          <p:cNvSpPr/>
          <p:nvPr/>
        </p:nvSpPr>
        <p:spPr>
          <a:xfrm>
            <a:off x="4023360" y="3947160"/>
            <a:ext cx="3429000" cy="1021080"/>
          </a:xfrm>
          <a:prstGeom prst="roundRect">
            <a:avLst>
              <a:gd name="adj" fmla="val 8955"/>
            </a:avLst>
          </a:prstGeom>
          <a:solidFill>
            <a:srgbClr val="0F0F14"/>
          </a:solidFill>
          <a:ln w="12700">
            <a:solidFill>
              <a:srgbClr val="26262D"/>
            </a:solidFill>
            <a:prstDash val="solid"/>
          </a:ln>
        </p:spPr>
      </p:sp>
      <p:sp>
        <p:nvSpPr>
          <p:cNvPr id="23" name="Shape 21"/>
          <p:cNvSpPr/>
          <p:nvPr/>
        </p:nvSpPr>
        <p:spPr>
          <a:xfrm>
            <a:off x="4023360" y="4056888"/>
            <a:ext cx="45720" cy="801624"/>
          </a:xfrm>
          <a:prstGeom prst="rect">
            <a:avLst/>
          </a:prstGeom>
          <a:solidFill>
            <a:srgbClr val="DC2626"/>
          </a:solidFill>
          <a:ln/>
        </p:spPr>
      </p:sp>
      <p:sp>
        <p:nvSpPr>
          <p:cNvPr id="24" name="Text 22"/>
          <p:cNvSpPr/>
          <p:nvPr/>
        </p:nvSpPr>
        <p:spPr>
          <a:xfrm>
            <a:off x="4224528" y="4011168"/>
            <a:ext cx="3063240" cy="384048"/>
          </a:xfrm>
          <a:prstGeom prst="rect">
            <a:avLst/>
          </a:prstGeom>
          <a:noFill/>
          <a:ln/>
        </p:spPr>
        <p:txBody>
          <a:bodyPr wrap="square" rtlCol="0" anchor="t"/>
          <a:lstStyle/>
          <a:p>
            <a:pPr indent="0" marL="0">
              <a:buNone/>
            </a:pPr>
            <a:r>
              <a:rPr lang="en-US" sz="1250" b="1" dirty="0">
                <a:solidFill>
                  <a:srgbClr val="F5F5F5"/>
                </a:solidFill>
                <a:latin typeface="Chakra Petch" pitchFamily="34" charset="0"/>
                <a:ea typeface="Chakra Petch" pitchFamily="34" charset="-122"/>
                <a:cs typeface="Chakra Petch" pitchFamily="34" charset="-120"/>
              </a:rPr>
              <a:t>🏆 Gamification &amp; Ranks</a:t>
            </a:r>
            <a:endParaRPr lang="en-US" sz="1250" dirty="0"/>
          </a:p>
        </p:txBody>
      </p:sp>
      <p:sp>
        <p:nvSpPr>
          <p:cNvPr id="25" name="Text 23"/>
          <p:cNvSpPr/>
          <p:nvPr/>
        </p:nvSpPr>
        <p:spPr>
          <a:xfrm>
            <a:off x="4224528" y="4349496"/>
            <a:ext cx="3063240" cy="509016"/>
          </a:xfrm>
          <a:prstGeom prst="rect">
            <a:avLst/>
          </a:prstGeom>
          <a:noFill/>
          <a:ln/>
        </p:spPr>
        <p:txBody>
          <a:bodyPr wrap="square" rtlCol="0" anchor="t"/>
          <a:lstStyle/>
          <a:p>
            <a:pPr indent="0" marL="0">
              <a:lnSpc>
                <a:spcPts val="1800"/>
              </a:lnSpc>
              <a:buNone/>
            </a:pPr>
            <a:r>
              <a:rPr lang="en-US" sz="1100" dirty="0">
                <a:solidFill>
                  <a:srgbClr val="9CA3AF"/>
                </a:solidFill>
                <a:latin typeface="Rajdhani" pitchFamily="34" charset="0"/>
                <a:ea typeface="Rajdhani" pitchFamily="34" charset="-122"/>
                <a:cs typeface="Rajdhani" pitchFamily="34" charset="-120"/>
              </a:rPr>
              <a:t>Experience badges, departmental ranks &amp; verified activity logs.</a:t>
            </a:r>
            <a:endParaRPr lang="en-US" sz="1100" dirty="0"/>
          </a:p>
        </p:txBody>
      </p:sp>
      <p:sp>
        <p:nvSpPr>
          <p:cNvPr id="26" name="Shape 24"/>
          <p:cNvSpPr/>
          <p:nvPr/>
        </p:nvSpPr>
        <p:spPr>
          <a:xfrm>
            <a:off x="411480" y="5151120"/>
            <a:ext cx="3429000" cy="1021080"/>
          </a:xfrm>
          <a:prstGeom prst="roundRect">
            <a:avLst>
              <a:gd name="adj" fmla="val 8955"/>
            </a:avLst>
          </a:prstGeom>
          <a:solidFill>
            <a:srgbClr val="0F0F14"/>
          </a:solidFill>
          <a:ln w="12700">
            <a:solidFill>
              <a:srgbClr val="26262D"/>
            </a:solidFill>
            <a:prstDash val="solid"/>
          </a:ln>
        </p:spPr>
      </p:sp>
      <p:sp>
        <p:nvSpPr>
          <p:cNvPr id="27" name="Shape 25"/>
          <p:cNvSpPr/>
          <p:nvPr/>
        </p:nvSpPr>
        <p:spPr>
          <a:xfrm>
            <a:off x="411480" y="5260848"/>
            <a:ext cx="45720" cy="801624"/>
          </a:xfrm>
          <a:prstGeom prst="rect">
            <a:avLst/>
          </a:prstGeom>
          <a:solidFill>
            <a:srgbClr val="DC2626"/>
          </a:solidFill>
          <a:ln/>
        </p:spPr>
      </p:sp>
      <p:sp>
        <p:nvSpPr>
          <p:cNvPr id="28" name="Text 26"/>
          <p:cNvSpPr/>
          <p:nvPr/>
        </p:nvSpPr>
        <p:spPr>
          <a:xfrm>
            <a:off x="612648" y="5215128"/>
            <a:ext cx="3063240" cy="384048"/>
          </a:xfrm>
          <a:prstGeom prst="rect">
            <a:avLst/>
          </a:prstGeom>
          <a:noFill/>
          <a:ln/>
        </p:spPr>
        <p:txBody>
          <a:bodyPr wrap="square" rtlCol="0" anchor="t"/>
          <a:lstStyle/>
          <a:p>
            <a:pPr indent="0" marL="0">
              <a:buNone/>
            </a:pPr>
            <a:r>
              <a:rPr lang="en-US" sz="1250" b="1" dirty="0">
                <a:solidFill>
                  <a:srgbClr val="F5F5F5"/>
                </a:solidFill>
                <a:latin typeface="Chakra Petch" pitchFamily="34" charset="0"/>
                <a:ea typeface="Chakra Petch" pitchFamily="34" charset="-122"/>
                <a:cs typeface="Chakra Petch" pitchFamily="34" charset="-120"/>
              </a:rPr>
              <a:t>🌐 Social &amp; Community</a:t>
            </a:r>
            <a:endParaRPr lang="en-US" sz="1250" dirty="0"/>
          </a:p>
        </p:txBody>
      </p:sp>
      <p:sp>
        <p:nvSpPr>
          <p:cNvPr id="29" name="Text 27"/>
          <p:cNvSpPr/>
          <p:nvPr/>
        </p:nvSpPr>
        <p:spPr>
          <a:xfrm>
            <a:off x="612648" y="5553456"/>
            <a:ext cx="3063240" cy="509016"/>
          </a:xfrm>
          <a:prstGeom prst="rect">
            <a:avLst/>
          </a:prstGeom>
          <a:noFill/>
          <a:ln/>
        </p:spPr>
        <p:txBody>
          <a:bodyPr wrap="square" rtlCol="0" anchor="t"/>
          <a:lstStyle/>
          <a:p>
            <a:pPr indent="0" marL="0">
              <a:lnSpc>
                <a:spcPts val="1800"/>
              </a:lnSpc>
              <a:buNone/>
            </a:pPr>
            <a:r>
              <a:rPr lang="en-US" sz="1100" dirty="0">
                <a:solidFill>
                  <a:srgbClr val="9CA3AF"/>
                </a:solidFill>
                <a:latin typeface="Rajdhani" pitchFamily="34" charset="0"/>
                <a:ea typeface="Rajdhani" pitchFamily="34" charset="-122"/>
                <a:cs typeface="Rajdhani" pitchFamily="34" charset="-120"/>
              </a:rPr>
              <a:t>Follow clubs, bookmark events, verified testimonials &amp; upvote showcase projects.</a:t>
            </a:r>
            <a:endParaRPr lang="en-US" sz="1100" dirty="0"/>
          </a:p>
        </p:txBody>
      </p:sp>
      <p:sp>
        <p:nvSpPr>
          <p:cNvPr id="30" name="Shape 28"/>
          <p:cNvSpPr/>
          <p:nvPr/>
        </p:nvSpPr>
        <p:spPr>
          <a:xfrm>
            <a:off x="4023360" y="5151120"/>
            <a:ext cx="3429000" cy="1021080"/>
          </a:xfrm>
          <a:prstGeom prst="roundRect">
            <a:avLst>
              <a:gd name="adj" fmla="val 8955"/>
            </a:avLst>
          </a:prstGeom>
          <a:solidFill>
            <a:srgbClr val="0F0F14"/>
          </a:solidFill>
          <a:ln w="12700">
            <a:solidFill>
              <a:srgbClr val="26262D"/>
            </a:solidFill>
            <a:prstDash val="solid"/>
          </a:ln>
        </p:spPr>
      </p:sp>
      <p:sp>
        <p:nvSpPr>
          <p:cNvPr id="31" name="Shape 29"/>
          <p:cNvSpPr/>
          <p:nvPr/>
        </p:nvSpPr>
        <p:spPr>
          <a:xfrm>
            <a:off x="4023360" y="5260848"/>
            <a:ext cx="45720" cy="801624"/>
          </a:xfrm>
          <a:prstGeom prst="rect">
            <a:avLst/>
          </a:prstGeom>
          <a:solidFill>
            <a:srgbClr val="DC2626"/>
          </a:solidFill>
          <a:ln/>
        </p:spPr>
      </p:sp>
      <p:sp>
        <p:nvSpPr>
          <p:cNvPr id="32" name="Text 30"/>
          <p:cNvSpPr/>
          <p:nvPr/>
        </p:nvSpPr>
        <p:spPr>
          <a:xfrm>
            <a:off x="4224528" y="5215128"/>
            <a:ext cx="3063240" cy="384048"/>
          </a:xfrm>
          <a:prstGeom prst="rect">
            <a:avLst/>
          </a:prstGeom>
          <a:noFill/>
          <a:ln/>
        </p:spPr>
        <p:txBody>
          <a:bodyPr wrap="square" rtlCol="0" anchor="t"/>
          <a:lstStyle/>
          <a:p>
            <a:pPr indent="0" marL="0">
              <a:buNone/>
            </a:pPr>
            <a:r>
              <a:rPr lang="en-US" sz="1250" b="1" dirty="0">
                <a:solidFill>
                  <a:srgbClr val="F5F5F5"/>
                </a:solidFill>
                <a:latin typeface="Chakra Petch" pitchFamily="34" charset="0"/>
                <a:ea typeface="Chakra Petch" pitchFamily="34" charset="-122"/>
                <a:cs typeface="Chakra Petch" pitchFamily="34" charset="-120"/>
              </a:rPr>
              <a:t>👤 Public Profile · /u/username</a:t>
            </a:r>
            <a:endParaRPr lang="en-US" sz="1250" dirty="0"/>
          </a:p>
        </p:txBody>
      </p:sp>
      <p:sp>
        <p:nvSpPr>
          <p:cNvPr id="33" name="Text 31"/>
          <p:cNvSpPr/>
          <p:nvPr/>
        </p:nvSpPr>
        <p:spPr>
          <a:xfrm>
            <a:off x="4224528" y="5553456"/>
            <a:ext cx="3063240" cy="509016"/>
          </a:xfrm>
          <a:prstGeom prst="rect">
            <a:avLst/>
          </a:prstGeom>
          <a:noFill/>
          <a:ln/>
        </p:spPr>
        <p:txBody>
          <a:bodyPr wrap="square" rtlCol="0" anchor="t"/>
          <a:lstStyle/>
          <a:p>
            <a:pPr indent="0" marL="0">
              <a:lnSpc>
                <a:spcPts val="1800"/>
              </a:lnSpc>
              <a:buNone/>
            </a:pPr>
            <a:r>
              <a:rPr lang="en-US" sz="1100" dirty="0">
                <a:solidFill>
                  <a:srgbClr val="9CA3AF"/>
                </a:solidFill>
                <a:latin typeface="Rajdhani" pitchFamily="34" charset="0"/>
                <a:ea typeface="Rajdhani" pitchFamily="34" charset="-122"/>
                <a:cs typeface="Rajdhani" pitchFamily="34" charset="-120"/>
              </a:rPr>
              <a:t>On-platform portfolio of badges, ranks &amp; verified achievements.</a:t>
            </a:r>
            <a:endParaRPr lang="en-US" sz="1100" dirty="0"/>
          </a:p>
        </p:txBody>
      </p:sp>
      <p:sp>
        <p:nvSpPr>
          <p:cNvPr id="34" name="Shape 32"/>
          <p:cNvSpPr/>
          <p:nvPr/>
        </p:nvSpPr>
        <p:spPr>
          <a:xfrm>
            <a:off x="7680960" y="2514600"/>
            <a:ext cx="3977640" cy="3794760"/>
          </a:xfrm>
          <a:prstGeom prst="roundRect">
            <a:avLst>
              <a:gd name="adj" fmla="val 2169"/>
            </a:avLst>
          </a:prstGeom>
          <a:solidFill>
            <a:srgbClr val="0C0C10"/>
          </a:solidFill>
          <a:ln w="12700">
            <a:solidFill>
              <a:srgbClr val="333333"/>
            </a:solidFill>
            <a:prstDash val="solid"/>
          </a:ln>
        </p:spPr>
      </p:sp>
      <p:sp>
        <p:nvSpPr>
          <p:cNvPr id="35" name="Shape 33"/>
          <p:cNvSpPr/>
          <p:nvPr/>
        </p:nvSpPr>
        <p:spPr>
          <a:xfrm>
            <a:off x="7735824" y="2569464"/>
            <a:ext cx="3867912" cy="310896"/>
          </a:xfrm>
          <a:prstGeom prst="rect">
            <a:avLst/>
          </a:prstGeom>
          <a:solidFill>
            <a:srgbClr val="14141A"/>
          </a:solidFill>
          <a:ln/>
        </p:spPr>
      </p:sp>
      <p:sp>
        <p:nvSpPr>
          <p:cNvPr id="36" name="Shape 34"/>
          <p:cNvSpPr/>
          <p:nvPr/>
        </p:nvSpPr>
        <p:spPr>
          <a:xfrm>
            <a:off x="7808976" y="2656332"/>
            <a:ext cx="109728" cy="109728"/>
          </a:xfrm>
          <a:prstGeom prst="ellipse">
            <a:avLst/>
          </a:prstGeom>
          <a:solidFill>
            <a:srgbClr val="7F1D1D"/>
          </a:solidFill>
          <a:ln/>
        </p:spPr>
      </p:sp>
      <p:sp>
        <p:nvSpPr>
          <p:cNvPr id="37" name="Shape 35"/>
          <p:cNvSpPr/>
          <p:nvPr/>
        </p:nvSpPr>
        <p:spPr>
          <a:xfrm>
            <a:off x="7991856" y="2656332"/>
            <a:ext cx="109728" cy="109728"/>
          </a:xfrm>
          <a:prstGeom prst="ellipse">
            <a:avLst/>
          </a:prstGeom>
          <a:solidFill>
            <a:srgbClr val="B45309"/>
          </a:solidFill>
          <a:ln/>
        </p:spPr>
      </p:sp>
      <p:sp>
        <p:nvSpPr>
          <p:cNvPr id="38" name="Shape 36"/>
          <p:cNvSpPr/>
          <p:nvPr/>
        </p:nvSpPr>
        <p:spPr>
          <a:xfrm>
            <a:off x="8174736" y="2656332"/>
            <a:ext cx="109728" cy="109728"/>
          </a:xfrm>
          <a:prstGeom prst="ellipse">
            <a:avLst/>
          </a:prstGeom>
          <a:solidFill>
            <a:srgbClr val="166534"/>
          </a:solidFill>
          <a:ln/>
        </p:spPr>
      </p:sp>
      <p:sp>
        <p:nvSpPr>
          <p:cNvPr id="39" name="Shape 37"/>
          <p:cNvSpPr/>
          <p:nvPr/>
        </p:nvSpPr>
        <p:spPr>
          <a:xfrm>
            <a:off x="8339328" y="2633472"/>
            <a:ext cx="3063240" cy="182880"/>
          </a:xfrm>
          <a:prstGeom prst="roundRect">
            <a:avLst>
              <a:gd name="adj" fmla="val 50000"/>
            </a:avLst>
          </a:prstGeom>
          <a:solidFill>
            <a:srgbClr val="0A0A0E"/>
          </a:solidFill>
          <a:ln w="6350">
            <a:solidFill>
              <a:srgbClr val="26262D"/>
            </a:solidFill>
            <a:prstDash val="solid"/>
          </a:ln>
        </p:spPr>
      </p:sp>
      <p:sp>
        <p:nvSpPr>
          <p:cNvPr id="40" name="Text 38"/>
          <p:cNvSpPr/>
          <p:nvPr/>
        </p:nvSpPr>
        <p:spPr>
          <a:xfrm>
            <a:off x="8394192" y="2633472"/>
            <a:ext cx="2971800" cy="182880"/>
          </a:xfrm>
          <a:prstGeom prst="rect">
            <a:avLst/>
          </a:prstGeom>
          <a:noFill/>
          <a:ln/>
        </p:spPr>
        <p:txBody>
          <a:bodyPr wrap="square" rtlCol="0" anchor="ctr"/>
          <a:lstStyle/>
          <a:p>
            <a:pPr algn="ctr" indent="0" marL="0">
              <a:buNone/>
            </a:pPr>
            <a:r>
              <a:rPr lang="en-US" sz="800" dirty="0">
                <a:solidFill>
                  <a:srgbClr val="71717A"/>
                </a:solidFill>
                <a:latin typeface="JetBrains Mono" pitchFamily="34" charset="0"/>
                <a:ea typeface="JetBrains Mono" pitchFamily="34" charset="-122"/>
                <a:cs typeface="JetBrains Mono" pitchFamily="34" charset="-120"/>
              </a:rPr>
              <a:t>https://nx-913.com/events</a:t>
            </a:r>
            <a:endParaRPr lang="en-US" sz="800" dirty="0"/>
          </a:p>
        </p:txBody>
      </p:sp>
      <p:pic>
        <p:nvPicPr>
          <p:cNvPr id="41" name="Image 0" descr="/Users/vivek/Trend/assets/site/02-events.png">    </p:cNvPr>
          <p:cNvPicPr>
            <a:picLocks noChangeAspect="1"/>
          </p:cNvPicPr>
          <p:nvPr/>
        </p:nvPicPr>
        <p:blipFill>
          <a:blip r:embed="rId1"/>
          <a:stretch>
            <a:fillRect/>
          </a:stretch>
        </p:blipFill>
        <p:spPr>
          <a:xfrm>
            <a:off x="7735824" y="2935224"/>
            <a:ext cx="3867912" cy="3282696"/>
          </a:xfrm>
          <a:prstGeom prst="rect">
            <a:avLst/>
          </a:prstGeom>
        </p:spPr>
      </p:pic>
      <p:sp>
        <p:nvSpPr>
          <p:cNvPr id="42" name="Shape 39"/>
          <p:cNvSpPr/>
          <p:nvPr/>
        </p:nvSpPr>
        <p:spPr>
          <a:xfrm>
            <a:off x="8206740" y="5989320"/>
            <a:ext cx="2926080" cy="457200"/>
          </a:xfrm>
          <a:prstGeom prst="ellipse">
            <a:avLst/>
          </a:prstGeom>
          <a:solidFill>
            <a:srgbClr val="DC2626">
              <a:alpha val="14000"/>
            </a:srgbClr>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411480" y="347472"/>
            <a:ext cx="384048" cy="384048"/>
          </a:xfrm>
          <a:prstGeom prst="roundRect">
            <a:avLst>
              <a:gd name="adj" fmla="val 19048"/>
            </a:avLst>
          </a:prstGeom>
          <a:solidFill>
            <a:srgbClr val="DC2626"/>
          </a:solidFill>
          <a:ln/>
        </p:spPr>
      </p:sp>
      <p:sp>
        <p:nvSpPr>
          <p:cNvPr id="3" name="Text 1"/>
          <p:cNvSpPr/>
          <p:nvPr/>
        </p:nvSpPr>
        <p:spPr>
          <a:xfrm>
            <a:off x="411480" y="347472"/>
            <a:ext cx="384048" cy="384048"/>
          </a:xfrm>
          <a:prstGeom prst="rect">
            <a:avLst/>
          </a:prstGeom>
          <a:noFill/>
          <a:ln/>
        </p:spPr>
        <p:txBody>
          <a:bodyPr wrap="square" rtlCol="0" anchor="ctr"/>
          <a:lstStyle/>
          <a:p>
            <a:pPr algn="ctr" indent="0" marL="0">
              <a:buNone/>
            </a:pPr>
            <a:r>
              <a:rPr lang="en-US" sz="1600" b="1" dirty="0">
                <a:solidFill>
                  <a:srgbClr val="FFFFFF"/>
                </a:solidFill>
                <a:latin typeface="Chakra Petch" pitchFamily="34" charset="0"/>
                <a:ea typeface="Chakra Petch" pitchFamily="34" charset="-122"/>
                <a:cs typeface="Chakra Petch" pitchFamily="34" charset="-120"/>
              </a:rPr>
              <a:t>N</a:t>
            </a:r>
            <a:endParaRPr lang="en-US" sz="1600" dirty="0"/>
          </a:p>
        </p:txBody>
      </p:sp>
      <p:sp>
        <p:nvSpPr>
          <p:cNvPr id="4" name="Text 2"/>
          <p:cNvSpPr/>
          <p:nvPr/>
        </p:nvSpPr>
        <p:spPr>
          <a:xfrm>
            <a:off x="886968" y="365760"/>
            <a:ext cx="2926080" cy="347472"/>
          </a:xfrm>
          <a:prstGeom prst="rect">
            <a:avLst/>
          </a:prstGeom>
          <a:noFill/>
          <a:ln/>
        </p:spPr>
        <p:txBody>
          <a:bodyPr wrap="square" rtlCol="0" anchor="ctr"/>
          <a:lstStyle/>
          <a:p>
            <a:pPr indent="0" marL="0">
              <a:buNone/>
            </a:pPr>
            <a:r>
              <a:rPr lang="en-US" b="1" dirty="0">
                <a:solidFill>
                  <a:srgbClr val="F5F5F5"/>
                </a:solidFill>
                <a:latin typeface="Chakra Petch" pitchFamily="34" charset="0"/>
                <a:ea typeface="Chakra Petch" pitchFamily="34" charset="-122"/>
                <a:cs typeface="Chakra Petch" pitchFamily="34" charset="-120"/>
              </a:rPr>
              <a:t>NX-913  </a:t>
            </a:r>
            <a:pPr indent="0" marL="0">
              <a:buNone/>
            </a:pPr>
            <a:r>
              <a:rPr lang="en-US" sz="1100" dirty="0">
                <a:solidFill>
                  <a:srgbClr val="71717A"/>
                </a:solidFill>
                <a:latin typeface="Rajdhani" pitchFamily="34" charset="0"/>
                <a:ea typeface="Rajdhani" pitchFamily="34" charset="-122"/>
                <a:cs typeface="Rajdhani" pitchFamily="34" charset="-120"/>
              </a:rPr>
              <a:t>CAMPUS OS</a:t>
            </a:r>
            <a:endParaRPr lang="en-US" sz="1100" dirty="0"/>
          </a:p>
        </p:txBody>
      </p:sp>
      <p:sp>
        <p:nvSpPr>
          <p:cNvPr id="5" name="Text 3"/>
          <p:cNvSpPr/>
          <p:nvPr/>
        </p:nvSpPr>
        <p:spPr>
          <a:xfrm>
            <a:off x="9814255" y="402336"/>
            <a:ext cx="1965960" cy="274320"/>
          </a:xfrm>
          <a:prstGeom prst="rect">
            <a:avLst/>
          </a:prstGeom>
          <a:noFill/>
          <a:ln/>
        </p:spPr>
        <p:txBody>
          <a:bodyPr wrap="square" rtlCol="0" anchor="ctr"/>
          <a:lstStyle/>
          <a:p>
            <a:pPr algn="r" indent="0" marL="0">
              <a:buNone/>
            </a:pPr>
            <a:r>
              <a:rPr lang="en-US" sz="900" spc="200" kern="0" dirty="0">
                <a:solidFill>
                  <a:srgbClr val="71717A"/>
                </a:solidFill>
                <a:latin typeface="JetBrains Mono" pitchFamily="34" charset="0"/>
                <a:ea typeface="JetBrains Mono" pitchFamily="34" charset="-122"/>
                <a:cs typeface="JetBrains Mono" pitchFamily="34" charset="-120"/>
              </a:rPr>
              <a:t>PITCH DECK</a:t>
            </a:r>
            <a:endParaRPr lang="en-US" sz="900" dirty="0"/>
          </a:p>
        </p:txBody>
      </p:sp>
      <p:sp>
        <p:nvSpPr>
          <p:cNvPr id="6" name="Shape 4"/>
          <p:cNvSpPr/>
          <p:nvPr/>
        </p:nvSpPr>
        <p:spPr>
          <a:xfrm>
            <a:off x="411480" y="960120"/>
            <a:ext cx="1143000" cy="347472"/>
          </a:xfrm>
          <a:prstGeom prst="roundRect">
            <a:avLst>
              <a:gd name="adj" fmla="val 50000"/>
            </a:avLst>
          </a:prstGeom>
          <a:solidFill>
            <a:srgbClr val="1A0D0D"/>
          </a:solidFill>
          <a:ln w="12700">
            <a:solidFill>
              <a:srgbClr val="7F1D1D"/>
            </a:solidFill>
            <a:prstDash val="solid"/>
          </a:ln>
        </p:spPr>
      </p:sp>
      <p:sp>
        <p:nvSpPr>
          <p:cNvPr id="7" name="Text 5"/>
          <p:cNvSpPr/>
          <p:nvPr/>
        </p:nvSpPr>
        <p:spPr>
          <a:xfrm>
            <a:off x="411480" y="960120"/>
            <a:ext cx="1143000" cy="347472"/>
          </a:xfrm>
          <a:prstGeom prst="rect">
            <a:avLst/>
          </a:prstGeom>
          <a:noFill/>
          <a:ln/>
        </p:spPr>
        <p:txBody>
          <a:bodyPr wrap="square" rtlCol="0" anchor="ctr"/>
          <a:lstStyle/>
          <a:p>
            <a:pPr algn="ctr" indent="0" marL="0">
              <a:buNone/>
            </a:pPr>
            <a:r>
              <a:rPr lang="en-US" sz="900" spc="100" kern="0" dirty="0">
                <a:solidFill>
                  <a:srgbClr val="F87171"/>
                </a:solidFill>
                <a:latin typeface="JetBrains Mono" pitchFamily="34" charset="0"/>
                <a:ea typeface="JetBrains Mono" pitchFamily="34" charset="-122"/>
                <a:cs typeface="JetBrains Mono" pitchFamily="34" charset="-120"/>
              </a:rPr>
              <a:t>05 THE ECOSYSTEM</a:t>
            </a:r>
            <a:endParaRPr lang="en-US" sz="900" dirty="0"/>
          </a:p>
        </p:txBody>
      </p:sp>
      <p:sp>
        <p:nvSpPr>
          <p:cNvPr id="8" name="Text 6"/>
          <p:cNvSpPr/>
          <p:nvPr/>
        </p:nvSpPr>
        <p:spPr>
          <a:xfrm>
            <a:off x="384048" y="1371600"/>
            <a:ext cx="11368735" cy="822960"/>
          </a:xfrm>
          <a:prstGeom prst="rect">
            <a:avLst/>
          </a:prstGeom>
          <a:noFill/>
          <a:ln/>
        </p:spPr>
        <p:txBody>
          <a:bodyPr wrap="square" rtlCol="0" anchor="ctr"/>
          <a:lstStyle/>
          <a:p>
            <a:pPr indent="0" marL="0">
              <a:buNone/>
            </a:pPr>
            <a:r>
              <a:rPr lang="en-US" sz="3400" b="1" dirty="0">
                <a:solidFill>
                  <a:srgbClr val="F5F5F5"/>
                </a:solidFill>
                <a:latin typeface="Chakra Petch" pitchFamily="34" charset="0"/>
                <a:ea typeface="Chakra Petch" pitchFamily="34" charset="-122"/>
                <a:cs typeface="Chakra Petch" pitchFamily="34" charset="-120"/>
              </a:rPr>
              <a:t>The Hackathon &amp; Competition Engine</a:t>
            </a:r>
            <a:endParaRPr lang="en-US" sz="3400" dirty="0"/>
          </a:p>
        </p:txBody>
      </p:sp>
      <p:sp>
        <p:nvSpPr>
          <p:cNvPr id="9" name="Text 7"/>
          <p:cNvSpPr/>
          <p:nvPr/>
        </p:nvSpPr>
        <p:spPr>
          <a:xfrm>
            <a:off x="411480" y="2121408"/>
            <a:ext cx="10545775" cy="411480"/>
          </a:xfrm>
          <a:prstGeom prst="rect">
            <a:avLst/>
          </a:prstGeom>
          <a:noFill/>
          <a:ln/>
        </p:spPr>
        <p:txBody>
          <a:bodyPr wrap="square" rtlCol="0" anchor="t"/>
          <a:lstStyle/>
          <a:p>
            <a:pPr indent="0" marL="0">
              <a:buNone/>
            </a:pPr>
            <a:r>
              <a:rPr lang="en-US" sz="1500" dirty="0">
                <a:solidFill>
                  <a:srgbClr val="9CA3AF"/>
                </a:solidFill>
                <a:latin typeface="Rajdhani" pitchFamily="34" charset="0"/>
                <a:ea typeface="Rajdhani" pitchFamily="34" charset="-122"/>
                <a:cs typeface="Rajdhani" pitchFamily="34" charset="-120"/>
              </a:rPr>
              <a:t>From team formation to live podium — a complete competition lifecycle.</a:t>
            </a:r>
            <a:endParaRPr lang="en-US" sz="1500" dirty="0"/>
          </a:p>
        </p:txBody>
      </p:sp>
      <p:sp>
        <p:nvSpPr>
          <p:cNvPr id="10" name="Shape 8"/>
          <p:cNvSpPr/>
          <p:nvPr/>
        </p:nvSpPr>
        <p:spPr>
          <a:xfrm>
            <a:off x="411480" y="2743200"/>
            <a:ext cx="3429000" cy="1623060"/>
          </a:xfrm>
          <a:prstGeom prst="roundRect">
            <a:avLst>
              <a:gd name="adj" fmla="val 5634"/>
            </a:avLst>
          </a:prstGeom>
          <a:solidFill>
            <a:srgbClr val="0F0F14"/>
          </a:solidFill>
          <a:ln w="12700">
            <a:solidFill>
              <a:srgbClr val="26262D"/>
            </a:solidFill>
            <a:prstDash val="solid"/>
          </a:ln>
        </p:spPr>
      </p:sp>
      <p:sp>
        <p:nvSpPr>
          <p:cNvPr id="11" name="Shape 9"/>
          <p:cNvSpPr/>
          <p:nvPr/>
        </p:nvSpPr>
        <p:spPr>
          <a:xfrm>
            <a:off x="411480" y="2852928"/>
            <a:ext cx="45720" cy="1403604"/>
          </a:xfrm>
          <a:prstGeom prst="rect">
            <a:avLst/>
          </a:prstGeom>
          <a:solidFill>
            <a:srgbClr val="DC2626"/>
          </a:solidFill>
          <a:ln/>
        </p:spPr>
      </p:sp>
      <p:sp>
        <p:nvSpPr>
          <p:cNvPr id="12" name="Text 10"/>
          <p:cNvSpPr/>
          <p:nvPr/>
        </p:nvSpPr>
        <p:spPr>
          <a:xfrm>
            <a:off x="612648" y="2834640"/>
            <a:ext cx="3063240"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Dynamic Team Workspace</a:t>
            </a:r>
            <a:endParaRPr lang="en-US" sz="1450" dirty="0"/>
          </a:p>
        </p:txBody>
      </p:sp>
      <p:sp>
        <p:nvSpPr>
          <p:cNvPr id="13" name="Text 11"/>
          <p:cNvSpPr/>
          <p:nvPr/>
        </p:nvSpPr>
        <p:spPr>
          <a:xfrm>
            <a:off x="612648" y="3273552"/>
            <a:ext cx="3063240" cy="982980"/>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Create teams, share auto-generated secure invite codes &amp; assign project roles.</a:t>
            </a:r>
            <a:endParaRPr lang="en-US" sz="1250" dirty="0"/>
          </a:p>
        </p:txBody>
      </p:sp>
      <p:sp>
        <p:nvSpPr>
          <p:cNvPr id="14" name="Shape 12"/>
          <p:cNvSpPr/>
          <p:nvPr/>
        </p:nvSpPr>
        <p:spPr>
          <a:xfrm>
            <a:off x="4023360" y="2743200"/>
            <a:ext cx="3429000" cy="1623060"/>
          </a:xfrm>
          <a:prstGeom prst="roundRect">
            <a:avLst>
              <a:gd name="adj" fmla="val 5634"/>
            </a:avLst>
          </a:prstGeom>
          <a:solidFill>
            <a:srgbClr val="0F0F14"/>
          </a:solidFill>
          <a:ln w="12700">
            <a:solidFill>
              <a:srgbClr val="26262D"/>
            </a:solidFill>
            <a:prstDash val="solid"/>
          </a:ln>
        </p:spPr>
      </p:sp>
      <p:sp>
        <p:nvSpPr>
          <p:cNvPr id="15" name="Shape 13"/>
          <p:cNvSpPr/>
          <p:nvPr/>
        </p:nvSpPr>
        <p:spPr>
          <a:xfrm>
            <a:off x="4023360" y="2852928"/>
            <a:ext cx="45720" cy="1403604"/>
          </a:xfrm>
          <a:prstGeom prst="rect">
            <a:avLst/>
          </a:prstGeom>
          <a:solidFill>
            <a:srgbClr val="DC2626"/>
          </a:solidFill>
          <a:ln/>
        </p:spPr>
      </p:sp>
      <p:sp>
        <p:nvSpPr>
          <p:cNvPr id="16" name="Text 14"/>
          <p:cNvSpPr/>
          <p:nvPr/>
        </p:nvSpPr>
        <p:spPr>
          <a:xfrm>
            <a:off x="4224528" y="2834640"/>
            <a:ext cx="3063240"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Submission Engine</a:t>
            </a:r>
            <a:endParaRPr lang="en-US" sz="1450" dirty="0"/>
          </a:p>
        </p:txBody>
      </p:sp>
      <p:sp>
        <p:nvSpPr>
          <p:cNvPr id="17" name="Text 15"/>
          <p:cNvSpPr/>
          <p:nvPr/>
        </p:nvSpPr>
        <p:spPr>
          <a:xfrm>
            <a:off x="4224528" y="3273552"/>
            <a:ext cx="3063240" cy="982980"/>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Submit GitHub repos, live demo URLs, pitch videos, tech-stack tags &amp; docs.</a:t>
            </a:r>
            <a:endParaRPr lang="en-US" sz="1250" dirty="0"/>
          </a:p>
        </p:txBody>
      </p:sp>
      <p:sp>
        <p:nvSpPr>
          <p:cNvPr id="18" name="Shape 16"/>
          <p:cNvSpPr/>
          <p:nvPr/>
        </p:nvSpPr>
        <p:spPr>
          <a:xfrm>
            <a:off x="411480" y="4549140"/>
            <a:ext cx="3429000" cy="1623060"/>
          </a:xfrm>
          <a:prstGeom prst="roundRect">
            <a:avLst>
              <a:gd name="adj" fmla="val 5634"/>
            </a:avLst>
          </a:prstGeom>
          <a:solidFill>
            <a:srgbClr val="0F0F14"/>
          </a:solidFill>
          <a:ln w="12700">
            <a:solidFill>
              <a:srgbClr val="26262D"/>
            </a:solidFill>
            <a:prstDash val="solid"/>
          </a:ln>
        </p:spPr>
      </p:sp>
      <p:sp>
        <p:nvSpPr>
          <p:cNvPr id="19" name="Shape 17"/>
          <p:cNvSpPr/>
          <p:nvPr/>
        </p:nvSpPr>
        <p:spPr>
          <a:xfrm>
            <a:off x="411480" y="4658868"/>
            <a:ext cx="45720" cy="1403604"/>
          </a:xfrm>
          <a:prstGeom prst="rect">
            <a:avLst/>
          </a:prstGeom>
          <a:solidFill>
            <a:srgbClr val="DC2626"/>
          </a:solidFill>
          <a:ln/>
        </p:spPr>
      </p:sp>
      <p:sp>
        <p:nvSpPr>
          <p:cNvPr id="20" name="Text 18"/>
          <p:cNvSpPr/>
          <p:nvPr/>
        </p:nvSpPr>
        <p:spPr>
          <a:xfrm>
            <a:off x="612648" y="4640580"/>
            <a:ext cx="3063240"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Digital Judging Portal</a:t>
            </a:r>
            <a:endParaRPr lang="en-US" sz="1450" dirty="0"/>
          </a:p>
        </p:txBody>
      </p:sp>
      <p:sp>
        <p:nvSpPr>
          <p:cNvPr id="21" name="Text 19"/>
          <p:cNvSpPr/>
          <p:nvPr/>
        </p:nvSpPr>
        <p:spPr>
          <a:xfrm>
            <a:off x="612648" y="5079492"/>
            <a:ext cx="3063240" cy="982980"/>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Multi-track judge assignment &amp; weighted rubrics — Innovation 30% · Feasibility 30% · Code Quality 20% · Presentation 20%.</a:t>
            </a:r>
            <a:endParaRPr lang="en-US" sz="1250" dirty="0"/>
          </a:p>
        </p:txBody>
      </p:sp>
      <p:sp>
        <p:nvSpPr>
          <p:cNvPr id="22" name="Shape 20"/>
          <p:cNvSpPr/>
          <p:nvPr/>
        </p:nvSpPr>
        <p:spPr>
          <a:xfrm>
            <a:off x="4023360" y="4549140"/>
            <a:ext cx="3429000" cy="1623060"/>
          </a:xfrm>
          <a:prstGeom prst="roundRect">
            <a:avLst>
              <a:gd name="adj" fmla="val 5634"/>
            </a:avLst>
          </a:prstGeom>
          <a:solidFill>
            <a:srgbClr val="0F0F14"/>
          </a:solidFill>
          <a:ln w="12700">
            <a:solidFill>
              <a:srgbClr val="26262D"/>
            </a:solidFill>
            <a:prstDash val="solid"/>
          </a:ln>
        </p:spPr>
      </p:sp>
      <p:sp>
        <p:nvSpPr>
          <p:cNvPr id="23" name="Shape 21"/>
          <p:cNvSpPr/>
          <p:nvPr/>
        </p:nvSpPr>
        <p:spPr>
          <a:xfrm>
            <a:off x="4023360" y="4658868"/>
            <a:ext cx="45720" cy="1403604"/>
          </a:xfrm>
          <a:prstGeom prst="rect">
            <a:avLst/>
          </a:prstGeom>
          <a:solidFill>
            <a:srgbClr val="DC2626"/>
          </a:solidFill>
          <a:ln/>
        </p:spPr>
      </p:sp>
      <p:sp>
        <p:nvSpPr>
          <p:cNvPr id="24" name="Text 22"/>
          <p:cNvSpPr/>
          <p:nvPr/>
        </p:nvSpPr>
        <p:spPr>
          <a:xfrm>
            <a:off x="4224528" y="4640580"/>
            <a:ext cx="3063240"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Real-Time Dynamic Leaderboard</a:t>
            </a:r>
            <a:endParaRPr lang="en-US" sz="1450" dirty="0"/>
          </a:p>
        </p:txBody>
      </p:sp>
      <p:sp>
        <p:nvSpPr>
          <p:cNvPr id="25" name="Text 23"/>
          <p:cNvSpPr/>
          <p:nvPr/>
        </p:nvSpPr>
        <p:spPr>
          <a:xfrm>
            <a:off x="4224528" y="5079492"/>
            <a:ext cx="3063240" cy="982980"/>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Auto-computed rankings, tie-breaker handling &amp; instant podium reveals — zero grading disputes.</a:t>
            </a:r>
            <a:endParaRPr lang="en-US" sz="1250" dirty="0"/>
          </a:p>
        </p:txBody>
      </p:sp>
      <p:sp>
        <p:nvSpPr>
          <p:cNvPr id="26" name="Shape 24"/>
          <p:cNvSpPr/>
          <p:nvPr/>
        </p:nvSpPr>
        <p:spPr>
          <a:xfrm>
            <a:off x="7680960" y="2514600"/>
            <a:ext cx="3977640" cy="3794760"/>
          </a:xfrm>
          <a:prstGeom prst="roundRect">
            <a:avLst>
              <a:gd name="adj" fmla="val 2169"/>
            </a:avLst>
          </a:prstGeom>
          <a:solidFill>
            <a:srgbClr val="0C0C10"/>
          </a:solidFill>
          <a:ln w="12700">
            <a:solidFill>
              <a:srgbClr val="333333"/>
            </a:solidFill>
            <a:prstDash val="solid"/>
          </a:ln>
        </p:spPr>
      </p:sp>
      <p:sp>
        <p:nvSpPr>
          <p:cNvPr id="27" name="Shape 25"/>
          <p:cNvSpPr/>
          <p:nvPr/>
        </p:nvSpPr>
        <p:spPr>
          <a:xfrm>
            <a:off x="7735824" y="2569464"/>
            <a:ext cx="3867912" cy="310896"/>
          </a:xfrm>
          <a:prstGeom prst="rect">
            <a:avLst/>
          </a:prstGeom>
          <a:solidFill>
            <a:srgbClr val="14141A"/>
          </a:solidFill>
          <a:ln/>
        </p:spPr>
      </p:sp>
      <p:sp>
        <p:nvSpPr>
          <p:cNvPr id="28" name="Shape 26"/>
          <p:cNvSpPr/>
          <p:nvPr/>
        </p:nvSpPr>
        <p:spPr>
          <a:xfrm>
            <a:off x="7808976" y="2656332"/>
            <a:ext cx="109728" cy="109728"/>
          </a:xfrm>
          <a:prstGeom prst="ellipse">
            <a:avLst/>
          </a:prstGeom>
          <a:solidFill>
            <a:srgbClr val="7F1D1D"/>
          </a:solidFill>
          <a:ln/>
        </p:spPr>
      </p:sp>
      <p:sp>
        <p:nvSpPr>
          <p:cNvPr id="29" name="Shape 27"/>
          <p:cNvSpPr/>
          <p:nvPr/>
        </p:nvSpPr>
        <p:spPr>
          <a:xfrm>
            <a:off x="7991856" y="2656332"/>
            <a:ext cx="109728" cy="109728"/>
          </a:xfrm>
          <a:prstGeom prst="ellipse">
            <a:avLst/>
          </a:prstGeom>
          <a:solidFill>
            <a:srgbClr val="B45309"/>
          </a:solidFill>
          <a:ln/>
        </p:spPr>
      </p:sp>
      <p:sp>
        <p:nvSpPr>
          <p:cNvPr id="30" name="Shape 28"/>
          <p:cNvSpPr/>
          <p:nvPr/>
        </p:nvSpPr>
        <p:spPr>
          <a:xfrm>
            <a:off x="8174736" y="2656332"/>
            <a:ext cx="109728" cy="109728"/>
          </a:xfrm>
          <a:prstGeom prst="ellipse">
            <a:avLst/>
          </a:prstGeom>
          <a:solidFill>
            <a:srgbClr val="166534"/>
          </a:solidFill>
          <a:ln/>
        </p:spPr>
      </p:sp>
      <p:sp>
        <p:nvSpPr>
          <p:cNvPr id="31" name="Shape 29"/>
          <p:cNvSpPr/>
          <p:nvPr/>
        </p:nvSpPr>
        <p:spPr>
          <a:xfrm>
            <a:off x="8339328" y="2633472"/>
            <a:ext cx="3063240" cy="182880"/>
          </a:xfrm>
          <a:prstGeom prst="roundRect">
            <a:avLst>
              <a:gd name="adj" fmla="val 50000"/>
            </a:avLst>
          </a:prstGeom>
          <a:solidFill>
            <a:srgbClr val="0A0A0E"/>
          </a:solidFill>
          <a:ln w="6350">
            <a:solidFill>
              <a:srgbClr val="26262D"/>
            </a:solidFill>
            <a:prstDash val="solid"/>
          </a:ln>
        </p:spPr>
      </p:sp>
      <p:sp>
        <p:nvSpPr>
          <p:cNvPr id="32" name="Text 30"/>
          <p:cNvSpPr/>
          <p:nvPr/>
        </p:nvSpPr>
        <p:spPr>
          <a:xfrm>
            <a:off x="8394192" y="2633472"/>
            <a:ext cx="2971800" cy="182880"/>
          </a:xfrm>
          <a:prstGeom prst="rect">
            <a:avLst/>
          </a:prstGeom>
          <a:noFill/>
          <a:ln/>
        </p:spPr>
        <p:txBody>
          <a:bodyPr wrap="square" rtlCol="0" anchor="ctr"/>
          <a:lstStyle/>
          <a:p>
            <a:pPr algn="ctr" indent="0" marL="0">
              <a:buNone/>
            </a:pPr>
            <a:r>
              <a:rPr lang="en-US" sz="800" dirty="0">
                <a:solidFill>
                  <a:srgbClr val="71717A"/>
                </a:solidFill>
                <a:latin typeface="JetBrains Mono" pitchFamily="34" charset="0"/>
                <a:ea typeface="JetBrains Mono" pitchFamily="34" charset="-122"/>
                <a:cs typeface="JetBrains Mono" pitchFamily="34" charset="-120"/>
              </a:rPr>
              <a:t>https://nx-913.com/hackathons</a:t>
            </a:r>
            <a:endParaRPr lang="en-US" sz="800" dirty="0"/>
          </a:p>
        </p:txBody>
      </p:sp>
      <p:pic>
        <p:nvPicPr>
          <p:cNvPr id="33" name="Image 0" descr="/Users/vivek/Trend/assets/site/04-hackathon-detail.png">    </p:cNvPr>
          <p:cNvPicPr>
            <a:picLocks noChangeAspect="1"/>
          </p:cNvPicPr>
          <p:nvPr/>
        </p:nvPicPr>
        <p:blipFill>
          <a:blip r:embed="rId1"/>
          <a:stretch>
            <a:fillRect/>
          </a:stretch>
        </p:blipFill>
        <p:spPr>
          <a:xfrm>
            <a:off x="7735824" y="2935224"/>
            <a:ext cx="3867912" cy="3282696"/>
          </a:xfrm>
          <a:prstGeom prst="rect">
            <a:avLst/>
          </a:prstGeom>
        </p:spPr>
      </p:pic>
      <p:sp>
        <p:nvSpPr>
          <p:cNvPr id="34" name="Shape 31"/>
          <p:cNvSpPr/>
          <p:nvPr/>
        </p:nvSpPr>
        <p:spPr>
          <a:xfrm>
            <a:off x="8206740" y="5989320"/>
            <a:ext cx="2926080" cy="457200"/>
          </a:xfrm>
          <a:prstGeom prst="ellipse">
            <a:avLst/>
          </a:prstGeom>
          <a:solidFill>
            <a:srgbClr val="DC2626">
              <a:alpha val="14000"/>
            </a:srgbClr>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411480" y="347472"/>
            <a:ext cx="384048" cy="384048"/>
          </a:xfrm>
          <a:prstGeom prst="roundRect">
            <a:avLst>
              <a:gd name="adj" fmla="val 19048"/>
            </a:avLst>
          </a:prstGeom>
          <a:solidFill>
            <a:srgbClr val="DC2626"/>
          </a:solidFill>
          <a:ln/>
        </p:spPr>
      </p:sp>
      <p:sp>
        <p:nvSpPr>
          <p:cNvPr id="3" name="Text 1"/>
          <p:cNvSpPr/>
          <p:nvPr/>
        </p:nvSpPr>
        <p:spPr>
          <a:xfrm>
            <a:off x="411480" y="347472"/>
            <a:ext cx="384048" cy="384048"/>
          </a:xfrm>
          <a:prstGeom prst="rect">
            <a:avLst/>
          </a:prstGeom>
          <a:noFill/>
          <a:ln/>
        </p:spPr>
        <p:txBody>
          <a:bodyPr wrap="square" rtlCol="0" anchor="ctr"/>
          <a:lstStyle/>
          <a:p>
            <a:pPr algn="ctr" indent="0" marL="0">
              <a:buNone/>
            </a:pPr>
            <a:r>
              <a:rPr lang="en-US" sz="1600" b="1" dirty="0">
                <a:solidFill>
                  <a:srgbClr val="FFFFFF"/>
                </a:solidFill>
                <a:latin typeface="Chakra Petch" pitchFamily="34" charset="0"/>
                <a:ea typeface="Chakra Petch" pitchFamily="34" charset="-122"/>
                <a:cs typeface="Chakra Petch" pitchFamily="34" charset="-120"/>
              </a:rPr>
              <a:t>N</a:t>
            </a:r>
            <a:endParaRPr lang="en-US" sz="1600" dirty="0"/>
          </a:p>
        </p:txBody>
      </p:sp>
      <p:sp>
        <p:nvSpPr>
          <p:cNvPr id="4" name="Text 2"/>
          <p:cNvSpPr/>
          <p:nvPr/>
        </p:nvSpPr>
        <p:spPr>
          <a:xfrm>
            <a:off x="886968" y="365760"/>
            <a:ext cx="2926080" cy="347472"/>
          </a:xfrm>
          <a:prstGeom prst="rect">
            <a:avLst/>
          </a:prstGeom>
          <a:noFill/>
          <a:ln/>
        </p:spPr>
        <p:txBody>
          <a:bodyPr wrap="square" rtlCol="0" anchor="ctr"/>
          <a:lstStyle/>
          <a:p>
            <a:pPr indent="0" marL="0">
              <a:buNone/>
            </a:pPr>
            <a:r>
              <a:rPr lang="en-US" b="1" dirty="0">
                <a:solidFill>
                  <a:srgbClr val="F5F5F5"/>
                </a:solidFill>
                <a:latin typeface="Chakra Petch" pitchFamily="34" charset="0"/>
                <a:ea typeface="Chakra Petch" pitchFamily="34" charset="-122"/>
                <a:cs typeface="Chakra Petch" pitchFamily="34" charset="-120"/>
              </a:rPr>
              <a:t>NX-913  </a:t>
            </a:r>
            <a:pPr indent="0" marL="0">
              <a:buNone/>
            </a:pPr>
            <a:r>
              <a:rPr lang="en-US" sz="1100" dirty="0">
                <a:solidFill>
                  <a:srgbClr val="71717A"/>
                </a:solidFill>
                <a:latin typeface="Rajdhani" pitchFamily="34" charset="0"/>
                <a:ea typeface="Rajdhani" pitchFamily="34" charset="-122"/>
                <a:cs typeface="Rajdhani" pitchFamily="34" charset="-120"/>
              </a:rPr>
              <a:t>CAMPUS OS</a:t>
            </a:r>
            <a:endParaRPr lang="en-US" sz="1100" dirty="0"/>
          </a:p>
        </p:txBody>
      </p:sp>
      <p:sp>
        <p:nvSpPr>
          <p:cNvPr id="5" name="Text 3"/>
          <p:cNvSpPr/>
          <p:nvPr/>
        </p:nvSpPr>
        <p:spPr>
          <a:xfrm>
            <a:off x="9814255" y="402336"/>
            <a:ext cx="1965960" cy="274320"/>
          </a:xfrm>
          <a:prstGeom prst="rect">
            <a:avLst/>
          </a:prstGeom>
          <a:noFill/>
          <a:ln/>
        </p:spPr>
        <p:txBody>
          <a:bodyPr wrap="square" rtlCol="0" anchor="ctr"/>
          <a:lstStyle/>
          <a:p>
            <a:pPr algn="r" indent="0" marL="0">
              <a:buNone/>
            </a:pPr>
            <a:r>
              <a:rPr lang="en-US" sz="900" spc="200" kern="0" dirty="0">
                <a:solidFill>
                  <a:srgbClr val="71717A"/>
                </a:solidFill>
                <a:latin typeface="JetBrains Mono" pitchFamily="34" charset="0"/>
                <a:ea typeface="JetBrains Mono" pitchFamily="34" charset="-122"/>
                <a:cs typeface="JetBrains Mono" pitchFamily="34" charset="-120"/>
              </a:rPr>
              <a:t>PITCH DECK</a:t>
            </a:r>
            <a:endParaRPr lang="en-US" sz="900" dirty="0"/>
          </a:p>
        </p:txBody>
      </p:sp>
      <p:sp>
        <p:nvSpPr>
          <p:cNvPr id="6" name="Shape 4"/>
          <p:cNvSpPr/>
          <p:nvPr/>
        </p:nvSpPr>
        <p:spPr>
          <a:xfrm>
            <a:off x="411480" y="960120"/>
            <a:ext cx="1143000" cy="347472"/>
          </a:xfrm>
          <a:prstGeom prst="roundRect">
            <a:avLst>
              <a:gd name="adj" fmla="val 50000"/>
            </a:avLst>
          </a:prstGeom>
          <a:solidFill>
            <a:srgbClr val="1A0D0D"/>
          </a:solidFill>
          <a:ln w="12700">
            <a:solidFill>
              <a:srgbClr val="7F1D1D"/>
            </a:solidFill>
            <a:prstDash val="solid"/>
          </a:ln>
        </p:spPr>
      </p:sp>
      <p:sp>
        <p:nvSpPr>
          <p:cNvPr id="7" name="Text 5"/>
          <p:cNvSpPr/>
          <p:nvPr/>
        </p:nvSpPr>
        <p:spPr>
          <a:xfrm>
            <a:off x="411480" y="960120"/>
            <a:ext cx="1143000" cy="347472"/>
          </a:xfrm>
          <a:prstGeom prst="rect">
            <a:avLst/>
          </a:prstGeom>
          <a:noFill/>
          <a:ln/>
        </p:spPr>
        <p:txBody>
          <a:bodyPr wrap="square" rtlCol="0" anchor="ctr"/>
          <a:lstStyle/>
          <a:p>
            <a:pPr algn="ctr" indent="0" marL="0">
              <a:buNone/>
            </a:pPr>
            <a:r>
              <a:rPr lang="en-US" sz="900" spc="100" kern="0" dirty="0">
                <a:solidFill>
                  <a:srgbClr val="F87171"/>
                </a:solidFill>
                <a:latin typeface="JetBrains Mono" pitchFamily="34" charset="0"/>
                <a:ea typeface="JetBrains Mono" pitchFamily="34" charset="-122"/>
                <a:cs typeface="JetBrains Mono" pitchFamily="34" charset="-120"/>
              </a:rPr>
              <a:t>06 THE ECOSYSTEM</a:t>
            </a:r>
            <a:endParaRPr lang="en-US" sz="900" dirty="0"/>
          </a:p>
        </p:txBody>
      </p:sp>
      <p:sp>
        <p:nvSpPr>
          <p:cNvPr id="8" name="Text 6"/>
          <p:cNvSpPr/>
          <p:nvPr/>
        </p:nvSpPr>
        <p:spPr>
          <a:xfrm>
            <a:off x="384048" y="1371600"/>
            <a:ext cx="11368735" cy="822960"/>
          </a:xfrm>
          <a:prstGeom prst="rect">
            <a:avLst/>
          </a:prstGeom>
          <a:noFill/>
          <a:ln/>
        </p:spPr>
        <p:txBody>
          <a:bodyPr wrap="square" rtlCol="0" anchor="ctr"/>
          <a:lstStyle/>
          <a:p>
            <a:pPr indent="0" marL="0">
              <a:buNone/>
            </a:pPr>
            <a:r>
              <a:rPr lang="en-US" sz="3400" b="1" dirty="0">
                <a:solidFill>
                  <a:srgbClr val="F5F5F5"/>
                </a:solidFill>
                <a:latin typeface="Chakra Petch" pitchFamily="34" charset="0"/>
                <a:ea typeface="Chakra Petch" pitchFamily="34" charset="-122"/>
                <a:cs typeface="Chakra Petch" pitchFamily="34" charset="-120"/>
              </a:rPr>
              <a:t>Smart Gate Check-in &amp; Offline PWA Protocol</a:t>
            </a:r>
            <a:endParaRPr lang="en-US" sz="3400" dirty="0"/>
          </a:p>
        </p:txBody>
      </p:sp>
      <p:sp>
        <p:nvSpPr>
          <p:cNvPr id="9" name="Text 7"/>
          <p:cNvSpPr/>
          <p:nvPr/>
        </p:nvSpPr>
        <p:spPr>
          <a:xfrm>
            <a:off x="411480" y="2121408"/>
            <a:ext cx="10545775" cy="411480"/>
          </a:xfrm>
          <a:prstGeom prst="rect">
            <a:avLst/>
          </a:prstGeom>
          <a:noFill/>
          <a:ln/>
        </p:spPr>
        <p:txBody>
          <a:bodyPr wrap="square" rtlCol="0" anchor="t"/>
          <a:lstStyle/>
          <a:p>
            <a:pPr indent="0" marL="0">
              <a:buNone/>
            </a:pPr>
            <a:r>
              <a:rPr lang="en-US" sz="1500" dirty="0">
                <a:solidFill>
                  <a:srgbClr val="9CA3AF"/>
                </a:solidFill>
                <a:latin typeface="Rajdhani" pitchFamily="34" charset="0"/>
                <a:ea typeface="Rajdhani" pitchFamily="34" charset="-122"/>
                <a:cs typeface="Rajdhani" pitchFamily="34" charset="-120"/>
              </a:rPr>
              <a:t>Festival-scale entry that never stops — even when the Wi-Fi dies.</a:t>
            </a:r>
            <a:endParaRPr lang="en-US" sz="1500" dirty="0"/>
          </a:p>
        </p:txBody>
      </p:sp>
      <p:sp>
        <p:nvSpPr>
          <p:cNvPr id="10" name="Shape 8"/>
          <p:cNvSpPr/>
          <p:nvPr/>
        </p:nvSpPr>
        <p:spPr>
          <a:xfrm>
            <a:off x="411480" y="2697480"/>
            <a:ext cx="3655466" cy="1636776"/>
          </a:xfrm>
          <a:prstGeom prst="roundRect">
            <a:avLst>
              <a:gd name="adj" fmla="val 5587"/>
            </a:avLst>
          </a:prstGeom>
          <a:solidFill>
            <a:srgbClr val="0F0F14"/>
          </a:solidFill>
          <a:ln w="12700">
            <a:solidFill>
              <a:srgbClr val="26262D"/>
            </a:solidFill>
            <a:prstDash val="solid"/>
          </a:ln>
        </p:spPr>
      </p:sp>
      <p:sp>
        <p:nvSpPr>
          <p:cNvPr id="11" name="Shape 9"/>
          <p:cNvSpPr/>
          <p:nvPr/>
        </p:nvSpPr>
        <p:spPr>
          <a:xfrm>
            <a:off x="411480" y="2807208"/>
            <a:ext cx="45720" cy="1417320"/>
          </a:xfrm>
          <a:prstGeom prst="rect">
            <a:avLst/>
          </a:prstGeom>
          <a:solidFill>
            <a:srgbClr val="DC2626"/>
          </a:solidFill>
          <a:ln/>
        </p:spPr>
      </p:sp>
      <p:sp>
        <p:nvSpPr>
          <p:cNvPr id="12" name="Text 10"/>
          <p:cNvSpPr/>
          <p:nvPr/>
        </p:nvSpPr>
        <p:spPr>
          <a:xfrm>
            <a:off x="612648" y="2788920"/>
            <a:ext cx="3289706"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In-Browser QR Scanner</a:t>
            </a:r>
            <a:endParaRPr lang="en-US" sz="1450" dirty="0"/>
          </a:p>
        </p:txBody>
      </p:sp>
      <p:sp>
        <p:nvSpPr>
          <p:cNvPr id="13" name="Text 11"/>
          <p:cNvSpPr/>
          <p:nvPr/>
        </p:nvSpPr>
        <p:spPr>
          <a:xfrm>
            <a:off x="612648" y="3227832"/>
            <a:ext cx="3289706" cy="996696"/>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Works on any smartphone camera or webcam with sub-second verification — no special hardware.</a:t>
            </a:r>
            <a:endParaRPr lang="en-US" sz="1250" dirty="0"/>
          </a:p>
        </p:txBody>
      </p:sp>
      <p:sp>
        <p:nvSpPr>
          <p:cNvPr id="14" name="Shape 12"/>
          <p:cNvSpPr/>
          <p:nvPr/>
        </p:nvSpPr>
        <p:spPr>
          <a:xfrm>
            <a:off x="4268114" y="2697480"/>
            <a:ext cx="3655466" cy="1636776"/>
          </a:xfrm>
          <a:prstGeom prst="roundRect">
            <a:avLst>
              <a:gd name="adj" fmla="val 5587"/>
            </a:avLst>
          </a:prstGeom>
          <a:solidFill>
            <a:srgbClr val="0F0F14"/>
          </a:solidFill>
          <a:ln w="12700">
            <a:solidFill>
              <a:srgbClr val="26262D"/>
            </a:solidFill>
            <a:prstDash val="solid"/>
          </a:ln>
        </p:spPr>
      </p:sp>
      <p:sp>
        <p:nvSpPr>
          <p:cNvPr id="15" name="Shape 13"/>
          <p:cNvSpPr/>
          <p:nvPr/>
        </p:nvSpPr>
        <p:spPr>
          <a:xfrm>
            <a:off x="4268114" y="2807208"/>
            <a:ext cx="45720" cy="1417320"/>
          </a:xfrm>
          <a:prstGeom prst="rect">
            <a:avLst/>
          </a:prstGeom>
          <a:solidFill>
            <a:srgbClr val="DC2626"/>
          </a:solidFill>
          <a:ln/>
        </p:spPr>
      </p:sp>
      <p:sp>
        <p:nvSpPr>
          <p:cNvPr id="16" name="Text 14"/>
          <p:cNvSpPr/>
          <p:nvPr/>
        </p:nvSpPr>
        <p:spPr>
          <a:xfrm>
            <a:off x="4469282" y="2788920"/>
            <a:ext cx="3289706"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Multi-Session Attendance</a:t>
            </a:r>
            <a:endParaRPr lang="en-US" sz="1450" dirty="0"/>
          </a:p>
        </p:txBody>
      </p:sp>
      <p:sp>
        <p:nvSpPr>
          <p:cNvPr id="17" name="Text 15"/>
          <p:cNvSpPr/>
          <p:nvPr/>
        </p:nvSpPr>
        <p:spPr>
          <a:xfrm>
            <a:off x="4469282" y="3227832"/>
            <a:ext cx="3289706" cy="996696"/>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Track checkpoints across Day 1 Inauguration, Lunch, Day 2 Hackathon &amp; Valedictory.</a:t>
            </a:r>
            <a:endParaRPr lang="en-US" sz="1250" dirty="0"/>
          </a:p>
        </p:txBody>
      </p:sp>
      <p:sp>
        <p:nvSpPr>
          <p:cNvPr id="18" name="Shape 16"/>
          <p:cNvSpPr/>
          <p:nvPr/>
        </p:nvSpPr>
        <p:spPr>
          <a:xfrm>
            <a:off x="8124749" y="2697480"/>
            <a:ext cx="3655466" cy="1636776"/>
          </a:xfrm>
          <a:prstGeom prst="roundRect">
            <a:avLst>
              <a:gd name="adj" fmla="val 5587"/>
            </a:avLst>
          </a:prstGeom>
          <a:solidFill>
            <a:srgbClr val="0F0F14"/>
          </a:solidFill>
          <a:ln w="12700">
            <a:solidFill>
              <a:srgbClr val="26262D"/>
            </a:solidFill>
            <a:prstDash val="solid"/>
          </a:ln>
        </p:spPr>
      </p:sp>
      <p:sp>
        <p:nvSpPr>
          <p:cNvPr id="19" name="Shape 17"/>
          <p:cNvSpPr/>
          <p:nvPr/>
        </p:nvSpPr>
        <p:spPr>
          <a:xfrm>
            <a:off x="8124749" y="2807208"/>
            <a:ext cx="45720" cy="1417320"/>
          </a:xfrm>
          <a:prstGeom prst="rect">
            <a:avLst/>
          </a:prstGeom>
          <a:solidFill>
            <a:srgbClr val="DC2626"/>
          </a:solidFill>
          <a:ln/>
        </p:spPr>
      </p:sp>
      <p:sp>
        <p:nvSpPr>
          <p:cNvPr id="20" name="Text 18"/>
          <p:cNvSpPr/>
          <p:nvPr/>
        </p:nvSpPr>
        <p:spPr>
          <a:xfrm>
            <a:off x="8325917" y="2788920"/>
            <a:ext cx="3289706"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PWA &amp; Offline Fallback Protocol</a:t>
            </a:r>
            <a:endParaRPr lang="en-US" sz="1450" dirty="0"/>
          </a:p>
        </p:txBody>
      </p:sp>
      <p:sp>
        <p:nvSpPr>
          <p:cNvPr id="21" name="Text 19"/>
          <p:cNvSpPr/>
          <p:nvPr/>
        </p:nvSpPr>
        <p:spPr>
          <a:xfrm>
            <a:off x="8325917" y="3227832"/>
            <a:ext cx="3289706" cy="996696"/>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Campus Wi-Fi fails? Scanner caches the guest list in encrypted local storage (IndexedDB), validates offline, auto-syncs on reconnect.</a:t>
            </a:r>
            <a:endParaRPr lang="en-US" sz="1250" dirty="0"/>
          </a:p>
        </p:txBody>
      </p:sp>
      <p:sp>
        <p:nvSpPr>
          <p:cNvPr id="22" name="Shape 20"/>
          <p:cNvSpPr/>
          <p:nvPr/>
        </p:nvSpPr>
        <p:spPr>
          <a:xfrm>
            <a:off x="411480" y="4535424"/>
            <a:ext cx="3655466" cy="1636776"/>
          </a:xfrm>
          <a:prstGeom prst="roundRect">
            <a:avLst>
              <a:gd name="adj" fmla="val 5587"/>
            </a:avLst>
          </a:prstGeom>
          <a:solidFill>
            <a:srgbClr val="0F0F14"/>
          </a:solidFill>
          <a:ln w="12700">
            <a:solidFill>
              <a:srgbClr val="26262D"/>
            </a:solidFill>
            <a:prstDash val="solid"/>
          </a:ln>
        </p:spPr>
      </p:sp>
      <p:sp>
        <p:nvSpPr>
          <p:cNvPr id="23" name="Shape 21"/>
          <p:cNvSpPr/>
          <p:nvPr/>
        </p:nvSpPr>
        <p:spPr>
          <a:xfrm>
            <a:off x="411480" y="4645152"/>
            <a:ext cx="45720" cy="1417320"/>
          </a:xfrm>
          <a:prstGeom prst="rect">
            <a:avLst/>
          </a:prstGeom>
          <a:solidFill>
            <a:srgbClr val="DC2626"/>
          </a:solidFill>
          <a:ln/>
        </p:spPr>
      </p:sp>
      <p:sp>
        <p:nvSpPr>
          <p:cNvPr id="24" name="Text 22"/>
          <p:cNvSpPr/>
          <p:nvPr/>
        </p:nvSpPr>
        <p:spPr>
          <a:xfrm>
            <a:off x="612648" y="4626864"/>
            <a:ext cx="3289706"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Zero Gate Delays</a:t>
            </a:r>
            <a:endParaRPr lang="en-US" sz="1450" dirty="0"/>
          </a:p>
        </p:txBody>
      </p:sp>
      <p:sp>
        <p:nvSpPr>
          <p:cNvPr id="25" name="Text 23"/>
          <p:cNvSpPr/>
          <p:nvPr/>
        </p:nvSpPr>
        <p:spPr>
          <a:xfrm>
            <a:off x="612648" y="5065776"/>
            <a:ext cx="3289706" cy="996696"/>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Sub-second verification, zero duplicate check-ins — gates never stop moving.</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411480" y="347472"/>
            <a:ext cx="384048" cy="384048"/>
          </a:xfrm>
          <a:prstGeom prst="roundRect">
            <a:avLst>
              <a:gd name="adj" fmla="val 19048"/>
            </a:avLst>
          </a:prstGeom>
          <a:solidFill>
            <a:srgbClr val="DC2626"/>
          </a:solidFill>
          <a:ln/>
        </p:spPr>
      </p:sp>
      <p:sp>
        <p:nvSpPr>
          <p:cNvPr id="3" name="Text 1"/>
          <p:cNvSpPr/>
          <p:nvPr/>
        </p:nvSpPr>
        <p:spPr>
          <a:xfrm>
            <a:off x="411480" y="347472"/>
            <a:ext cx="384048" cy="384048"/>
          </a:xfrm>
          <a:prstGeom prst="rect">
            <a:avLst/>
          </a:prstGeom>
          <a:noFill/>
          <a:ln/>
        </p:spPr>
        <p:txBody>
          <a:bodyPr wrap="square" rtlCol="0" anchor="ctr"/>
          <a:lstStyle/>
          <a:p>
            <a:pPr algn="ctr" indent="0" marL="0">
              <a:buNone/>
            </a:pPr>
            <a:r>
              <a:rPr lang="en-US" sz="1600" b="1" dirty="0">
                <a:solidFill>
                  <a:srgbClr val="FFFFFF"/>
                </a:solidFill>
                <a:latin typeface="Chakra Petch" pitchFamily="34" charset="0"/>
                <a:ea typeface="Chakra Petch" pitchFamily="34" charset="-122"/>
                <a:cs typeface="Chakra Petch" pitchFamily="34" charset="-120"/>
              </a:rPr>
              <a:t>N</a:t>
            </a:r>
            <a:endParaRPr lang="en-US" sz="1600" dirty="0"/>
          </a:p>
        </p:txBody>
      </p:sp>
      <p:sp>
        <p:nvSpPr>
          <p:cNvPr id="4" name="Text 2"/>
          <p:cNvSpPr/>
          <p:nvPr/>
        </p:nvSpPr>
        <p:spPr>
          <a:xfrm>
            <a:off x="886968" y="365760"/>
            <a:ext cx="2926080" cy="347472"/>
          </a:xfrm>
          <a:prstGeom prst="rect">
            <a:avLst/>
          </a:prstGeom>
          <a:noFill/>
          <a:ln/>
        </p:spPr>
        <p:txBody>
          <a:bodyPr wrap="square" rtlCol="0" anchor="ctr"/>
          <a:lstStyle/>
          <a:p>
            <a:pPr indent="0" marL="0">
              <a:buNone/>
            </a:pPr>
            <a:r>
              <a:rPr lang="en-US" b="1" dirty="0">
                <a:solidFill>
                  <a:srgbClr val="F5F5F5"/>
                </a:solidFill>
                <a:latin typeface="Chakra Petch" pitchFamily="34" charset="0"/>
                <a:ea typeface="Chakra Petch" pitchFamily="34" charset="-122"/>
                <a:cs typeface="Chakra Petch" pitchFamily="34" charset="-120"/>
              </a:rPr>
              <a:t>NX-913  </a:t>
            </a:r>
            <a:pPr indent="0" marL="0">
              <a:buNone/>
            </a:pPr>
            <a:r>
              <a:rPr lang="en-US" sz="1100" dirty="0">
                <a:solidFill>
                  <a:srgbClr val="71717A"/>
                </a:solidFill>
                <a:latin typeface="Rajdhani" pitchFamily="34" charset="0"/>
                <a:ea typeface="Rajdhani" pitchFamily="34" charset="-122"/>
                <a:cs typeface="Rajdhani" pitchFamily="34" charset="-120"/>
              </a:rPr>
              <a:t>CAMPUS OS</a:t>
            </a:r>
            <a:endParaRPr lang="en-US" sz="1100" dirty="0"/>
          </a:p>
        </p:txBody>
      </p:sp>
      <p:sp>
        <p:nvSpPr>
          <p:cNvPr id="5" name="Text 3"/>
          <p:cNvSpPr/>
          <p:nvPr/>
        </p:nvSpPr>
        <p:spPr>
          <a:xfrm>
            <a:off x="9814255" y="402336"/>
            <a:ext cx="1965960" cy="274320"/>
          </a:xfrm>
          <a:prstGeom prst="rect">
            <a:avLst/>
          </a:prstGeom>
          <a:noFill/>
          <a:ln/>
        </p:spPr>
        <p:txBody>
          <a:bodyPr wrap="square" rtlCol="0" anchor="ctr"/>
          <a:lstStyle/>
          <a:p>
            <a:pPr algn="r" indent="0" marL="0">
              <a:buNone/>
            </a:pPr>
            <a:r>
              <a:rPr lang="en-US" sz="900" spc="200" kern="0" dirty="0">
                <a:solidFill>
                  <a:srgbClr val="71717A"/>
                </a:solidFill>
                <a:latin typeface="JetBrains Mono" pitchFamily="34" charset="0"/>
                <a:ea typeface="JetBrains Mono" pitchFamily="34" charset="-122"/>
                <a:cs typeface="JetBrains Mono" pitchFamily="34" charset="-120"/>
              </a:rPr>
              <a:t>PITCH DECK</a:t>
            </a:r>
            <a:endParaRPr lang="en-US" sz="900" dirty="0"/>
          </a:p>
        </p:txBody>
      </p:sp>
      <p:sp>
        <p:nvSpPr>
          <p:cNvPr id="6" name="Shape 4"/>
          <p:cNvSpPr/>
          <p:nvPr/>
        </p:nvSpPr>
        <p:spPr>
          <a:xfrm>
            <a:off x="411480" y="960120"/>
            <a:ext cx="1143000" cy="347472"/>
          </a:xfrm>
          <a:prstGeom prst="roundRect">
            <a:avLst>
              <a:gd name="adj" fmla="val 50000"/>
            </a:avLst>
          </a:prstGeom>
          <a:solidFill>
            <a:srgbClr val="1A0D0D"/>
          </a:solidFill>
          <a:ln w="12700">
            <a:solidFill>
              <a:srgbClr val="7F1D1D"/>
            </a:solidFill>
            <a:prstDash val="solid"/>
          </a:ln>
        </p:spPr>
      </p:sp>
      <p:sp>
        <p:nvSpPr>
          <p:cNvPr id="7" name="Text 5"/>
          <p:cNvSpPr/>
          <p:nvPr/>
        </p:nvSpPr>
        <p:spPr>
          <a:xfrm>
            <a:off x="411480" y="960120"/>
            <a:ext cx="1143000" cy="347472"/>
          </a:xfrm>
          <a:prstGeom prst="rect">
            <a:avLst/>
          </a:prstGeom>
          <a:noFill/>
          <a:ln/>
        </p:spPr>
        <p:txBody>
          <a:bodyPr wrap="square" rtlCol="0" anchor="ctr"/>
          <a:lstStyle/>
          <a:p>
            <a:pPr algn="ctr" indent="0" marL="0">
              <a:buNone/>
            </a:pPr>
            <a:r>
              <a:rPr lang="en-US" sz="900" spc="100" kern="0" dirty="0">
                <a:solidFill>
                  <a:srgbClr val="F87171"/>
                </a:solidFill>
                <a:latin typeface="JetBrains Mono" pitchFamily="34" charset="0"/>
                <a:ea typeface="JetBrains Mono" pitchFamily="34" charset="-122"/>
                <a:cs typeface="JetBrains Mono" pitchFamily="34" charset="-120"/>
              </a:rPr>
              <a:t>07 THE ECOSYSTEM</a:t>
            </a:r>
            <a:endParaRPr lang="en-US" sz="900" dirty="0"/>
          </a:p>
        </p:txBody>
      </p:sp>
      <p:sp>
        <p:nvSpPr>
          <p:cNvPr id="8" name="Text 6"/>
          <p:cNvSpPr/>
          <p:nvPr/>
        </p:nvSpPr>
        <p:spPr>
          <a:xfrm>
            <a:off x="384048" y="1371600"/>
            <a:ext cx="11368735" cy="822960"/>
          </a:xfrm>
          <a:prstGeom prst="rect">
            <a:avLst/>
          </a:prstGeom>
          <a:noFill/>
          <a:ln/>
        </p:spPr>
        <p:txBody>
          <a:bodyPr wrap="square" rtlCol="0" anchor="ctr"/>
          <a:lstStyle/>
          <a:p>
            <a:pPr indent="0" marL="0">
              <a:buNone/>
            </a:pPr>
            <a:r>
              <a:rPr lang="en-US" sz="3400" b="1" dirty="0">
                <a:solidFill>
                  <a:srgbClr val="F5F5F5"/>
                </a:solidFill>
                <a:latin typeface="Chakra Petch" pitchFamily="34" charset="0"/>
                <a:ea typeface="Chakra Petch" pitchFamily="34" charset="-122"/>
                <a:cs typeface="Chakra Petch" pitchFamily="34" charset="-120"/>
              </a:rPr>
              <a:t>Certificate Studio &amp; Public Verification</a:t>
            </a:r>
            <a:endParaRPr lang="en-US" sz="3400" dirty="0"/>
          </a:p>
        </p:txBody>
      </p:sp>
      <p:sp>
        <p:nvSpPr>
          <p:cNvPr id="9" name="Text 7"/>
          <p:cNvSpPr/>
          <p:nvPr/>
        </p:nvSpPr>
        <p:spPr>
          <a:xfrm>
            <a:off x="411480" y="2121408"/>
            <a:ext cx="10545775" cy="411480"/>
          </a:xfrm>
          <a:prstGeom prst="rect">
            <a:avLst/>
          </a:prstGeom>
          <a:noFill/>
          <a:ln/>
        </p:spPr>
        <p:txBody>
          <a:bodyPr wrap="square" rtlCol="0" anchor="t"/>
          <a:lstStyle/>
          <a:p>
            <a:pPr indent="0" marL="0">
              <a:buNone/>
            </a:pPr>
            <a:r>
              <a:rPr lang="en-US" sz="1500" dirty="0">
                <a:solidFill>
                  <a:srgbClr val="9CA3AF"/>
                </a:solidFill>
                <a:latin typeface="Rajdhani" pitchFamily="34" charset="0"/>
                <a:ea typeface="Rajdhani" pitchFamily="34" charset="-122"/>
                <a:cs typeface="Rajdhani" pitchFamily="34" charset="-120"/>
              </a:rPr>
              <a:t>Design once. Generate hundreds. Verify anywhere — zero forgery.</a:t>
            </a:r>
            <a:endParaRPr lang="en-US" sz="1500" dirty="0"/>
          </a:p>
        </p:txBody>
      </p:sp>
      <p:sp>
        <p:nvSpPr>
          <p:cNvPr id="10" name="Shape 8"/>
          <p:cNvSpPr/>
          <p:nvPr/>
        </p:nvSpPr>
        <p:spPr>
          <a:xfrm>
            <a:off x="411480" y="2697480"/>
            <a:ext cx="3655466" cy="1636776"/>
          </a:xfrm>
          <a:prstGeom prst="roundRect">
            <a:avLst>
              <a:gd name="adj" fmla="val 5587"/>
            </a:avLst>
          </a:prstGeom>
          <a:solidFill>
            <a:srgbClr val="0F0F14"/>
          </a:solidFill>
          <a:ln w="12700">
            <a:solidFill>
              <a:srgbClr val="26262D"/>
            </a:solidFill>
            <a:prstDash val="solid"/>
          </a:ln>
        </p:spPr>
      </p:sp>
      <p:sp>
        <p:nvSpPr>
          <p:cNvPr id="11" name="Shape 9"/>
          <p:cNvSpPr/>
          <p:nvPr/>
        </p:nvSpPr>
        <p:spPr>
          <a:xfrm>
            <a:off x="411480" y="2807208"/>
            <a:ext cx="45720" cy="1417320"/>
          </a:xfrm>
          <a:prstGeom prst="rect">
            <a:avLst/>
          </a:prstGeom>
          <a:solidFill>
            <a:srgbClr val="DC2626"/>
          </a:solidFill>
          <a:ln/>
        </p:spPr>
      </p:sp>
      <p:sp>
        <p:nvSpPr>
          <p:cNvPr id="12" name="Text 10"/>
          <p:cNvSpPr/>
          <p:nvPr/>
        </p:nvSpPr>
        <p:spPr>
          <a:xfrm>
            <a:off x="612648" y="2788920"/>
            <a:ext cx="3289706"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Visual Certificate Studio</a:t>
            </a:r>
            <a:endParaRPr lang="en-US" sz="1450" dirty="0"/>
          </a:p>
        </p:txBody>
      </p:sp>
      <p:sp>
        <p:nvSpPr>
          <p:cNvPr id="13" name="Text 11"/>
          <p:cNvSpPr/>
          <p:nvPr/>
        </p:nvSpPr>
        <p:spPr>
          <a:xfrm>
            <a:off x="612648" y="3227832"/>
            <a:ext cx="3289706" cy="996696"/>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Custom templates for Participants, Winners, Runners-Up, Mentors &amp; Volunteers with {{name}}, {{event}}, {{date}}, {{rank}} placeholders.</a:t>
            </a:r>
            <a:endParaRPr lang="en-US" sz="1250" dirty="0"/>
          </a:p>
        </p:txBody>
      </p:sp>
      <p:sp>
        <p:nvSpPr>
          <p:cNvPr id="14" name="Shape 12"/>
          <p:cNvSpPr/>
          <p:nvPr/>
        </p:nvSpPr>
        <p:spPr>
          <a:xfrm>
            <a:off x="4268114" y="2697480"/>
            <a:ext cx="3655466" cy="1636776"/>
          </a:xfrm>
          <a:prstGeom prst="roundRect">
            <a:avLst>
              <a:gd name="adj" fmla="val 5587"/>
            </a:avLst>
          </a:prstGeom>
          <a:solidFill>
            <a:srgbClr val="0F0F14"/>
          </a:solidFill>
          <a:ln w="12700">
            <a:solidFill>
              <a:srgbClr val="26262D"/>
            </a:solidFill>
            <a:prstDash val="solid"/>
          </a:ln>
        </p:spPr>
      </p:sp>
      <p:sp>
        <p:nvSpPr>
          <p:cNvPr id="15" name="Shape 13"/>
          <p:cNvSpPr/>
          <p:nvPr/>
        </p:nvSpPr>
        <p:spPr>
          <a:xfrm>
            <a:off x="4268114" y="2807208"/>
            <a:ext cx="45720" cy="1417320"/>
          </a:xfrm>
          <a:prstGeom prst="rect">
            <a:avLst/>
          </a:prstGeom>
          <a:solidFill>
            <a:srgbClr val="DC2626"/>
          </a:solidFill>
          <a:ln/>
        </p:spPr>
      </p:sp>
      <p:sp>
        <p:nvSpPr>
          <p:cNvPr id="16" name="Text 14"/>
          <p:cNvSpPr/>
          <p:nvPr/>
        </p:nvSpPr>
        <p:spPr>
          <a:xfrm>
            <a:off x="4469282" y="2788920"/>
            <a:ext cx="3289706"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Bulk Queue Dispatch</a:t>
            </a:r>
            <a:endParaRPr lang="en-US" sz="1450" dirty="0"/>
          </a:p>
        </p:txBody>
      </p:sp>
      <p:sp>
        <p:nvSpPr>
          <p:cNvPr id="17" name="Text 15"/>
          <p:cNvSpPr/>
          <p:nvPr/>
        </p:nvSpPr>
        <p:spPr>
          <a:xfrm>
            <a:off x="4469282" y="3227832"/>
            <a:ext cx="3289706" cy="996696"/>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BullMQ + Puppeteer workers generate hundreds of high-res PDF/PNG certificates in the background.</a:t>
            </a:r>
            <a:endParaRPr lang="en-US" sz="1250" dirty="0"/>
          </a:p>
        </p:txBody>
      </p:sp>
      <p:sp>
        <p:nvSpPr>
          <p:cNvPr id="18" name="Shape 16"/>
          <p:cNvSpPr/>
          <p:nvPr/>
        </p:nvSpPr>
        <p:spPr>
          <a:xfrm>
            <a:off x="8124749" y="2697480"/>
            <a:ext cx="3655466" cy="1636776"/>
          </a:xfrm>
          <a:prstGeom prst="roundRect">
            <a:avLst>
              <a:gd name="adj" fmla="val 5587"/>
            </a:avLst>
          </a:prstGeom>
          <a:solidFill>
            <a:srgbClr val="0F0F14"/>
          </a:solidFill>
          <a:ln w="12700">
            <a:solidFill>
              <a:srgbClr val="26262D"/>
            </a:solidFill>
            <a:prstDash val="solid"/>
          </a:ln>
        </p:spPr>
      </p:sp>
      <p:sp>
        <p:nvSpPr>
          <p:cNvPr id="19" name="Shape 17"/>
          <p:cNvSpPr/>
          <p:nvPr/>
        </p:nvSpPr>
        <p:spPr>
          <a:xfrm>
            <a:off x="8124749" y="2807208"/>
            <a:ext cx="45720" cy="1417320"/>
          </a:xfrm>
          <a:prstGeom prst="rect">
            <a:avLst/>
          </a:prstGeom>
          <a:solidFill>
            <a:srgbClr val="DC2626"/>
          </a:solidFill>
          <a:ln/>
        </p:spPr>
      </p:sp>
      <p:sp>
        <p:nvSpPr>
          <p:cNvPr id="20" name="Text 18"/>
          <p:cNvSpPr/>
          <p:nvPr/>
        </p:nvSpPr>
        <p:spPr>
          <a:xfrm>
            <a:off x="8325917" y="2788920"/>
            <a:ext cx="3289706"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Tamper-Proof QR Verification</a:t>
            </a:r>
            <a:endParaRPr lang="en-US" sz="1450" dirty="0"/>
          </a:p>
        </p:txBody>
      </p:sp>
      <p:sp>
        <p:nvSpPr>
          <p:cNvPr id="21" name="Text 19"/>
          <p:cNvSpPr/>
          <p:nvPr/>
        </p:nvSpPr>
        <p:spPr>
          <a:xfrm>
            <a:off x="8325917" y="3227832"/>
            <a:ext cx="3289706" cy="996696"/>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Every certificate carries a unique cryptographic QR linking to the official /verify page — zero forgery.</a:t>
            </a:r>
            <a:endParaRPr lang="en-US" sz="1250" dirty="0"/>
          </a:p>
        </p:txBody>
      </p:sp>
      <p:sp>
        <p:nvSpPr>
          <p:cNvPr id="22" name="Shape 20"/>
          <p:cNvSpPr/>
          <p:nvPr/>
        </p:nvSpPr>
        <p:spPr>
          <a:xfrm>
            <a:off x="411480" y="4535424"/>
            <a:ext cx="3655466" cy="1636776"/>
          </a:xfrm>
          <a:prstGeom prst="roundRect">
            <a:avLst>
              <a:gd name="adj" fmla="val 5587"/>
            </a:avLst>
          </a:prstGeom>
          <a:solidFill>
            <a:srgbClr val="0F0F14"/>
          </a:solidFill>
          <a:ln w="12700">
            <a:solidFill>
              <a:srgbClr val="26262D"/>
            </a:solidFill>
            <a:prstDash val="solid"/>
          </a:ln>
        </p:spPr>
      </p:sp>
      <p:sp>
        <p:nvSpPr>
          <p:cNvPr id="23" name="Shape 21"/>
          <p:cNvSpPr/>
          <p:nvPr/>
        </p:nvSpPr>
        <p:spPr>
          <a:xfrm>
            <a:off x="411480" y="4645152"/>
            <a:ext cx="45720" cy="1417320"/>
          </a:xfrm>
          <a:prstGeom prst="rect">
            <a:avLst/>
          </a:prstGeom>
          <a:solidFill>
            <a:srgbClr val="DC2626"/>
          </a:solidFill>
          <a:ln/>
        </p:spPr>
      </p:sp>
      <p:sp>
        <p:nvSpPr>
          <p:cNvPr id="24" name="Text 22"/>
          <p:cNvSpPr/>
          <p:nvPr/>
        </p:nvSpPr>
        <p:spPr>
          <a:xfrm>
            <a:off x="612648" y="4626864"/>
            <a:ext cx="3289706"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Placement &amp; LinkedIn Ready</a:t>
            </a:r>
            <a:endParaRPr lang="en-US" sz="1450" dirty="0"/>
          </a:p>
        </p:txBody>
      </p:sp>
      <p:sp>
        <p:nvSpPr>
          <p:cNvPr id="25" name="Text 23"/>
          <p:cNvSpPr/>
          <p:nvPr/>
        </p:nvSpPr>
        <p:spPr>
          <a:xfrm>
            <a:off x="612648" y="5065776"/>
            <a:ext cx="3289706" cy="996696"/>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One-click sharing to LinkedIn to boost student employability &amp; showcase college achievements.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411480" y="347472"/>
            <a:ext cx="384048" cy="384048"/>
          </a:xfrm>
          <a:prstGeom prst="roundRect">
            <a:avLst>
              <a:gd name="adj" fmla="val 19048"/>
            </a:avLst>
          </a:prstGeom>
          <a:solidFill>
            <a:srgbClr val="DC2626"/>
          </a:solidFill>
          <a:ln/>
        </p:spPr>
      </p:sp>
      <p:sp>
        <p:nvSpPr>
          <p:cNvPr id="3" name="Text 1"/>
          <p:cNvSpPr/>
          <p:nvPr/>
        </p:nvSpPr>
        <p:spPr>
          <a:xfrm>
            <a:off x="411480" y="347472"/>
            <a:ext cx="384048" cy="384048"/>
          </a:xfrm>
          <a:prstGeom prst="rect">
            <a:avLst/>
          </a:prstGeom>
          <a:noFill/>
          <a:ln/>
        </p:spPr>
        <p:txBody>
          <a:bodyPr wrap="square" rtlCol="0" anchor="ctr"/>
          <a:lstStyle/>
          <a:p>
            <a:pPr algn="ctr" indent="0" marL="0">
              <a:buNone/>
            </a:pPr>
            <a:r>
              <a:rPr lang="en-US" sz="1600" b="1" dirty="0">
                <a:solidFill>
                  <a:srgbClr val="FFFFFF"/>
                </a:solidFill>
                <a:latin typeface="Chakra Petch" pitchFamily="34" charset="0"/>
                <a:ea typeface="Chakra Petch" pitchFamily="34" charset="-122"/>
                <a:cs typeface="Chakra Petch" pitchFamily="34" charset="-120"/>
              </a:rPr>
              <a:t>N</a:t>
            </a:r>
            <a:endParaRPr lang="en-US" sz="1600" dirty="0"/>
          </a:p>
        </p:txBody>
      </p:sp>
      <p:sp>
        <p:nvSpPr>
          <p:cNvPr id="4" name="Text 2"/>
          <p:cNvSpPr/>
          <p:nvPr/>
        </p:nvSpPr>
        <p:spPr>
          <a:xfrm>
            <a:off x="886968" y="365760"/>
            <a:ext cx="2926080" cy="347472"/>
          </a:xfrm>
          <a:prstGeom prst="rect">
            <a:avLst/>
          </a:prstGeom>
          <a:noFill/>
          <a:ln/>
        </p:spPr>
        <p:txBody>
          <a:bodyPr wrap="square" rtlCol="0" anchor="ctr"/>
          <a:lstStyle/>
          <a:p>
            <a:pPr indent="0" marL="0">
              <a:buNone/>
            </a:pPr>
            <a:r>
              <a:rPr lang="en-US" b="1" dirty="0">
                <a:solidFill>
                  <a:srgbClr val="F5F5F5"/>
                </a:solidFill>
                <a:latin typeface="Chakra Petch" pitchFamily="34" charset="0"/>
                <a:ea typeface="Chakra Petch" pitchFamily="34" charset="-122"/>
                <a:cs typeface="Chakra Petch" pitchFamily="34" charset="-120"/>
              </a:rPr>
              <a:t>NX-913  </a:t>
            </a:r>
            <a:pPr indent="0" marL="0">
              <a:buNone/>
            </a:pPr>
            <a:r>
              <a:rPr lang="en-US" sz="1100" dirty="0">
                <a:solidFill>
                  <a:srgbClr val="71717A"/>
                </a:solidFill>
                <a:latin typeface="Rajdhani" pitchFamily="34" charset="0"/>
                <a:ea typeface="Rajdhani" pitchFamily="34" charset="-122"/>
                <a:cs typeface="Rajdhani" pitchFamily="34" charset="-120"/>
              </a:rPr>
              <a:t>CAMPUS OS</a:t>
            </a:r>
            <a:endParaRPr lang="en-US" sz="1100" dirty="0"/>
          </a:p>
        </p:txBody>
      </p:sp>
      <p:sp>
        <p:nvSpPr>
          <p:cNvPr id="5" name="Text 3"/>
          <p:cNvSpPr/>
          <p:nvPr/>
        </p:nvSpPr>
        <p:spPr>
          <a:xfrm>
            <a:off x="9814255" y="402336"/>
            <a:ext cx="1965960" cy="274320"/>
          </a:xfrm>
          <a:prstGeom prst="rect">
            <a:avLst/>
          </a:prstGeom>
          <a:noFill/>
          <a:ln/>
        </p:spPr>
        <p:txBody>
          <a:bodyPr wrap="square" rtlCol="0" anchor="ctr"/>
          <a:lstStyle/>
          <a:p>
            <a:pPr algn="r" indent="0" marL="0">
              <a:buNone/>
            </a:pPr>
            <a:r>
              <a:rPr lang="en-US" sz="900" spc="200" kern="0" dirty="0">
                <a:solidFill>
                  <a:srgbClr val="71717A"/>
                </a:solidFill>
                <a:latin typeface="JetBrains Mono" pitchFamily="34" charset="0"/>
                <a:ea typeface="JetBrains Mono" pitchFamily="34" charset="-122"/>
                <a:cs typeface="JetBrains Mono" pitchFamily="34" charset="-120"/>
              </a:rPr>
              <a:t>PITCH DECK</a:t>
            </a:r>
            <a:endParaRPr lang="en-US" sz="900" dirty="0"/>
          </a:p>
        </p:txBody>
      </p:sp>
      <p:sp>
        <p:nvSpPr>
          <p:cNvPr id="6" name="Shape 4"/>
          <p:cNvSpPr/>
          <p:nvPr/>
        </p:nvSpPr>
        <p:spPr>
          <a:xfrm>
            <a:off x="411480" y="960120"/>
            <a:ext cx="1143000" cy="347472"/>
          </a:xfrm>
          <a:prstGeom prst="roundRect">
            <a:avLst>
              <a:gd name="adj" fmla="val 50000"/>
            </a:avLst>
          </a:prstGeom>
          <a:solidFill>
            <a:srgbClr val="1A0D0D"/>
          </a:solidFill>
          <a:ln w="12700">
            <a:solidFill>
              <a:srgbClr val="7F1D1D"/>
            </a:solidFill>
            <a:prstDash val="solid"/>
          </a:ln>
        </p:spPr>
      </p:sp>
      <p:sp>
        <p:nvSpPr>
          <p:cNvPr id="7" name="Text 5"/>
          <p:cNvSpPr/>
          <p:nvPr/>
        </p:nvSpPr>
        <p:spPr>
          <a:xfrm>
            <a:off x="411480" y="960120"/>
            <a:ext cx="1143000" cy="347472"/>
          </a:xfrm>
          <a:prstGeom prst="rect">
            <a:avLst/>
          </a:prstGeom>
          <a:noFill/>
          <a:ln/>
        </p:spPr>
        <p:txBody>
          <a:bodyPr wrap="square" rtlCol="0" anchor="ctr"/>
          <a:lstStyle/>
          <a:p>
            <a:pPr algn="ctr" indent="0" marL="0">
              <a:buNone/>
            </a:pPr>
            <a:r>
              <a:rPr lang="en-US" sz="900" spc="100" kern="0" dirty="0">
                <a:solidFill>
                  <a:srgbClr val="F87171"/>
                </a:solidFill>
                <a:latin typeface="JetBrains Mono" pitchFamily="34" charset="0"/>
                <a:ea typeface="JetBrains Mono" pitchFamily="34" charset="-122"/>
                <a:cs typeface="JetBrains Mono" pitchFamily="34" charset="-120"/>
              </a:rPr>
              <a:t>08 THE ECOSYSTEM</a:t>
            </a:r>
            <a:endParaRPr lang="en-US" sz="900" dirty="0"/>
          </a:p>
        </p:txBody>
      </p:sp>
      <p:sp>
        <p:nvSpPr>
          <p:cNvPr id="8" name="Text 6"/>
          <p:cNvSpPr/>
          <p:nvPr/>
        </p:nvSpPr>
        <p:spPr>
          <a:xfrm>
            <a:off x="384048" y="1371600"/>
            <a:ext cx="11368735" cy="822960"/>
          </a:xfrm>
          <a:prstGeom prst="rect">
            <a:avLst/>
          </a:prstGeom>
          <a:noFill/>
          <a:ln/>
        </p:spPr>
        <p:txBody>
          <a:bodyPr wrap="square" rtlCol="0" anchor="ctr"/>
          <a:lstStyle/>
          <a:p>
            <a:pPr indent="0" marL="0">
              <a:buNone/>
            </a:pPr>
            <a:r>
              <a:rPr lang="en-US" sz="3400" b="1" dirty="0">
                <a:solidFill>
                  <a:srgbClr val="F5F5F5"/>
                </a:solidFill>
                <a:latin typeface="Chakra Petch" pitchFamily="34" charset="0"/>
                <a:ea typeface="Chakra Petch" pitchFamily="34" charset="-122"/>
                <a:cs typeface="Chakra Petch" pitchFamily="34" charset="-120"/>
              </a:rPr>
              <a:t>AI-Powered Official NAAC / IQAC Report Builder</a:t>
            </a:r>
            <a:endParaRPr lang="en-US" sz="3400" dirty="0"/>
          </a:p>
        </p:txBody>
      </p:sp>
      <p:sp>
        <p:nvSpPr>
          <p:cNvPr id="9" name="Text 7"/>
          <p:cNvSpPr/>
          <p:nvPr/>
        </p:nvSpPr>
        <p:spPr>
          <a:xfrm>
            <a:off x="411480" y="2121408"/>
            <a:ext cx="10545775" cy="411480"/>
          </a:xfrm>
          <a:prstGeom prst="rect">
            <a:avLst/>
          </a:prstGeom>
          <a:noFill/>
          <a:ln/>
        </p:spPr>
        <p:txBody>
          <a:bodyPr wrap="square" rtlCol="0" anchor="t"/>
          <a:lstStyle/>
          <a:p>
            <a:pPr indent="0" marL="0">
              <a:buNone/>
            </a:pPr>
            <a:r>
              <a:rPr lang="en-US" sz="1500" dirty="0">
                <a:solidFill>
                  <a:srgbClr val="9CA3AF"/>
                </a:solidFill>
                <a:latin typeface="Rajdhani" pitchFamily="34" charset="0"/>
                <a:ea typeface="Rajdhani" pitchFamily="34" charset="-122"/>
                <a:cs typeface="Rajdhani" pitchFamily="34" charset="-120"/>
              </a:rPr>
              <a:t>From 2 weeks of paperwork to a ready-to-sign report in 2 minutes.</a:t>
            </a:r>
            <a:endParaRPr lang="en-US" sz="1500" dirty="0"/>
          </a:p>
        </p:txBody>
      </p:sp>
      <p:sp>
        <p:nvSpPr>
          <p:cNvPr id="10" name="Shape 8"/>
          <p:cNvSpPr/>
          <p:nvPr/>
        </p:nvSpPr>
        <p:spPr>
          <a:xfrm>
            <a:off x="411480" y="2697480"/>
            <a:ext cx="3655466" cy="1636776"/>
          </a:xfrm>
          <a:prstGeom prst="roundRect">
            <a:avLst>
              <a:gd name="adj" fmla="val 5587"/>
            </a:avLst>
          </a:prstGeom>
          <a:solidFill>
            <a:srgbClr val="0F0F14"/>
          </a:solidFill>
          <a:ln w="12700">
            <a:solidFill>
              <a:srgbClr val="26262D"/>
            </a:solidFill>
            <a:prstDash val="solid"/>
          </a:ln>
        </p:spPr>
      </p:sp>
      <p:sp>
        <p:nvSpPr>
          <p:cNvPr id="11" name="Shape 9"/>
          <p:cNvSpPr/>
          <p:nvPr/>
        </p:nvSpPr>
        <p:spPr>
          <a:xfrm>
            <a:off x="411480" y="2807208"/>
            <a:ext cx="45720" cy="1417320"/>
          </a:xfrm>
          <a:prstGeom prst="rect">
            <a:avLst/>
          </a:prstGeom>
          <a:solidFill>
            <a:srgbClr val="DC2626"/>
          </a:solidFill>
          <a:ln/>
        </p:spPr>
      </p:sp>
      <p:sp>
        <p:nvSpPr>
          <p:cNvPr id="12" name="Text 10"/>
          <p:cNvSpPr/>
          <p:nvPr/>
        </p:nvSpPr>
        <p:spPr>
          <a:xfrm>
            <a:off x="612648" y="2788920"/>
            <a:ext cx="3289706"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One-Click Official Export</a:t>
            </a:r>
            <a:endParaRPr lang="en-US" sz="1450" dirty="0"/>
          </a:p>
        </p:txBody>
      </p:sp>
      <p:sp>
        <p:nvSpPr>
          <p:cNvPr id="13" name="Text 11"/>
          <p:cNvSpPr/>
          <p:nvPr/>
        </p:nvSpPr>
        <p:spPr>
          <a:xfrm>
            <a:off x="612648" y="3227832"/>
            <a:ext cx="3289706" cy="996696"/>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Standardized institutional report templates in DOCX &amp; PDF.</a:t>
            </a:r>
            <a:endParaRPr lang="en-US" sz="1250" dirty="0"/>
          </a:p>
        </p:txBody>
      </p:sp>
      <p:sp>
        <p:nvSpPr>
          <p:cNvPr id="14" name="Shape 12"/>
          <p:cNvSpPr/>
          <p:nvPr/>
        </p:nvSpPr>
        <p:spPr>
          <a:xfrm>
            <a:off x="4268114" y="2697480"/>
            <a:ext cx="3655466" cy="1636776"/>
          </a:xfrm>
          <a:prstGeom prst="roundRect">
            <a:avLst>
              <a:gd name="adj" fmla="val 5587"/>
            </a:avLst>
          </a:prstGeom>
          <a:solidFill>
            <a:srgbClr val="0F0F14"/>
          </a:solidFill>
          <a:ln w="12700">
            <a:solidFill>
              <a:srgbClr val="26262D"/>
            </a:solidFill>
            <a:prstDash val="solid"/>
          </a:ln>
        </p:spPr>
      </p:sp>
      <p:sp>
        <p:nvSpPr>
          <p:cNvPr id="15" name="Shape 13"/>
          <p:cNvSpPr/>
          <p:nvPr/>
        </p:nvSpPr>
        <p:spPr>
          <a:xfrm>
            <a:off x="4268114" y="2807208"/>
            <a:ext cx="45720" cy="1417320"/>
          </a:xfrm>
          <a:prstGeom prst="rect">
            <a:avLst/>
          </a:prstGeom>
          <a:solidFill>
            <a:srgbClr val="DC2626"/>
          </a:solidFill>
          <a:ln/>
        </p:spPr>
      </p:sp>
      <p:sp>
        <p:nvSpPr>
          <p:cNvPr id="16" name="Text 14"/>
          <p:cNvSpPr/>
          <p:nvPr/>
        </p:nvSpPr>
        <p:spPr>
          <a:xfrm>
            <a:off x="4469282" y="2788920"/>
            <a:ext cx="3289706"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Pre-Populated Sections</a:t>
            </a:r>
            <a:endParaRPr lang="en-US" sz="1450" dirty="0"/>
          </a:p>
        </p:txBody>
      </p:sp>
      <p:sp>
        <p:nvSpPr>
          <p:cNvPr id="17" name="Text 15"/>
          <p:cNvSpPr/>
          <p:nvPr/>
        </p:nvSpPr>
        <p:spPr>
          <a:xfrm>
            <a:off x="4469282" y="3227832"/>
            <a:ext cx="3289706" cy="996696"/>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Executive summary, participant lists with timestamps, speaker profiles, photo collage, feedback &amp; financial balance sheet.</a:t>
            </a:r>
            <a:endParaRPr lang="en-US" sz="1250" dirty="0"/>
          </a:p>
        </p:txBody>
      </p:sp>
      <p:sp>
        <p:nvSpPr>
          <p:cNvPr id="18" name="Shape 16"/>
          <p:cNvSpPr/>
          <p:nvPr/>
        </p:nvSpPr>
        <p:spPr>
          <a:xfrm>
            <a:off x="8124749" y="2697480"/>
            <a:ext cx="3655466" cy="1636776"/>
          </a:xfrm>
          <a:prstGeom prst="roundRect">
            <a:avLst>
              <a:gd name="adj" fmla="val 5587"/>
            </a:avLst>
          </a:prstGeom>
          <a:solidFill>
            <a:srgbClr val="0F0F14"/>
          </a:solidFill>
          <a:ln w="12700">
            <a:solidFill>
              <a:srgbClr val="26262D"/>
            </a:solidFill>
            <a:prstDash val="solid"/>
          </a:ln>
        </p:spPr>
      </p:sp>
      <p:sp>
        <p:nvSpPr>
          <p:cNvPr id="19" name="Shape 17"/>
          <p:cNvSpPr/>
          <p:nvPr/>
        </p:nvSpPr>
        <p:spPr>
          <a:xfrm>
            <a:off x="8124749" y="2807208"/>
            <a:ext cx="45720" cy="1417320"/>
          </a:xfrm>
          <a:prstGeom prst="rect">
            <a:avLst/>
          </a:prstGeom>
          <a:solidFill>
            <a:srgbClr val="DC2626"/>
          </a:solidFill>
          <a:ln/>
        </p:spPr>
      </p:sp>
      <p:sp>
        <p:nvSpPr>
          <p:cNvPr id="20" name="Text 18"/>
          <p:cNvSpPr/>
          <p:nvPr/>
        </p:nvSpPr>
        <p:spPr>
          <a:xfrm>
            <a:off x="8325917" y="2788920"/>
            <a:ext cx="3289706"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AI-Assisted Drafting</a:t>
            </a:r>
            <a:endParaRPr lang="en-US" sz="1450" dirty="0"/>
          </a:p>
        </p:txBody>
      </p:sp>
      <p:sp>
        <p:nvSpPr>
          <p:cNvPr id="21" name="Text 19"/>
          <p:cNvSpPr/>
          <p:nvPr/>
        </p:nvSpPr>
        <p:spPr>
          <a:xfrm>
            <a:off x="8325917" y="3227832"/>
            <a:ext cx="3289706" cy="996696"/>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Groq LPU + Gemini compile executive summaries &amp; outcome analysis from raw event data.</a:t>
            </a:r>
            <a:endParaRPr lang="en-US" sz="1250" dirty="0"/>
          </a:p>
        </p:txBody>
      </p:sp>
      <p:sp>
        <p:nvSpPr>
          <p:cNvPr id="22" name="Shape 20"/>
          <p:cNvSpPr/>
          <p:nvPr/>
        </p:nvSpPr>
        <p:spPr>
          <a:xfrm>
            <a:off x="411480" y="4535424"/>
            <a:ext cx="3655466" cy="1636776"/>
          </a:xfrm>
          <a:prstGeom prst="roundRect">
            <a:avLst>
              <a:gd name="adj" fmla="val 5587"/>
            </a:avLst>
          </a:prstGeom>
          <a:solidFill>
            <a:srgbClr val="0F0F14"/>
          </a:solidFill>
          <a:ln w="12700">
            <a:solidFill>
              <a:srgbClr val="26262D"/>
            </a:solidFill>
            <a:prstDash val="solid"/>
          </a:ln>
        </p:spPr>
      </p:sp>
      <p:sp>
        <p:nvSpPr>
          <p:cNvPr id="23" name="Shape 21"/>
          <p:cNvSpPr/>
          <p:nvPr/>
        </p:nvSpPr>
        <p:spPr>
          <a:xfrm>
            <a:off x="411480" y="4645152"/>
            <a:ext cx="45720" cy="1417320"/>
          </a:xfrm>
          <a:prstGeom prst="rect">
            <a:avLst/>
          </a:prstGeom>
          <a:solidFill>
            <a:srgbClr val="DC2626"/>
          </a:solidFill>
          <a:ln/>
        </p:spPr>
      </p:sp>
      <p:sp>
        <p:nvSpPr>
          <p:cNvPr id="24" name="Text 22"/>
          <p:cNvSpPr/>
          <p:nvPr/>
        </p:nvSpPr>
        <p:spPr>
          <a:xfrm>
            <a:off x="612648" y="4626864"/>
            <a:ext cx="3289706"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Accreditation Compliant</a:t>
            </a:r>
            <a:endParaRPr lang="en-US" sz="1450" dirty="0"/>
          </a:p>
        </p:txBody>
      </p:sp>
      <p:sp>
        <p:nvSpPr>
          <p:cNvPr id="25" name="Text 23"/>
          <p:cNvSpPr/>
          <p:nvPr/>
        </p:nvSpPr>
        <p:spPr>
          <a:xfrm>
            <a:off x="612648" y="5065776"/>
            <a:ext cx="3289706" cy="996696"/>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Direct adherence to NAAC Criterion V, IQAC &amp; AICTE/NIRF documentation guidelines.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411480" y="347472"/>
            <a:ext cx="384048" cy="384048"/>
          </a:xfrm>
          <a:prstGeom prst="roundRect">
            <a:avLst>
              <a:gd name="adj" fmla="val 19048"/>
            </a:avLst>
          </a:prstGeom>
          <a:solidFill>
            <a:srgbClr val="DC2626"/>
          </a:solidFill>
          <a:ln/>
        </p:spPr>
      </p:sp>
      <p:sp>
        <p:nvSpPr>
          <p:cNvPr id="3" name="Text 1"/>
          <p:cNvSpPr/>
          <p:nvPr/>
        </p:nvSpPr>
        <p:spPr>
          <a:xfrm>
            <a:off x="411480" y="347472"/>
            <a:ext cx="384048" cy="384048"/>
          </a:xfrm>
          <a:prstGeom prst="rect">
            <a:avLst/>
          </a:prstGeom>
          <a:noFill/>
          <a:ln/>
        </p:spPr>
        <p:txBody>
          <a:bodyPr wrap="square" rtlCol="0" anchor="ctr"/>
          <a:lstStyle/>
          <a:p>
            <a:pPr algn="ctr" indent="0" marL="0">
              <a:buNone/>
            </a:pPr>
            <a:r>
              <a:rPr lang="en-US" sz="1600" b="1" dirty="0">
                <a:solidFill>
                  <a:srgbClr val="FFFFFF"/>
                </a:solidFill>
                <a:latin typeface="Chakra Petch" pitchFamily="34" charset="0"/>
                <a:ea typeface="Chakra Petch" pitchFamily="34" charset="-122"/>
                <a:cs typeface="Chakra Petch" pitchFamily="34" charset="-120"/>
              </a:rPr>
              <a:t>N</a:t>
            </a:r>
            <a:endParaRPr lang="en-US" sz="1600" dirty="0"/>
          </a:p>
        </p:txBody>
      </p:sp>
      <p:sp>
        <p:nvSpPr>
          <p:cNvPr id="4" name="Text 2"/>
          <p:cNvSpPr/>
          <p:nvPr/>
        </p:nvSpPr>
        <p:spPr>
          <a:xfrm>
            <a:off x="886968" y="365760"/>
            <a:ext cx="2926080" cy="347472"/>
          </a:xfrm>
          <a:prstGeom prst="rect">
            <a:avLst/>
          </a:prstGeom>
          <a:noFill/>
          <a:ln/>
        </p:spPr>
        <p:txBody>
          <a:bodyPr wrap="square" rtlCol="0" anchor="ctr"/>
          <a:lstStyle/>
          <a:p>
            <a:pPr indent="0" marL="0">
              <a:buNone/>
            </a:pPr>
            <a:r>
              <a:rPr lang="en-US" b="1" dirty="0">
                <a:solidFill>
                  <a:srgbClr val="F5F5F5"/>
                </a:solidFill>
                <a:latin typeface="Chakra Petch" pitchFamily="34" charset="0"/>
                <a:ea typeface="Chakra Petch" pitchFamily="34" charset="-122"/>
                <a:cs typeface="Chakra Petch" pitchFamily="34" charset="-120"/>
              </a:rPr>
              <a:t>NX-913  </a:t>
            </a:r>
            <a:pPr indent="0" marL="0">
              <a:buNone/>
            </a:pPr>
            <a:r>
              <a:rPr lang="en-US" sz="1100" dirty="0">
                <a:solidFill>
                  <a:srgbClr val="71717A"/>
                </a:solidFill>
                <a:latin typeface="Rajdhani" pitchFamily="34" charset="0"/>
                <a:ea typeface="Rajdhani" pitchFamily="34" charset="-122"/>
                <a:cs typeface="Rajdhani" pitchFamily="34" charset="-120"/>
              </a:rPr>
              <a:t>CAMPUS OS</a:t>
            </a:r>
            <a:endParaRPr lang="en-US" sz="1100" dirty="0"/>
          </a:p>
        </p:txBody>
      </p:sp>
      <p:sp>
        <p:nvSpPr>
          <p:cNvPr id="5" name="Text 3"/>
          <p:cNvSpPr/>
          <p:nvPr/>
        </p:nvSpPr>
        <p:spPr>
          <a:xfrm>
            <a:off x="9814255" y="402336"/>
            <a:ext cx="1965960" cy="274320"/>
          </a:xfrm>
          <a:prstGeom prst="rect">
            <a:avLst/>
          </a:prstGeom>
          <a:noFill/>
          <a:ln/>
        </p:spPr>
        <p:txBody>
          <a:bodyPr wrap="square" rtlCol="0" anchor="ctr"/>
          <a:lstStyle/>
          <a:p>
            <a:pPr algn="r" indent="0" marL="0">
              <a:buNone/>
            </a:pPr>
            <a:r>
              <a:rPr lang="en-US" sz="900" spc="200" kern="0" dirty="0">
                <a:solidFill>
                  <a:srgbClr val="71717A"/>
                </a:solidFill>
                <a:latin typeface="JetBrains Mono" pitchFamily="34" charset="0"/>
                <a:ea typeface="JetBrains Mono" pitchFamily="34" charset="-122"/>
                <a:cs typeface="JetBrains Mono" pitchFamily="34" charset="-120"/>
              </a:rPr>
              <a:t>PITCH DECK</a:t>
            </a:r>
            <a:endParaRPr lang="en-US" sz="900" dirty="0"/>
          </a:p>
        </p:txBody>
      </p:sp>
      <p:sp>
        <p:nvSpPr>
          <p:cNvPr id="6" name="Shape 4"/>
          <p:cNvSpPr/>
          <p:nvPr/>
        </p:nvSpPr>
        <p:spPr>
          <a:xfrm>
            <a:off x="411480" y="960120"/>
            <a:ext cx="1143000" cy="347472"/>
          </a:xfrm>
          <a:prstGeom prst="roundRect">
            <a:avLst>
              <a:gd name="adj" fmla="val 50000"/>
            </a:avLst>
          </a:prstGeom>
          <a:solidFill>
            <a:srgbClr val="1A0D0D"/>
          </a:solidFill>
          <a:ln w="12700">
            <a:solidFill>
              <a:srgbClr val="7F1D1D"/>
            </a:solidFill>
            <a:prstDash val="solid"/>
          </a:ln>
        </p:spPr>
      </p:sp>
      <p:sp>
        <p:nvSpPr>
          <p:cNvPr id="7" name="Text 5"/>
          <p:cNvSpPr/>
          <p:nvPr/>
        </p:nvSpPr>
        <p:spPr>
          <a:xfrm>
            <a:off x="411480" y="960120"/>
            <a:ext cx="1143000" cy="347472"/>
          </a:xfrm>
          <a:prstGeom prst="rect">
            <a:avLst/>
          </a:prstGeom>
          <a:noFill/>
          <a:ln/>
        </p:spPr>
        <p:txBody>
          <a:bodyPr wrap="square" rtlCol="0" anchor="ctr"/>
          <a:lstStyle/>
          <a:p>
            <a:pPr algn="ctr" indent="0" marL="0">
              <a:buNone/>
            </a:pPr>
            <a:r>
              <a:rPr lang="en-US" sz="900" spc="100" kern="0" dirty="0">
                <a:solidFill>
                  <a:srgbClr val="F87171"/>
                </a:solidFill>
                <a:latin typeface="JetBrains Mono" pitchFamily="34" charset="0"/>
                <a:ea typeface="JetBrains Mono" pitchFamily="34" charset="-122"/>
                <a:cs typeface="JetBrains Mono" pitchFamily="34" charset="-120"/>
              </a:rPr>
              <a:t>09 HARDWARE &amp; SECURITY</a:t>
            </a:r>
            <a:endParaRPr lang="en-US" sz="900" dirty="0"/>
          </a:p>
        </p:txBody>
      </p:sp>
      <p:sp>
        <p:nvSpPr>
          <p:cNvPr id="8" name="Text 6"/>
          <p:cNvSpPr/>
          <p:nvPr/>
        </p:nvSpPr>
        <p:spPr>
          <a:xfrm>
            <a:off x="384048" y="1371600"/>
            <a:ext cx="11368735" cy="822960"/>
          </a:xfrm>
          <a:prstGeom prst="rect">
            <a:avLst/>
          </a:prstGeom>
          <a:noFill/>
          <a:ln/>
        </p:spPr>
        <p:txBody>
          <a:bodyPr wrap="square" rtlCol="0" anchor="ctr"/>
          <a:lstStyle/>
          <a:p>
            <a:pPr indent="0" marL="0">
              <a:buNone/>
            </a:pPr>
            <a:r>
              <a:rPr lang="en-US" sz="3400" b="1" dirty="0">
                <a:solidFill>
                  <a:srgbClr val="F5F5F5"/>
                </a:solidFill>
                <a:latin typeface="Chakra Petch" pitchFamily="34" charset="0"/>
                <a:ea typeface="Chakra Petch" pitchFamily="34" charset="-122"/>
                <a:cs typeface="Chakra Petch" pitchFamily="34" charset="-120"/>
              </a:rPr>
              <a:t>Financial Transparency, Invoicing &amp; Payments</a:t>
            </a:r>
            <a:endParaRPr lang="en-US" sz="3400" dirty="0"/>
          </a:p>
        </p:txBody>
      </p:sp>
      <p:sp>
        <p:nvSpPr>
          <p:cNvPr id="9" name="Text 7"/>
          <p:cNvSpPr/>
          <p:nvPr/>
        </p:nvSpPr>
        <p:spPr>
          <a:xfrm>
            <a:off x="411480" y="2121408"/>
            <a:ext cx="10545775" cy="411480"/>
          </a:xfrm>
          <a:prstGeom prst="rect">
            <a:avLst/>
          </a:prstGeom>
          <a:noFill/>
          <a:ln/>
        </p:spPr>
        <p:txBody>
          <a:bodyPr wrap="square" rtlCol="0" anchor="t"/>
          <a:lstStyle/>
          <a:p>
            <a:pPr indent="0" marL="0">
              <a:buNone/>
            </a:pPr>
            <a:r>
              <a:rPr lang="en-US" sz="1500" dirty="0">
                <a:solidFill>
                  <a:srgbClr val="9CA3AF"/>
                </a:solidFill>
                <a:latin typeface="Rajdhani" pitchFamily="34" charset="0"/>
                <a:ea typeface="Rajdhani" pitchFamily="34" charset="-122"/>
                <a:cs typeface="Rajdhani" pitchFamily="34" charset="-120"/>
              </a:rPr>
              <a:t>Every rupee through official channels — audited, invoiced, zero leakage.</a:t>
            </a:r>
            <a:endParaRPr lang="en-US" sz="1500" dirty="0"/>
          </a:p>
        </p:txBody>
      </p:sp>
      <p:sp>
        <p:nvSpPr>
          <p:cNvPr id="10" name="Shape 8"/>
          <p:cNvSpPr/>
          <p:nvPr/>
        </p:nvSpPr>
        <p:spPr>
          <a:xfrm>
            <a:off x="411480" y="2697480"/>
            <a:ext cx="3655466" cy="1636776"/>
          </a:xfrm>
          <a:prstGeom prst="roundRect">
            <a:avLst>
              <a:gd name="adj" fmla="val 5587"/>
            </a:avLst>
          </a:prstGeom>
          <a:solidFill>
            <a:srgbClr val="0F0F14"/>
          </a:solidFill>
          <a:ln w="12700">
            <a:solidFill>
              <a:srgbClr val="26262D"/>
            </a:solidFill>
            <a:prstDash val="solid"/>
          </a:ln>
        </p:spPr>
      </p:sp>
      <p:sp>
        <p:nvSpPr>
          <p:cNvPr id="11" name="Shape 9"/>
          <p:cNvSpPr/>
          <p:nvPr/>
        </p:nvSpPr>
        <p:spPr>
          <a:xfrm>
            <a:off x="411480" y="2807208"/>
            <a:ext cx="45720" cy="1417320"/>
          </a:xfrm>
          <a:prstGeom prst="rect">
            <a:avLst/>
          </a:prstGeom>
          <a:solidFill>
            <a:srgbClr val="DC2626"/>
          </a:solidFill>
          <a:ln/>
        </p:spPr>
      </p:sp>
      <p:sp>
        <p:nvSpPr>
          <p:cNvPr id="12" name="Text 10"/>
          <p:cNvSpPr/>
          <p:nvPr/>
        </p:nvSpPr>
        <p:spPr>
          <a:xfrm>
            <a:off x="612648" y="2788920"/>
            <a:ext cx="3289706"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Integrated Razorpay Gateway</a:t>
            </a:r>
            <a:endParaRPr lang="en-US" sz="1450" dirty="0"/>
          </a:p>
        </p:txBody>
      </p:sp>
      <p:sp>
        <p:nvSpPr>
          <p:cNvPr id="13" name="Text 11"/>
          <p:cNvSpPr/>
          <p:nvPr/>
        </p:nvSpPr>
        <p:spPr>
          <a:xfrm>
            <a:off x="612648" y="3227832"/>
            <a:ext cx="3289706" cy="996696"/>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UPI (GPay, PhonePe, Paytm), Credit/Debit Cards &amp; Net Banking.</a:t>
            </a:r>
            <a:endParaRPr lang="en-US" sz="1250" dirty="0"/>
          </a:p>
        </p:txBody>
      </p:sp>
      <p:sp>
        <p:nvSpPr>
          <p:cNvPr id="14" name="Shape 12"/>
          <p:cNvSpPr/>
          <p:nvPr/>
        </p:nvSpPr>
        <p:spPr>
          <a:xfrm>
            <a:off x="4268114" y="2697480"/>
            <a:ext cx="3655466" cy="1636776"/>
          </a:xfrm>
          <a:prstGeom prst="roundRect">
            <a:avLst>
              <a:gd name="adj" fmla="val 5587"/>
            </a:avLst>
          </a:prstGeom>
          <a:solidFill>
            <a:srgbClr val="0F0F14"/>
          </a:solidFill>
          <a:ln w="12700">
            <a:solidFill>
              <a:srgbClr val="26262D"/>
            </a:solidFill>
            <a:prstDash val="solid"/>
          </a:ln>
        </p:spPr>
      </p:sp>
      <p:sp>
        <p:nvSpPr>
          <p:cNvPr id="15" name="Shape 13"/>
          <p:cNvSpPr/>
          <p:nvPr/>
        </p:nvSpPr>
        <p:spPr>
          <a:xfrm>
            <a:off x="4268114" y="2807208"/>
            <a:ext cx="45720" cy="1417320"/>
          </a:xfrm>
          <a:prstGeom prst="rect">
            <a:avLst/>
          </a:prstGeom>
          <a:solidFill>
            <a:srgbClr val="DC2626"/>
          </a:solidFill>
          <a:ln/>
        </p:spPr>
      </p:sp>
      <p:sp>
        <p:nvSpPr>
          <p:cNvPr id="16" name="Text 14"/>
          <p:cNvSpPr/>
          <p:nvPr/>
        </p:nvSpPr>
        <p:spPr>
          <a:xfrm>
            <a:off x="4469282" y="2788920"/>
            <a:ext cx="3289706"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Flexible Ticketing &amp; Coupons</a:t>
            </a:r>
            <a:endParaRPr lang="en-US" sz="1450" dirty="0"/>
          </a:p>
        </p:txBody>
      </p:sp>
      <p:sp>
        <p:nvSpPr>
          <p:cNvPr id="17" name="Text 15"/>
          <p:cNvSpPr/>
          <p:nvPr/>
        </p:nvSpPr>
        <p:spPr>
          <a:xfrm>
            <a:off x="4469282" y="3227832"/>
            <a:ext cx="3289706" cy="996696"/>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Free tickets, multi-tier pricing (Early Bird · Standard · VIP) &amp; discount coupon management.</a:t>
            </a:r>
            <a:endParaRPr lang="en-US" sz="1250" dirty="0"/>
          </a:p>
        </p:txBody>
      </p:sp>
      <p:sp>
        <p:nvSpPr>
          <p:cNvPr id="18" name="Shape 16"/>
          <p:cNvSpPr/>
          <p:nvPr/>
        </p:nvSpPr>
        <p:spPr>
          <a:xfrm>
            <a:off x="8124749" y="2697480"/>
            <a:ext cx="3655466" cy="1636776"/>
          </a:xfrm>
          <a:prstGeom prst="roundRect">
            <a:avLst>
              <a:gd name="adj" fmla="val 5587"/>
            </a:avLst>
          </a:prstGeom>
          <a:solidFill>
            <a:srgbClr val="0F0F14"/>
          </a:solidFill>
          <a:ln w="12700">
            <a:solidFill>
              <a:srgbClr val="26262D"/>
            </a:solidFill>
            <a:prstDash val="solid"/>
          </a:ln>
        </p:spPr>
      </p:sp>
      <p:sp>
        <p:nvSpPr>
          <p:cNvPr id="19" name="Shape 17"/>
          <p:cNvSpPr/>
          <p:nvPr/>
        </p:nvSpPr>
        <p:spPr>
          <a:xfrm>
            <a:off x="8124749" y="2807208"/>
            <a:ext cx="45720" cy="1417320"/>
          </a:xfrm>
          <a:prstGeom prst="rect">
            <a:avLst/>
          </a:prstGeom>
          <a:solidFill>
            <a:srgbClr val="DC2626"/>
          </a:solidFill>
          <a:ln/>
        </p:spPr>
      </p:sp>
      <p:sp>
        <p:nvSpPr>
          <p:cNvPr id="20" name="Text 18"/>
          <p:cNvSpPr/>
          <p:nvPr/>
        </p:nvSpPr>
        <p:spPr>
          <a:xfrm>
            <a:off x="8325917" y="2788920"/>
            <a:ext cx="3289706"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Automated GST &amp; Invoicing</a:t>
            </a:r>
            <a:endParaRPr lang="en-US" sz="1450" dirty="0"/>
          </a:p>
        </p:txBody>
      </p:sp>
      <p:sp>
        <p:nvSpPr>
          <p:cNvPr id="21" name="Text 19"/>
          <p:cNvSpPr/>
          <p:nvPr/>
        </p:nvSpPr>
        <p:spPr>
          <a:xfrm>
            <a:off x="8325917" y="3227832"/>
            <a:ext cx="3289706" cy="996696"/>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Instant digital invoices &amp; payment receipts issued to attendees.</a:t>
            </a:r>
            <a:endParaRPr lang="en-US" sz="1250" dirty="0"/>
          </a:p>
        </p:txBody>
      </p:sp>
      <p:sp>
        <p:nvSpPr>
          <p:cNvPr id="22" name="Shape 20"/>
          <p:cNvSpPr/>
          <p:nvPr/>
        </p:nvSpPr>
        <p:spPr>
          <a:xfrm>
            <a:off x="411480" y="4535424"/>
            <a:ext cx="3655466" cy="1636776"/>
          </a:xfrm>
          <a:prstGeom prst="roundRect">
            <a:avLst>
              <a:gd name="adj" fmla="val 5587"/>
            </a:avLst>
          </a:prstGeom>
          <a:solidFill>
            <a:srgbClr val="0F0F14"/>
          </a:solidFill>
          <a:ln w="12700">
            <a:solidFill>
              <a:srgbClr val="26262D"/>
            </a:solidFill>
            <a:prstDash val="solid"/>
          </a:ln>
        </p:spPr>
      </p:sp>
      <p:sp>
        <p:nvSpPr>
          <p:cNvPr id="23" name="Shape 21"/>
          <p:cNvSpPr/>
          <p:nvPr/>
        </p:nvSpPr>
        <p:spPr>
          <a:xfrm>
            <a:off x="411480" y="4645152"/>
            <a:ext cx="45720" cy="1417320"/>
          </a:xfrm>
          <a:prstGeom prst="rect">
            <a:avLst/>
          </a:prstGeom>
          <a:solidFill>
            <a:srgbClr val="DC2626"/>
          </a:solidFill>
          <a:ln/>
        </p:spPr>
      </p:sp>
      <p:sp>
        <p:nvSpPr>
          <p:cNvPr id="24" name="Text 22"/>
          <p:cNvSpPr/>
          <p:nvPr/>
        </p:nvSpPr>
        <p:spPr>
          <a:xfrm>
            <a:off x="612648" y="4626864"/>
            <a:ext cx="3289706"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Zero Cash Leakage &amp; Audit Logs</a:t>
            </a:r>
            <a:endParaRPr lang="en-US" sz="1450" dirty="0"/>
          </a:p>
        </p:txBody>
      </p:sp>
      <p:sp>
        <p:nvSpPr>
          <p:cNvPr id="25" name="Text 23"/>
          <p:cNvSpPr/>
          <p:nvPr/>
        </p:nvSpPr>
        <p:spPr>
          <a:xfrm>
            <a:off x="612648" y="5065776"/>
            <a:ext cx="3289706" cy="996696"/>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Tamper-proof transaction logs for faculty &amp; accounts, with automated bulk refunds.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411480" y="347472"/>
            <a:ext cx="384048" cy="384048"/>
          </a:xfrm>
          <a:prstGeom prst="roundRect">
            <a:avLst>
              <a:gd name="adj" fmla="val 19048"/>
            </a:avLst>
          </a:prstGeom>
          <a:solidFill>
            <a:srgbClr val="DC2626"/>
          </a:solidFill>
          <a:ln/>
        </p:spPr>
      </p:sp>
      <p:sp>
        <p:nvSpPr>
          <p:cNvPr id="3" name="Text 1"/>
          <p:cNvSpPr/>
          <p:nvPr/>
        </p:nvSpPr>
        <p:spPr>
          <a:xfrm>
            <a:off x="411480" y="347472"/>
            <a:ext cx="384048" cy="384048"/>
          </a:xfrm>
          <a:prstGeom prst="rect">
            <a:avLst/>
          </a:prstGeom>
          <a:noFill/>
          <a:ln/>
        </p:spPr>
        <p:txBody>
          <a:bodyPr wrap="square" rtlCol="0" anchor="ctr"/>
          <a:lstStyle/>
          <a:p>
            <a:pPr algn="ctr" indent="0" marL="0">
              <a:buNone/>
            </a:pPr>
            <a:r>
              <a:rPr lang="en-US" sz="1600" b="1" dirty="0">
                <a:solidFill>
                  <a:srgbClr val="FFFFFF"/>
                </a:solidFill>
                <a:latin typeface="Chakra Petch" pitchFamily="34" charset="0"/>
                <a:ea typeface="Chakra Petch" pitchFamily="34" charset="-122"/>
                <a:cs typeface="Chakra Petch" pitchFamily="34" charset="-120"/>
              </a:rPr>
              <a:t>N</a:t>
            </a:r>
            <a:endParaRPr lang="en-US" sz="1600" dirty="0"/>
          </a:p>
        </p:txBody>
      </p:sp>
      <p:sp>
        <p:nvSpPr>
          <p:cNvPr id="4" name="Text 2"/>
          <p:cNvSpPr/>
          <p:nvPr/>
        </p:nvSpPr>
        <p:spPr>
          <a:xfrm>
            <a:off x="886968" y="365760"/>
            <a:ext cx="2926080" cy="347472"/>
          </a:xfrm>
          <a:prstGeom prst="rect">
            <a:avLst/>
          </a:prstGeom>
          <a:noFill/>
          <a:ln/>
        </p:spPr>
        <p:txBody>
          <a:bodyPr wrap="square" rtlCol="0" anchor="ctr"/>
          <a:lstStyle/>
          <a:p>
            <a:pPr indent="0" marL="0">
              <a:buNone/>
            </a:pPr>
            <a:r>
              <a:rPr lang="en-US" b="1" dirty="0">
                <a:solidFill>
                  <a:srgbClr val="F5F5F5"/>
                </a:solidFill>
                <a:latin typeface="Chakra Petch" pitchFamily="34" charset="0"/>
                <a:ea typeface="Chakra Petch" pitchFamily="34" charset="-122"/>
                <a:cs typeface="Chakra Petch" pitchFamily="34" charset="-120"/>
              </a:rPr>
              <a:t>NX-913  </a:t>
            </a:r>
            <a:pPr indent="0" marL="0">
              <a:buNone/>
            </a:pPr>
            <a:r>
              <a:rPr lang="en-US" sz="1100" dirty="0">
                <a:solidFill>
                  <a:srgbClr val="71717A"/>
                </a:solidFill>
                <a:latin typeface="Rajdhani" pitchFamily="34" charset="0"/>
                <a:ea typeface="Rajdhani" pitchFamily="34" charset="-122"/>
                <a:cs typeface="Rajdhani" pitchFamily="34" charset="-120"/>
              </a:rPr>
              <a:t>CAMPUS OS</a:t>
            </a:r>
            <a:endParaRPr lang="en-US" sz="1100" dirty="0"/>
          </a:p>
        </p:txBody>
      </p:sp>
      <p:sp>
        <p:nvSpPr>
          <p:cNvPr id="5" name="Text 3"/>
          <p:cNvSpPr/>
          <p:nvPr/>
        </p:nvSpPr>
        <p:spPr>
          <a:xfrm>
            <a:off x="9814255" y="402336"/>
            <a:ext cx="1965960" cy="274320"/>
          </a:xfrm>
          <a:prstGeom prst="rect">
            <a:avLst/>
          </a:prstGeom>
          <a:noFill/>
          <a:ln/>
        </p:spPr>
        <p:txBody>
          <a:bodyPr wrap="square" rtlCol="0" anchor="ctr"/>
          <a:lstStyle/>
          <a:p>
            <a:pPr algn="r" indent="0" marL="0">
              <a:buNone/>
            </a:pPr>
            <a:r>
              <a:rPr lang="en-US" sz="900" spc="200" kern="0" dirty="0">
                <a:solidFill>
                  <a:srgbClr val="71717A"/>
                </a:solidFill>
                <a:latin typeface="JetBrains Mono" pitchFamily="34" charset="0"/>
                <a:ea typeface="JetBrains Mono" pitchFamily="34" charset="-122"/>
                <a:cs typeface="JetBrains Mono" pitchFamily="34" charset="-120"/>
              </a:rPr>
              <a:t>PITCH DECK</a:t>
            </a:r>
            <a:endParaRPr lang="en-US" sz="900" dirty="0"/>
          </a:p>
        </p:txBody>
      </p:sp>
      <p:sp>
        <p:nvSpPr>
          <p:cNvPr id="6" name="Shape 4"/>
          <p:cNvSpPr/>
          <p:nvPr/>
        </p:nvSpPr>
        <p:spPr>
          <a:xfrm>
            <a:off x="411480" y="960120"/>
            <a:ext cx="1143000" cy="347472"/>
          </a:xfrm>
          <a:prstGeom prst="roundRect">
            <a:avLst>
              <a:gd name="adj" fmla="val 50000"/>
            </a:avLst>
          </a:prstGeom>
          <a:solidFill>
            <a:srgbClr val="1A0D0D"/>
          </a:solidFill>
          <a:ln w="12700">
            <a:solidFill>
              <a:srgbClr val="7F1D1D"/>
            </a:solidFill>
            <a:prstDash val="solid"/>
          </a:ln>
        </p:spPr>
      </p:sp>
      <p:sp>
        <p:nvSpPr>
          <p:cNvPr id="7" name="Text 5"/>
          <p:cNvSpPr/>
          <p:nvPr/>
        </p:nvSpPr>
        <p:spPr>
          <a:xfrm>
            <a:off x="411480" y="960120"/>
            <a:ext cx="1143000" cy="347472"/>
          </a:xfrm>
          <a:prstGeom prst="rect">
            <a:avLst/>
          </a:prstGeom>
          <a:noFill/>
          <a:ln/>
        </p:spPr>
        <p:txBody>
          <a:bodyPr wrap="square" rtlCol="0" anchor="ctr"/>
          <a:lstStyle/>
          <a:p>
            <a:pPr algn="ctr" indent="0" marL="0">
              <a:buNone/>
            </a:pPr>
            <a:r>
              <a:rPr lang="en-US" sz="900" spc="100" kern="0" dirty="0">
                <a:solidFill>
                  <a:srgbClr val="F87171"/>
                </a:solidFill>
                <a:latin typeface="JetBrains Mono" pitchFamily="34" charset="0"/>
                <a:ea typeface="JetBrains Mono" pitchFamily="34" charset="-122"/>
                <a:cs typeface="JetBrains Mono" pitchFamily="34" charset="-120"/>
              </a:rPr>
              <a:t>10 HARDWARE &amp; SECURITY</a:t>
            </a:r>
            <a:endParaRPr lang="en-US" sz="900" dirty="0"/>
          </a:p>
        </p:txBody>
      </p:sp>
      <p:sp>
        <p:nvSpPr>
          <p:cNvPr id="8" name="Text 6"/>
          <p:cNvSpPr/>
          <p:nvPr/>
        </p:nvSpPr>
        <p:spPr>
          <a:xfrm>
            <a:off x="384048" y="1371600"/>
            <a:ext cx="11368735" cy="822960"/>
          </a:xfrm>
          <a:prstGeom prst="rect">
            <a:avLst/>
          </a:prstGeom>
          <a:noFill/>
          <a:ln/>
        </p:spPr>
        <p:txBody>
          <a:bodyPr wrap="square" rtlCol="0" anchor="ctr"/>
          <a:lstStyle/>
          <a:p>
            <a:pPr indent="0" marL="0">
              <a:buNone/>
            </a:pPr>
            <a:r>
              <a:rPr lang="en-US" sz="3400" b="1" dirty="0">
                <a:solidFill>
                  <a:srgbClr val="F5F5F5"/>
                </a:solidFill>
                <a:latin typeface="Chakra Petch" pitchFamily="34" charset="0"/>
                <a:ea typeface="Chakra Petch" pitchFamily="34" charset="-122"/>
                <a:cs typeface="Chakra Petch" pitchFamily="34" charset="-120"/>
              </a:rPr>
              <a:t>Organizer Suite — Broadcasts, Assets &amp; Analytics</a:t>
            </a:r>
            <a:endParaRPr lang="en-US" sz="3400" dirty="0"/>
          </a:p>
        </p:txBody>
      </p:sp>
      <p:sp>
        <p:nvSpPr>
          <p:cNvPr id="9" name="Text 7"/>
          <p:cNvSpPr/>
          <p:nvPr/>
        </p:nvSpPr>
        <p:spPr>
          <a:xfrm>
            <a:off x="411480" y="2121408"/>
            <a:ext cx="10545775" cy="411480"/>
          </a:xfrm>
          <a:prstGeom prst="rect">
            <a:avLst/>
          </a:prstGeom>
          <a:noFill/>
          <a:ln/>
        </p:spPr>
        <p:txBody>
          <a:bodyPr wrap="square" rtlCol="0" anchor="t"/>
          <a:lstStyle/>
          <a:p>
            <a:pPr indent="0" marL="0">
              <a:buNone/>
            </a:pPr>
            <a:r>
              <a:rPr lang="en-US" sz="1500" dirty="0">
                <a:solidFill>
                  <a:srgbClr val="9CA3AF"/>
                </a:solidFill>
                <a:latin typeface="Rajdhani" pitchFamily="34" charset="0"/>
                <a:ea typeface="Rajdhani" pitchFamily="34" charset="-122"/>
                <a:cs typeface="Rajdhani" pitchFamily="34" charset="-120"/>
              </a:rPr>
              <a:t>An operations command center for every club and coordinator.</a:t>
            </a:r>
            <a:endParaRPr lang="en-US" sz="1500" dirty="0"/>
          </a:p>
        </p:txBody>
      </p:sp>
      <p:sp>
        <p:nvSpPr>
          <p:cNvPr id="10" name="Shape 8"/>
          <p:cNvSpPr/>
          <p:nvPr/>
        </p:nvSpPr>
        <p:spPr>
          <a:xfrm>
            <a:off x="411480" y="2697480"/>
            <a:ext cx="3655466" cy="1636776"/>
          </a:xfrm>
          <a:prstGeom prst="roundRect">
            <a:avLst>
              <a:gd name="adj" fmla="val 5587"/>
            </a:avLst>
          </a:prstGeom>
          <a:solidFill>
            <a:srgbClr val="0F0F14"/>
          </a:solidFill>
          <a:ln w="12700">
            <a:solidFill>
              <a:srgbClr val="26262D"/>
            </a:solidFill>
            <a:prstDash val="solid"/>
          </a:ln>
        </p:spPr>
      </p:sp>
      <p:sp>
        <p:nvSpPr>
          <p:cNvPr id="11" name="Shape 9"/>
          <p:cNvSpPr/>
          <p:nvPr/>
        </p:nvSpPr>
        <p:spPr>
          <a:xfrm>
            <a:off x="411480" y="2807208"/>
            <a:ext cx="45720" cy="1417320"/>
          </a:xfrm>
          <a:prstGeom prst="rect">
            <a:avLst/>
          </a:prstGeom>
          <a:solidFill>
            <a:srgbClr val="DC2626"/>
          </a:solidFill>
          <a:ln/>
        </p:spPr>
      </p:sp>
      <p:sp>
        <p:nvSpPr>
          <p:cNvPr id="12" name="Text 10"/>
          <p:cNvSpPr/>
          <p:nvPr/>
        </p:nvSpPr>
        <p:spPr>
          <a:xfrm>
            <a:off x="612648" y="2788920"/>
            <a:ext cx="3289706"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Email Broadcast Engine</a:t>
            </a:r>
            <a:endParaRPr lang="en-US" sz="1450" dirty="0"/>
          </a:p>
        </p:txBody>
      </p:sp>
      <p:sp>
        <p:nvSpPr>
          <p:cNvPr id="13" name="Text 11"/>
          <p:cNvSpPr/>
          <p:nvPr/>
        </p:nvSpPr>
        <p:spPr>
          <a:xfrm>
            <a:off x="612648" y="3227832"/>
            <a:ext cx="3289706" cy="996696"/>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Segmented 1-click updates to registered attendees, shortlisted teams or everyone.</a:t>
            </a:r>
            <a:endParaRPr lang="en-US" sz="1250" dirty="0"/>
          </a:p>
        </p:txBody>
      </p:sp>
      <p:sp>
        <p:nvSpPr>
          <p:cNvPr id="14" name="Shape 12"/>
          <p:cNvSpPr/>
          <p:nvPr/>
        </p:nvSpPr>
        <p:spPr>
          <a:xfrm>
            <a:off x="4268114" y="2697480"/>
            <a:ext cx="3655466" cy="1636776"/>
          </a:xfrm>
          <a:prstGeom prst="roundRect">
            <a:avLst>
              <a:gd name="adj" fmla="val 5587"/>
            </a:avLst>
          </a:prstGeom>
          <a:solidFill>
            <a:srgbClr val="0F0F14"/>
          </a:solidFill>
          <a:ln w="12700">
            <a:solidFill>
              <a:srgbClr val="26262D"/>
            </a:solidFill>
            <a:prstDash val="solid"/>
          </a:ln>
        </p:spPr>
      </p:sp>
      <p:sp>
        <p:nvSpPr>
          <p:cNvPr id="15" name="Shape 13"/>
          <p:cNvSpPr/>
          <p:nvPr/>
        </p:nvSpPr>
        <p:spPr>
          <a:xfrm>
            <a:off x="4268114" y="2807208"/>
            <a:ext cx="45720" cy="1417320"/>
          </a:xfrm>
          <a:prstGeom prst="rect">
            <a:avLst/>
          </a:prstGeom>
          <a:solidFill>
            <a:srgbClr val="DC2626"/>
          </a:solidFill>
          <a:ln/>
        </p:spPr>
      </p:sp>
      <p:sp>
        <p:nvSpPr>
          <p:cNvPr id="16" name="Text 14"/>
          <p:cNvSpPr/>
          <p:nvPr/>
        </p:nvSpPr>
        <p:spPr>
          <a:xfrm>
            <a:off x="4469282" y="2788920"/>
            <a:ext cx="3289706"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Platform Asset Library</a:t>
            </a:r>
            <a:endParaRPr lang="en-US" sz="1450" dirty="0"/>
          </a:p>
        </p:txBody>
      </p:sp>
      <p:sp>
        <p:nvSpPr>
          <p:cNvPr id="17" name="Text 15"/>
          <p:cNvSpPr/>
          <p:nvPr/>
        </p:nvSpPr>
        <p:spPr>
          <a:xfrm>
            <a:off x="4469282" y="3227832"/>
            <a:ext cx="3289706" cy="996696"/>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Central repository for college banners, department logos, sponsor decks &amp; guidelines.</a:t>
            </a:r>
            <a:endParaRPr lang="en-US" sz="1250" dirty="0"/>
          </a:p>
        </p:txBody>
      </p:sp>
      <p:sp>
        <p:nvSpPr>
          <p:cNvPr id="18" name="Shape 16"/>
          <p:cNvSpPr/>
          <p:nvPr/>
        </p:nvSpPr>
        <p:spPr>
          <a:xfrm>
            <a:off x="8124749" y="2697480"/>
            <a:ext cx="3655466" cy="1636776"/>
          </a:xfrm>
          <a:prstGeom prst="roundRect">
            <a:avLst>
              <a:gd name="adj" fmla="val 5587"/>
            </a:avLst>
          </a:prstGeom>
          <a:solidFill>
            <a:srgbClr val="0F0F14"/>
          </a:solidFill>
          <a:ln w="12700">
            <a:solidFill>
              <a:srgbClr val="26262D"/>
            </a:solidFill>
            <a:prstDash val="solid"/>
          </a:ln>
        </p:spPr>
      </p:sp>
      <p:sp>
        <p:nvSpPr>
          <p:cNvPr id="19" name="Shape 17"/>
          <p:cNvSpPr/>
          <p:nvPr/>
        </p:nvSpPr>
        <p:spPr>
          <a:xfrm>
            <a:off x="8124749" y="2807208"/>
            <a:ext cx="45720" cy="1417320"/>
          </a:xfrm>
          <a:prstGeom prst="rect">
            <a:avLst/>
          </a:prstGeom>
          <a:solidFill>
            <a:srgbClr val="DC2626"/>
          </a:solidFill>
          <a:ln/>
        </p:spPr>
      </p:sp>
      <p:sp>
        <p:nvSpPr>
          <p:cNvPr id="20" name="Text 18"/>
          <p:cNvSpPr/>
          <p:nvPr/>
        </p:nvSpPr>
        <p:spPr>
          <a:xfrm>
            <a:off x="8325917" y="2788920"/>
            <a:ext cx="3289706"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Live Analytics &amp; Intelligence</a:t>
            </a:r>
            <a:endParaRPr lang="en-US" sz="1450" dirty="0"/>
          </a:p>
        </p:txBody>
      </p:sp>
      <p:sp>
        <p:nvSpPr>
          <p:cNvPr id="21" name="Text 19"/>
          <p:cNvSpPr/>
          <p:nvPr/>
        </p:nvSpPr>
        <p:spPr>
          <a:xfrm>
            <a:off x="8325917" y="3227832"/>
            <a:ext cx="3289706" cy="996696"/>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Registration velocity, drop-off rates, revenue &amp; venue capacity in real time.</a:t>
            </a:r>
            <a:endParaRPr lang="en-US" sz="1250" dirty="0"/>
          </a:p>
        </p:txBody>
      </p:sp>
      <p:sp>
        <p:nvSpPr>
          <p:cNvPr id="22" name="Shape 20"/>
          <p:cNvSpPr/>
          <p:nvPr/>
        </p:nvSpPr>
        <p:spPr>
          <a:xfrm>
            <a:off x="411480" y="4535424"/>
            <a:ext cx="3655466" cy="1636776"/>
          </a:xfrm>
          <a:prstGeom prst="roundRect">
            <a:avLst>
              <a:gd name="adj" fmla="val 5587"/>
            </a:avLst>
          </a:prstGeom>
          <a:solidFill>
            <a:srgbClr val="0F0F14"/>
          </a:solidFill>
          <a:ln w="12700">
            <a:solidFill>
              <a:srgbClr val="26262D"/>
            </a:solidFill>
            <a:prstDash val="solid"/>
          </a:ln>
        </p:spPr>
      </p:sp>
      <p:sp>
        <p:nvSpPr>
          <p:cNvPr id="23" name="Shape 21"/>
          <p:cNvSpPr/>
          <p:nvPr/>
        </p:nvSpPr>
        <p:spPr>
          <a:xfrm>
            <a:off x="411480" y="4645152"/>
            <a:ext cx="45720" cy="1417320"/>
          </a:xfrm>
          <a:prstGeom prst="rect">
            <a:avLst/>
          </a:prstGeom>
          <a:solidFill>
            <a:srgbClr val="DC2626"/>
          </a:solidFill>
          <a:ln/>
        </p:spPr>
      </p:sp>
      <p:sp>
        <p:nvSpPr>
          <p:cNvPr id="24" name="Text 22"/>
          <p:cNvSpPr/>
          <p:nvPr/>
        </p:nvSpPr>
        <p:spPr>
          <a:xfrm>
            <a:off x="612648" y="4626864"/>
            <a:ext cx="3289706"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24/7 AI Attendee Assistant</a:t>
            </a:r>
            <a:endParaRPr lang="en-US" sz="1450" dirty="0"/>
          </a:p>
        </p:txBody>
      </p:sp>
      <p:sp>
        <p:nvSpPr>
          <p:cNvPr id="25" name="Text 23"/>
          <p:cNvSpPr/>
          <p:nvPr/>
        </p:nvSpPr>
        <p:spPr>
          <a:xfrm>
            <a:off x="612648" y="5065776"/>
            <a:ext cx="3289706" cy="996696"/>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Low-latency Groq + Gemini chatbot answering schedule, venue, rules &amp; contact FAQs.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411480" y="347472"/>
            <a:ext cx="384048" cy="384048"/>
          </a:xfrm>
          <a:prstGeom prst="roundRect">
            <a:avLst>
              <a:gd name="adj" fmla="val 19048"/>
            </a:avLst>
          </a:prstGeom>
          <a:solidFill>
            <a:srgbClr val="DC2626"/>
          </a:solidFill>
          <a:ln/>
        </p:spPr>
      </p:sp>
      <p:sp>
        <p:nvSpPr>
          <p:cNvPr id="3" name="Text 1"/>
          <p:cNvSpPr/>
          <p:nvPr/>
        </p:nvSpPr>
        <p:spPr>
          <a:xfrm>
            <a:off x="411480" y="347472"/>
            <a:ext cx="384048" cy="384048"/>
          </a:xfrm>
          <a:prstGeom prst="rect">
            <a:avLst/>
          </a:prstGeom>
          <a:noFill/>
          <a:ln/>
        </p:spPr>
        <p:txBody>
          <a:bodyPr wrap="square" rtlCol="0" anchor="ctr"/>
          <a:lstStyle/>
          <a:p>
            <a:pPr algn="ctr" indent="0" marL="0">
              <a:buNone/>
            </a:pPr>
            <a:r>
              <a:rPr lang="en-US" sz="1600" b="1" dirty="0">
                <a:solidFill>
                  <a:srgbClr val="FFFFFF"/>
                </a:solidFill>
                <a:latin typeface="Chakra Petch" pitchFamily="34" charset="0"/>
                <a:ea typeface="Chakra Petch" pitchFamily="34" charset="-122"/>
                <a:cs typeface="Chakra Petch" pitchFamily="34" charset="-120"/>
              </a:rPr>
              <a:t>N</a:t>
            </a:r>
            <a:endParaRPr lang="en-US" sz="1600" dirty="0"/>
          </a:p>
        </p:txBody>
      </p:sp>
      <p:sp>
        <p:nvSpPr>
          <p:cNvPr id="4" name="Text 2"/>
          <p:cNvSpPr/>
          <p:nvPr/>
        </p:nvSpPr>
        <p:spPr>
          <a:xfrm>
            <a:off x="886968" y="365760"/>
            <a:ext cx="2926080" cy="347472"/>
          </a:xfrm>
          <a:prstGeom prst="rect">
            <a:avLst/>
          </a:prstGeom>
          <a:noFill/>
          <a:ln/>
        </p:spPr>
        <p:txBody>
          <a:bodyPr wrap="square" rtlCol="0" anchor="ctr"/>
          <a:lstStyle/>
          <a:p>
            <a:pPr indent="0" marL="0">
              <a:buNone/>
            </a:pPr>
            <a:r>
              <a:rPr lang="en-US" b="1" dirty="0">
                <a:solidFill>
                  <a:srgbClr val="F5F5F5"/>
                </a:solidFill>
                <a:latin typeface="Chakra Petch" pitchFamily="34" charset="0"/>
                <a:ea typeface="Chakra Petch" pitchFamily="34" charset="-122"/>
                <a:cs typeface="Chakra Petch" pitchFamily="34" charset="-120"/>
              </a:rPr>
              <a:t>NX-913  </a:t>
            </a:r>
            <a:pPr indent="0" marL="0">
              <a:buNone/>
            </a:pPr>
            <a:r>
              <a:rPr lang="en-US" sz="1100" dirty="0">
                <a:solidFill>
                  <a:srgbClr val="71717A"/>
                </a:solidFill>
                <a:latin typeface="Rajdhani" pitchFamily="34" charset="0"/>
                <a:ea typeface="Rajdhani" pitchFamily="34" charset="-122"/>
                <a:cs typeface="Rajdhani" pitchFamily="34" charset="-120"/>
              </a:rPr>
              <a:t>CAMPUS OS</a:t>
            </a:r>
            <a:endParaRPr lang="en-US" sz="1100" dirty="0"/>
          </a:p>
        </p:txBody>
      </p:sp>
      <p:sp>
        <p:nvSpPr>
          <p:cNvPr id="5" name="Text 3"/>
          <p:cNvSpPr/>
          <p:nvPr/>
        </p:nvSpPr>
        <p:spPr>
          <a:xfrm>
            <a:off x="9814255" y="402336"/>
            <a:ext cx="1965960" cy="274320"/>
          </a:xfrm>
          <a:prstGeom prst="rect">
            <a:avLst/>
          </a:prstGeom>
          <a:noFill/>
          <a:ln/>
        </p:spPr>
        <p:txBody>
          <a:bodyPr wrap="square" rtlCol="0" anchor="ctr"/>
          <a:lstStyle/>
          <a:p>
            <a:pPr algn="r" indent="0" marL="0">
              <a:buNone/>
            </a:pPr>
            <a:r>
              <a:rPr lang="en-US" sz="900" spc="200" kern="0" dirty="0">
                <a:solidFill>
                  <a:srgbClr val="71717A"/>
                </a:solidFill>
                <a:latin typeface="JetBrains Mono" pitchFamily="34" charset="0"/>
                <a:ea typeface="JetBrains Mono" pitchFamily="34" charset="-122"/>
                <a:cs typeface="JetBrains Mono" pitchFamily="34" charset="-120"/>
              </a:rPr>
              <a:t>PITCH DECK</a:t>
            </a:r>
            <a:endParaRPr lang="en-US" sz="900" dirty="0"/>
          </a:p>
        </p:txBody>
      </p:sp>
      <p:sp>
        <p:nvSpPr>
          <p:cNvPr id="6" name="Shape 4"/>
          <p:cNvSpPr/>
          <p:nvPr/>
        </p:nvSpPr>
        <p:spPr>
          <a:xfrm>
            <a:off x="411480" y="960120"/>
            <a:ext cx="1143000" cy="347472"/>
          </a:xfrm>
          <a:prstGeom prst="roundRect">
            <a:avLst>
              <a:gd name="adj" fmla="val 50000"/>
            </a:avLst>
          </a:prstGeom>
          <a:solidFill>
            <a:srgbClr val="1A0D0D"/>
          </a:solidFill>
          <a:ln w="12700">
            <a:solidFill>
              <a:srgbClr val="7F1D1D"/>
            </a:solidFill>
            <a:prstDash val="solid"/>
          </a:ln>
        </p:spPr>
      </p:sp>
      <p:sp>
        <p:nvSpPr>
          <p:cNvPr id="7" name="Text 5"/>
          <p:cNvSpPr/>
          <p:nvPr/>
        </p:nvSpPr>
        <p:spPr>
          <a:xfrm>
            <a:off x="411480" y="960120"/>
            <a:ext cx="1143000" cy="347472"/>
          </a:xfrm>
          <a:prstGeom prst="rect">
            <a:avLst/>
          </a:prstGeom>
          <a:noFill/>
          <a:ln/>
        </p:spPr>
        <p:txBody>
          <a:bodyPr wrap="square" rtlCol="0" anchor="ctr"/>
          <a:lstStyle/>
          <a:p>
            <a:pPr algn="ctr" indent="0" marL="0">
              <a:buNone/>
            </a:pPr>
            <a:r>
              <a:rPr lang="en-US" sz="900" spc="100" kern="0" dirty="0">
                <a:solidFill>
                  <a:srgbClr val="F87171"/>
                </a:solidFill>
                <a:latin typeface="JetBrains Mono" pitchFamily="34" charset="0"/>
                <a:ea typeface="JetBrains Mono" pitchFamily="34" charset="-122"/>
                <a:cs typeface="JetBrains Mono" pitchFamily="34" charset="-120"/>
              </a:rPr>
              <a:t>11 HARDWARE &amp; SECURITY</a:t>
            </a:r>
            <a:endParaRPr lang="en-US" sz="900" dirty="0"/>
          </a:p>
        </p:txBody>
      </p:sp>
      <p:sp>
        <p:nvSpPr>
          <p:cNvPr id="8" name="Text 6"/>
          <p:cNvSpPr/>
          <p:nvPr/>
        </p:nvSpPr>
        <p:spPr>
          <a:xfrm>
            <a:off x="384048" y="1371600"/>
            <a:ext cx="11368735" cy="822960"/>
          </a:xfrm>
          <a:prstGeom prst="rect">
            <a:avLst/>
          </a:prstGeom>
          <a:noFill/>
          <a:ln/>
        </p:spPr>
        <p:txBody>
          <a:bodyPr wrap="square" rtlCol="0" anchor="ctr"/>
          <a:lstStyle/>
          <a:p>
            <a:pPr indent="0" marL="0">
              <a:buNone/>
            </a:pPr>
            <a:r>
              <a:rPr lang="en-US" sz="3400" b="1" dirty="0">
                <a:solidFill>
                  <a:srgbClr val="F5F5F5"/>
                </a:solidFill>
                <a:latin typeface="Chakra Petch" pitchFamily="34" charset="0"/>
                <a:ea typeface="Chakra Petch" pitchFamily="34" charset="-122"/>
                <a:cs typeface="Chakra Petch" pitchFamily="34" charset="-120"/>
              </a:rPr>
              <a:t>Enterprise Architecture, Performance &amp; Security</a:t>
            </a:r>
            <a:endParaRPr lang="en-US" sz="3400" dirty="0"/>
          </a:p>
        </p:txBody>
      </p:sp>
      <p:sp>
        <p:nvSpPr>
          <p:cNvPr id="9" name="Text 7"/>
          <p:cNvSpPr/>
          <p:nvPr/>
        </p:nvSpPr>
        <p:spPr>
          <a:xfrm>
            <a:off x="411480" y="2121408"/>
            <a:ext cx="10545775" cy="411480"/>
          </a:xfrm>
          <a:prstGeom prst="rect">
            <a:avLst/>
          </a:prstGeom>
          <a:noFill/>
          <a:ln/>
        </p:spPr>
        <p:txBody>
          <a:bodyPr wrap="square" rtlCol="0" anchor="t"/>
          <a:lstStyle/>
          <a:p>
            <a:pPr indent="0" marL="0">
              <a:buNone/>
            </a:pPr>
            <a:r>
              <a:rPr lang="en-US" sz="1500" dirty="0">
                <a:solidFill>
                  <a:srgbClr val="9CA3AF"/>
                </a:solidFill>
                <a:latin typeface="Rajdhani" pitchFamily="34" charset="0"/>
                <a:ea typeface="Rajdhani" pitchFamily="34" charset="-122"/>
                <a:cs typeface="Rajdhani" pitchFamily="34" charset="-120"/>
              </a:rPr>
              <a:t>Built to survive the 2,000-student same-second registration rush.</a:t>
            </a:r>
            <a:endParaRPr lang="en-US" sz="1500" dirty="0"/>
          </a:p>
        </p:txBody>
      </p:sp>
      <p:sp>
        <p:nvSpPr>
          <p:cNvPr id="10" name="Shape 8"/>
          <p:cNvSpPr/>
          <p:nvPr/>
        </p:nvSpPr>
        <p:spPr>
          <a:xfrm>
            <a:off x="411480" y="2697480"/>
            <a:ext cx="3655466" cy="1636776"/>
          </a:xfrm>
          <a:prstGeom prst="roundRect">
            <a:avLst>
              <a:gd name="adj" fmla="val 5587"/>
            </a:avLst>
          </a:prstGeom>
          <a:solidFill>
            <a:srgbClr val="0F0F14"/>
          </a:solidFill>
          <a:ln w="12700">
            <a:solidFill>
              <a:srgbClr val="26262D"/>
            </a:solidFill>
            <a:prstDash val="solid"/>
          </a:ln>
        </p:spPr>
      </p:sp>
      <p:sp>
        <p:nvSpPr>
          <p:cNvPr id="11" name="Shape 9"/>
          <p:cNvSpPr/>
          <p:nvPr/>
        </p:nvSpPr>
        <p:spPr>
          <a:xfrm>
            <a:off x="411480" y="2807208"/>
            <a:ext cx="45720" cy="1417320"/>
          </a:xfrm>
          <a:prstGeom prst="rect">
            <a:avLst/>
          </a:prstGeom>
          <a:solidFill>
            <a:srgbClr val="DC2626"/>
          </a:solidFill>
          <a:ln/>
        </p:spPr>
      </p:sp>
      <p:sp>
        <p:nvSpPr>
          <p:cNvPr id="12" name="Text 10"/>
          <p:cNvSpPr/>
          <p:nvPr/>
        </p:nvSpPr>
        <p:spPr>
          <a:xfrm>
            <a:off x="612648" y="2788920"/>
            <a:ext cx="3289706"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Frontend</a:t>
            </a:r>
            <a:endParaRPr lang="en-US" sz="1450" dirty="0"/>
          </a:p>
        </p:txBody>
      </p:sp>
      <p:sp>
        <p:nvSpPr>
          <p:cNvPr id="13" name="Text 11"/>
          <p:cNvSpPr/>
          <p:nvPr/>
        </p:nvSpPr>
        <p:spPr>
          <a:xfrm>
            <a:off x="612648" y="3227832"/>
            <a:ext cx="3289706" cy="996696"/>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Next.js 16 (App Router, SSR/SSG) · React 19 · Tailwind CSS · Zustand · Framer Motion · PWA offline.</a:t>
            </a:r>
            <a:endParaRPr lang="en-US" sz="1250" dirty="0"/>
          </a:p>
        </p:txBody>
      </p:sp>
      <p:sp>
        <p:nvSpPr>
          <p:cNvPr id="14" name="Shape 12"/>
          <p:cNvSpPr/>
          <p:nvPr/>
        </p:nvSpPr>
        <p:spPr>
          <a:xfrm>
            <a:off x="4268114" y="2697480"/>
            <a:ext cx="3655466" cy="1636776"/>
          </a:xfrm>
          <a:prstGeom prst="roundRect">
            <a:avLst>
              <a:gd name="adj" fmla="val 5587"/>
            </a:avLst>
          </a:prstGeom>
          <a:solidFill>
            <a:srgbClr val="0F0F14"/>
          </a:solidFill>
          <a:ln w="12700">
            <a:solidFill>
              <a:srgbClr val="26262D"/>
            </a:solidFill>
            <a:prstDash val="solid"/>
          </a:ln>
        </p:spPr>
      </p:sp>
      <p:sp>
        <p:nvSpPr>
          <p:cNvPr id="15" name="Shape 13"/>
          <p:cNvSpPr/>
          <p:nvPr/>
        </p:nvSpPr>
        <p:spPr>
          <a:xfrm>
            <a:off x="4268114" y="2807208"/>
            <a:ext cx="45720" cy="1417320"/>
          </a:xfrm>
          <a:prstGeom prst="rect">
            <a:avLst/>
          </a:prstGeom>
          <a:solidFill>
            <a:srgbClr val="DC2626"/>
          </a:solidFill>
          <a:ln/>
        </p:spPr>
      </p:sp>
      <p:sp>
        <p:nvSpPr>
          <p:cNvPr id="16" name="Text 14"/>
          <p:cNvSpPr/>
          <p:nvPr/>
        </p:nvSpPr>
        <p:spPr>
          <a:xfrm>
            <a:off x="4469282" y="2788920"/>
            <a:ext cx="3289706"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Backend</a:t>
            </a:r>
            <a:endParaRPr lang="en-US" sz="1450" dirty="0"/>
          </a:p>
        </p:txBody>
      </p:sp>
      <p:sp>
        <p:nvSpPr>
          <p:cNvPr id="17" name="Text 15"/>
          <p:cNvSpPr/>
          <p:nvPr/>
        </p:nvSpPr>
        <p:spPr>
          <a:xfrm>
            <a:off x="4469282" y="3227832"/>
            <a:ext cx="3289706" cy="996696"/>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Node.js 22 · Express.js · TypeScript · Mongoose ODM · REST API.</a:t>
            </a:r>
            <a:endParaRPr lang="en-US" sz="1250" dirty="0"/>
          </a:p>
        </p:txBody>
      </p:sp>
      <p:sp>
        <p:nvSpPr>
          <p:cNvPr id="18" name="Shape 16"/>
          <p:cNvSpPr/>
          <p:nvPr/>
        </p:nvSpPr>
        <p:spPr>
          <a:xfrm>
            <a:off x="8124749" y="2697480"/>
            <a:ext cx="3655466" cy="1636776"/>
          </a:xfrm>
          <a:prstGeom prst="roundRect">
            <a:avLst>
              <a:gd name="adj" fmla="val 5587"/>
            </a:avLst>
          </a:prstGeom>
          <a:solidFill>
            <a:srgbClr val="0F0F14"/>
          </a:solidFill>
          <a:ln w="12700">
            <a:solidFill>
              <a:srgbClr val="26262D"/>
            </a:solidFill>
            <a:prstDash val="solid"/>
          </a:ln>
        </p:spPr>
      </p:sp>
      <p:sp>
        <p:nvSpPr>
          <p:cNvPr id="19" name="Shape 17"/>
          <p:cNvSpPr/>
          <p:nvPr/>
        </p:nvSpPr>
        <p:spPr>
          <a:xfrm>
            <a:off x="8124749" y="2807208"/>
            <a:ext cx="45720" cy="1417320"/>
          </a:xfrm>
          <a:prstGeom prst="rect">
            <a:avLst/>
          </a:prstGeom>
          <a:solidFill>
            <a:srgbClr val="DC2626"/>
          </a:solidFill>
          <a:ln/>
        </p:spPr>
      </p:sp>
      <p:sp>
        <p:nvSpPr>
          <p:cNvPr id="20" name="Text 18"/>
          <p:cNvSpPr/>
          <p:nvPr/>
        </p:nvSpPr>
        <p:spPr>
          <a:xfrm>
            <a:off x="8325917" y="2788920"/>
            <a:ext cx="3289706"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Async Processing</a:t>
            </a:r>
            <a:endParaRPr lang="en-US" sz="1450" dirty="0"/>
          </a:p>
        </p:txBody>
      </p:sp>
      <p:sp>
        <p:nvSpPr>
          <p:cNvPr id="21" name="Text 19"/>
          <p:cNvSpPr/>
          <p:nvPr/>
        </p:nvSpPr>
        <p:spPr>
          <a:xfrm>
            <a:off x="8325917" y="3227832"/>
            <a:ext cx="3289706" cy="996696"/>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Redis &amp; BullMQ workers — Puppeteer PDF rendering, certificate generation, Nodemailer/Resend bulk mailers.</a:t>
            </a:r>
            <a:endParaRPr lang="en-US" sz="1250" dirty="0"/>
          </a:p>
        </p:txBody>
      </p:sp>
      <p:sp>
        <p:nvSpPr>
          <p:cNvPr id="22" name="Shape 20"/>
          <p:cNvSpPr/>
          <p:nvPr/>
        </p:nvSpPr>
        <p:spPr>
          <a:xfrm>
            <a:off x="411480" y="4535424"/>
            <a:ext cx="3655466" cy="1636776"/>
          </a:xfrm>
          <a:prstGeom prst="roundRect">
            <a:avLst>
              <a:gd name="adj" fmla="val 5587"/>
            </a:avLst>
          </a:prstGeom>
          <a:solidFill>
            <a:srgbClr val="0F0F14"/>
          </a:solidFill>
          <a:ln w="12700">
            <a:solidFill>
              <a:srgbClr val="26262D"/>
            </a:solidFill>
            <a:prstDash val="solid"/>
          </a:ln>
        </p:spPr>
      </p:sp>
      <p:sp>
        <p:nvSpPr>
          <p:cNvPr id="23" name="Shape 21"/>
          <p:cNvSpPr/>
          <p:nvPr/>
        </p:nvSpPr>
        <p:spPr>
          <a:xfrm>
            <a:off x="411480" y="4645152"/>
            <a:ext cx="45720" cy="1417320"/>
          </a:xfrm>
          <a:prstGeom prst="rect">
            <a:avLst/>
          </a:prstGeom>
          <a:solidFill>
            <a:srgbClr val="DC2626"/>
          </a:solidFill>
          <a:ln/>
        </p:spPr>
      </p:sp>
      <p:sp>
        <p:nvSpPr>
          <p:cNvPr id="24" name="Text 22"/>
          <p:cNvSpPr/>
          <p:nvPr/>
        </p:nvSpPr>
        <p:spPr>
          <a:xfrm>
            <a:off x="612648" y="4626864"/>
            <a:ext cx="3289706"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Enterprise Security</a:t>
            </a:r>
            <a:endParaRPr lang="en-US" sz="1450" dirty="0"/>
          </a:p>
        </p:txBody>
      </p:sp>
      <p:sp>
        <p:nvSpPr>
          <p:cNvPr id="25" name="Text 23"/>
          <p:cNvSpPr/>
          <p:nvPr/>
        </p:nvSpPr>
        <p:spPr>
          <a:xfrm>
            <a:off x="612648" y="5065776"/>
            <a:ext cx="3289706" cy="996696"/>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JWT + refresh rotation, HTTP-only cookies, RBAC &amp; CSRF, rate limiting, Helmet, Zod validation, audit logs &amp; Sentry.</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411480" y="347472"/>
            <a:ext cx="384048" cy="384048"/>
          </a:xfrm>
          <a:prstGeom prst="roundRect">
            <a:avLst>
              <a:gd name="adj" fmla="val 19048"/>
            </a:avLst>
          </a:prstGeom>
          <a:solidFill>
            <a:srgbClr val="DC2626"/>
          </a:solidFill>
          <a:ln/>
        </p:spPr>
      </p:sp>
      <p:sp>
        <p:nvSpPr>
          <p:cNvPr id="3" name="Text 1"/>
          <p:cNvSpPr/>
          <p:nvPr/>
        </p:nvSpPr>
        <p:spPr>
          <a:xfrm>
            <a:off x="411480" y="347472"/>
            <a:ext cx="384048" cy="384048"/>
          </a:xfrm>
          <a:prstGeom prst="rect">
            <a:avLst/>
          </a:prstGeom>
          <a:noFill/>
          <a:ln/>
        </p:spPr>
        <p:txBody>
          <a:bodyPr wrap="square" rtlCol="0" anchor="ctr"/>
          <a:lstStyle/>
          <a:p>
            <a:pPr algn="ctr" indent="0" marL="0">
              <a:buNone/>
            </a:pPr>
            <a:r>
              <a:rPr lang="en-US" sz="1600" b="1" dirty="0">
                <a:solidFill>
                  <a:srgbClr val="FFFFFF"/>
                </a:solidFill>
                <a:latin typeface="Chakra Petch" pitchFamily="34" charset="0"/>
                <a:ea typeface="Chakra Petch" pitchFamily="34" charset="-122"/>
                <a:cs typeface="Chakra Petch" pitchFamily="34" charset="-120"/>
              </a:rPr>
              <a:t>N</a:t>
            </a:r>
            <a:endParaRPr lang="en-US" sz="1600" dirty="0"/>
          </a:p>
        </p:txBody>
      </p:sp>
      <p:sp>
        <p:nvSpPr>
          <p:cNvPr id="4" name="Text 2"/>
          <p:cNvSpPr/>
          <p:nvPr/>
        </p:nvSpPr>
        <p:spPr>
          <a:xfrm>
            <a:off x="886968" y="365760"/>
            <a:ext cx="2926080" cy="347472"/>
          </a:xfrm>
          <a:prstGeom prst="rect">
            <a:avLst/>
          </a:prstGeom>
          <a:noFill/>
          <a:ln/>
        </p:spPr>
        <p:txBody>
          <a:bodyPr wrap="square" rtlCol="0" anchor="ctr"/>
          <a:lstStyle/>
          <a:p>
            <a:pPr indent="0" marL="0">
              <a:buNone/>
            </a:pPr>
            <a:r>
              <a:rPr lang="en-US" b="1" dirty="0">
                <a:solidFill>
                  <a:srgbClr val="F5F5F5"/>
                </a:solidFill>
                <a:latin typeface="Chakra Petch" pitchFamily="34" charset="0"/>
                <a:ea typeface="Chakra Petch" pitchFamily="34" charset="-122"/>
                <a:cs typeface="Chakra Petch" pitchFamily="34" charset="-120"/>
              </a:rPr>
              <a:t>NX-913  </a:t>
            </a:r>
            <a:pPr indent="0" marL="0">
              <a:buNone/>
            </a:pPr>
            <a:r>
              <a:rPr lang="en-US" sz="1100" dirty="0">
                <a:solidFill>
                  <a:srgbClr val="71717A"/>
                </a:solidFill>
                <a:latin typeface="Rajdhani" pitchFamily="34" charset="0"/>
                <a:ea typeface="Rajdhani" pitchFamily="34" charset="-122"/>
                <a:cs typeface="Rajdhani" pitchFamily="34" charset="-120"/>
              </a:rPr>
              <a:t>CAMPUS OS</a:t>
            </a:r>
            <a:endParaRPr lang="en-US" sz="1100" dirty="0"/>
          </a:p>
        </p:txBody>
      </p:sp>
      <p:sp>
        <p:nvSpPr>
          <p:cNvPr id="5" name="Text 3"/>
          <p:cNvSpPr/>
          <p:nvPr/>
        </p:nvSpPr>
        <p:spPr>
          <a:xfrm>
            <a:off x="9814255" y="402336"/>
            <a:ext cx="1965960" cy="274320"/>
          </a:xfrm>
          <a:prstGeom prst="rect">
            <a:avLst/>
          </a:prstGeom>
          <a:noFill/>
          <a:ln/>
        </p:spPr>
        <p:txBody>
          <a:bodyPr wrap="square" rtlCol="0" anchor="ctr"/>
          <a:lstStyle/>
          <a:p>
            <a:pPr algn="r" indent="0" marL="0">
              <a:buNone/>
            </a:pPr>
            <a:r>
              <a:rPr lang="en-US" sz="900" spc="200" kern="0" dirty="0">
                <a:solidFill>
                  <a:srgbClr val="71717A"/>
                </a:solidFill>
                <a:latin typeface="JetBrains Mono" pitchFamily="34" charset="0"/>
                <a:ea typeface="JetBrains Mono" pitchFamily="34" charset="-122"/>
                <a:cs typeface="JetBrains Mono" pitchFamily="34" charset="-120"/>
              </a:rPr>
              <a:t>PITCH DECK</a:t>
            </a:r>
            <a:endParaRPr lang="en-US" sz="900" dirty="0"/>
          </a:p>
        </p:txBody>
      </p:sp>
      <p:sp>
        <p:nvSpPr>
          <p:cNvPr id="6" name="Shape 4"/>
          <p:cNvSpPr/>
          <p:nvPr/>
        </p:nvSpPr>
        <p:spPr>
          <a:xfrm>
            <a:off x="411480" y="960120"/>
            <a:ext cx="1143000" cy="347472"/>
          </a:xfrm>
          <a:prstGeom prst="roundRect">
            <a:avLst>
              <a:gd name="adj" fmla="val 50000"/>
            </a:avLst>
          </a:prstGeom>
          <a:solidFill>
            <a:srgbClr val="1A0D0D"/>
          </a:solidFill>
          <a:ln w="12700">
            <a:solidFill>
              <a:srgbClr val="7F1D1D"/>
            </a:solidFill>
            <a:prstDash val="solid"/>
          </a:ln>
        </p:spPr>
      </p:sp>
      <p:sp>
        <p:nvSpPr>
          <p:cNvPr id="7" name="Text 5"/>
          <p:cNvSpPr/>
          <p:nvPr/>
        </p:nvSpPr>
        <p:spPr>
          <a:xfrm>
            <a:off x="411480" y="960120"/>
            <a:ext cx="1143000" cy="347472"/>
          </a:xfrm>
          <a:prstGeom prst="rect">
            <a:avLst/>
          </a:prstGeom>
          <a:noFill/>
          <a:ln/>
        </p:spPr>
        <p:txBody>
          <a:bodyPr wrap="square" rtlCol="0" anchor="ctr"/>
          <a:lstStyle/>
          <a:p>
            <a:pPr algn="ctr" indent="0" marL="0">
              <a:buNone/>
            </a:pPr>
            <a:r>
              <a:rPr lang="en-US" sz="900" spc="100" kern="0" dirty="0">
                <a:solidFill>
                  <a:srgbClr val="F87171"/>
                </a:solidFill>
                <a:latin typeface="JetBrains Mono" pitchFamily="34" charset="0"/>
                <a:ea typeface="JetBrains Mono" pitchFamily="34" charset="-122"/>
                <a:cs typeface="JetBrains Mono" pitchFamily="34" charset="-120"/>
              </a:rPr>
              <a:t>12 HARDWARE &amp; SECURITY</a:t>
            </a:r>
            <a:endParaRPr lang="en-US" sz="900" dirty="0"/>
          </a:p>
        </p:txBody>
      </p:sp>
      <p:sp>
        <p:nvSpPr>
          <p:cNvPr id="8" name="Text 6"/>
          <p:cNvSpPr/>
          <p:nvPr/>
        </p:nvSpPr>
        <p:spPr>
          <a:xfrm>
            <a:off x="384048" y="1371600"/>
            <a:ext cx="11368735" cy="822960"/>
          </a:xfrm>
          <a:prstGeom prst="rect">
            <a:avLst/>
          </a:prstGeom>
          <a:noFill/>
          <a:ln/>
        </p:spPr>
        <p:txBody>
          <a:bodyPr wrap="square" rtlCol="0" anchor="ctr"/>
          <a:lstStyle/>
          <a:p>
            <a:pPr indent="0" marL="0">
              <a:buNone/>
            </a:pPr>
            <a:r>
              <a:rPr lang="en-US" sz="3400" b="1" dirty="0">
                <a:solidFill>
                  <a:srgbClr val="F5F5F5"/>
                </a:solidFill>
                <a:latin typeface="Chakra Petch" pitchFamily="34" charset="0"/>
                <a:ea typeface="Chakra Petch" pitchFamily="34" charset="-122"/>
                <a:cs typeface="Chakra Petch" pitchFamily="34" charset="-120"/>
              </a:rPr>
              <a:t>Administrative Governance &amp; Department Oversight</a:t>
            </a:r>
            <a:endParaRPr lang="en-US" sz="3400" dirty="0"/>
          </a:p>
        </p:txBody>
      </p:sp>
      <p:sp>
        <p:nvSpPr>
          <p:cNvPr id="9" name="Text 7"/>
          <p:cNvSpPr/>
          <p:nvPr/>
        </p:nvSpPr>
        <p:spPr>
          <a:xfrm>
            <a:off x="411480" y="2121408"/>
            <a:ext cx="10545775" cy="411480"/>
          </a:xfrm>
          <a:prstGeom prst="rect">
            <a:avLst/>
          </a:prstGeom>
          <a:noFill/>
          <a:ln/>
        </p:spPr>
        <p:txBody>
          <a:bodyPr wrap="square" rtlCol="0" anchor="t"/>
          <a:lstStyle/>
          <a:p>
            <a:pPr indent="0" marL="0">
              <a:buNone/>
            </a:pPr>
            <a:r>
              <a:rPr lang="en-US" sz="1500" dirty="0">
                <a:solidFill>
                  <a:srgbClr val="9CA3AF"/>
                </a:solidFill>
                <a:latin typeface="Rajdhani" pitchFamily="34" charset="0"/>
                <a:ea typeface="Rajdhani" pitchFamily="34" charset="-122"/>
                <a:cs typeface="Rajdhani" pitchFamily="34" charset="-120"/>
              </a:rPr>
              <a:t>Full control for leadership — nothing goes live without authorization.</a:t>
            </a:r>
            <a:endParaRPr lang="en-US" sz="1500" dirty="0"/>
          </a:p>
        </p:txBody>
      </p:sp>
      <p:sp>
        <p:nvSpPr>
          <p:cNvPr id="10" name="Shape 8"/>
          <p:cNvSpPr/>
          <p:nvPr/>
        </p:nvSpPr>
        <p:spPr>
          <a:xfrm>
            <a:off x="411480" y="2697480"/>
            <a:ext cx="3655466" cy="1636776"/>
          </a:xfrm>
          <a:prstGeom prst="roundRect">
            <a:avLst>
              <a:gd name="adj" fmla="val 5587"/>
            </a:avLst>
          </a:prstGeom>
          <a:solidFill>
            <a:srgbClr val="0F0F14"/>
          </a:solidFill>
          <a:ln w="12700">
            <a:solidFill>
              <a:srgbClr val="26262D"/>
            </a:solidFill>
            <a:prstDash val="solid"/>
          </a:ln>
        </p:spPr>
      </p:sp>
      <p:sp>
        <p:nvSpPr>
          <p:cNvPr id="11" name="Shape 9"/>
          <p:cNvSpPr/>
          <p:nvPr/>
        </p:nvSpPr>
        <p:spPr>
          <a:xfrm>
            <a:off x="411480" y="2807208"/>
            <a:ext cx="45720" cy="1417320"/>
          </a:xfrm>
          <a:prstGeom prst="rect">
            <a:avLst/>
          </a:prstGeom>
          <a:solidFill>
            <a:srgbClr val="DC2626"/>
          </a:solidFill>
          <a:ln/>
        </p:spPr>
      </p:sp>
      <p:sp>
        <p:nvSpPr>
          <p:cNvPr id="12" name="Text 10"/>
          <p:cNvSpPr/>
          <p:nvPr/>
        </p:nvSpPr>
        <p:spPr>
          <a:xfrm>
            <a:off x="612648" y="2788920"/>
            <a:ext cx="3289706"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Event Approval Workflow</a:t>
            </a:r>
            <a:endParaRPr lang="en-US" sz="1450" dirty="0"/>
          </a:p>
        </p:txBody>
      </p:sp>
      <p:sp>
        <p:nvSpPr>
          <p:cNvPr id="13" name="Text 11"/>
          <p:cNvSpPr/>
          <p:nvPr/>
        </p:nvSpPr>
        <p:spPr>
          <a:xfrm>
            <a:off x="612648" y="3227832"/>
            <a:ext cx="3289706" cy="996696"/>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Club events require faculty/Dean review before publishing — no unauthorized listings.</a:t>
            </a:r>
            <a:endParaRPr lang="en-US" sz="1250" dirty="0"/>
          </a:p>
        </p:txBody>
      </p:sp>
      <p:sp>
        <p:nvSpPr>
          <p:cNvPr id="14" name="Shape 12"/>
          <p:cNvSpPr/>
          <p:nvPr/>
        </p:nvSpPr>
        <p:spPr>
          <a:xfrm>
            <a:off x="4268114" y="2697480"/>
            <a:ext cx="3655466" cy="1636776"/>
          </a:xfrm>
          <a:prstGeom prst="roundRect">
            <a:avLst>
              <a:gd name="adj" fmla="val 5587"/>
            </a:avLst>
          </a:prstGeom>
          <a:solidFill>
            <a:srgbClr val="0F0F14"/>
          </a:solidFill>
          <a:ln w="12700">
            <a:solidFill>
              <a:srgbClr val="26262D"/>
            </a:solidFill>
            <a:prstDash val="solid"/>
          </a:ln>
        </p:spPr>
      </p:sp>
      <p:sp>
        <p:nvSpPr>
          <p:cNvPr id="15" name="Shape 13"/>
          <p:cNvSpPr/>
          <p:nvPr/>
        </p:nvSpPr>
        <p:spPr>
          <a:xfrm>
            <a:off x="4268114" y="2807208"/>
            <a:ext cx="45720" cy="1417320"/>
          </a:xfrm>
          <a:prstGeom prst="rect">
            <a:avLst/>
          </a:prstGeom>
          <a:solidFill>
            <a:srgbClr val="DC2626"/>
          </a:solidFill>
          <a:ln/>
        </p:spPr>
      </p:sp>
      <p:sp>
        <p:nvSpPr>
          <p:cNvPr id="16" name="Text 14"/>
          <p:cNvSpPr/>
          <p:nvPr/>
        </p:nvSpPr>
        <p:spPr>
          <a:xfrm>
            <a:off x="4469282" y="2788920"/>
            <a:ext cx="3289706"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Club &amp; Organizer Verification</a:t>
            </a:r>
            <a:endParaRPr lang="en-US" sz="1450" dirty="0"/>
          </a:p>
        </p:txBody>
      </p:sp>
      <p:sp>
        <p:nvSpPr>
          <p:cNvPr id="17" name="Text 15"/>
          <p:cNvSpPr/>
          <p:nvPr/>
        </p:nvSpPr>
        <p:spPr>
          <a:xfrm>
            <a:off x="4469282" y="3227832"/>
            <a:ext cx="3289706" cy="996696"/>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Verify clubs, assign organizer permissions &amp; audit coordinator actions.</a:t>
            </a:r>
            <a:endParaRPr lang="en-US" sz="1250" dirty="0"/>
          </a:p>
        </p:txBody>
      </p:sp>
      <p:sp>
        <p:nvSpPr>
          <p:cNvPr id="18" name="Shape 16"/>
          <p:cNvSpPr/>
          <p:nvPr/>
        </p:nvSpPr>
        <p:spPr>
          <a:xfrm>
            <a:off x="8124749" y="2697480"/>
            <a:ext cx="3655466" cy="1636776"/>
          </a:xfrm>
          <a:prstGeom prst="roundRect">
            <a:avLst>
              <a:gd name="adj" fmla="val 5587"/>
            </a:avLst>
          </a:prstGeom>
          <a:solidFill>
            <a:srgbClr val="0F0F14"/>
          </a:solidFill>
          <a:ln w="12700">
            <a:solidFill>
              <a:srgbClr val="26262D"/>
            </a:solidFill>
            <a:prstDash val="solid"/>
          </a:ln>
        </p:spPr>
      </p:sp>
      <p:sp>
        <p:nvSpPr>
          <p:cNvPr id="19" name="Shape 17"/>
          <p:cNvSpPr/>
          <p:nvPr/>
        </p:nvSpPr>
        <p:spPr>
          <a:xfrm>
            <a:off x="8124749" y="2807208"/>
            <a:ext cx="45720" cy="1417320"/>
          </a:xfrm>
          <a:prstGeom prst="rect">
            <a:avLst/>
          </a:prstGeom>
          <a:solidFill>
            <a:srgbClr val="DC2626"/>
          </a:solidFill>
          <a:ln/>
        </p:spPr>
      </p:sp>
      <p:sp>
        <p:nvSpPr>
          <p:cNvPr id="20" name="Text 18"/>
          <p:cNvSpPr/>
          <p:nvPr/>
        </p:nvSpPr>
        <p:spPr>
          <a:xfrm>
            <a:off x="8325917" y="2788920"/>
            <a:ext cx="3289706"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Cross-Department Insights</a:t>
            </a:r>
            <a:endParaRPr lang="en-US" sz="1450" dirty="0"/>
          </a:p>
        </p:txBody>
      </p:sp>
      <p:sp>
        <p:nvSpPr>
          <p:cNvPr id="21" name="Text 19"/>
          <p:cNvSpPr/>
          <p:nvPr/>
        </p:nvSpPr>
        <p:spPr>
          <a:xfrm>
            <a:off x="8325917" y="3227832"/>
            <a:ext cx="3289706" cy="996696"/>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Compare participation across CSE, IT, ECE, Mech &amp; MBA; annual activity summaries.</a:t>
            </a:r>
            <a:endParaRPr lang="en-US" sz="1250" dirty="0"/>
          </a:p>
        </p:txBody>
      </p:sp>
      <p:sp>
        <p:nvSpPr>
          <p:cNvPr id="22" name="Shape 20"/>
          <p:cNvSpPr/>
          <p:nvPr/>
        </p:nvSpPr>
        <p:spPr>
          <a:xfrm>
            <a:off x="411480" y="4535424"/>
            <a:ext cx="3655466" cy="1636776"/>
          </a:xfrm>
          <a:prstGeom prst="roundRect">
            <a:avLst>
              <a:gd name="adj" fmla="val 5587"/>
            </a:avLst>
          </a:prstGeom>
          <a:solidFill>
            <a:srgbClr val="0F0F14"/>
          </a:solidFill>
          <a:ln w="12700">
            <a:solidFill>
              <a:srgbClr val="26262D"/>
            </a:solidFill>
            <a:prstDash val="solid"/>
          </a:ln>
        </p:spPr>
      </p:sp>
      <p:sp>
        <p:nvSpPr>
          <p:cNvPr id="23" name="Shape 21"/>
          <p:cNvSpPr/>
          <p:nvPr/>
        </p:nvSpPr>
        <p:spPr>
          <a:xfrm>
            <a:off x="411480" y="4645152"/>
            <a:ext cx="45720" cy="1417320"/>
          </a:xfrm>
          <a:prstGeom prst="rect">
            <a:avLst/>
          </a:prstGeom>
          <a:solidFill>
            <a:srgbClr val="DC2626"/>
          </a:solidFill>
          <a:ln/>
        </p:spPr>
      </p:sp>
      <p:sp>
        <p:nvSpPr>
          <p:cNvPr id="24" name="Text 22"/>
          <p:cNvSpPr/>
          <p:nvPr/>
        </p:nvSpPr>
        <p:spPr>
          <a:xfrm>
            <a:off x="612648" y="4626864"/>
            <a:ext cx="3289706"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Platform Feature Flags</a:t>
            </a:r>
            <a:endParaRPr lang="en-US" sz="1450" dirty="0"/>
          </a:p>
        </p:txBody>
      </p:sp>
      <p:sp>
        <p:nvSpPr>
          <p:cNvPr id="25" name="Text 23"/>
          <p:cNvSpPr/>
          <p:nvPr/>
        </p:nvSpPr>
        <p:spPr>
          <a:xfrm>
            <a:off x="612648" y="5065776"/>
            <a:ext cx="3289706" cy="996696"/>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Enable/disable payments, hackathons &amp; public signups dynamically via backend toggles.</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411480" y="347472"/>
            <a:ext cx="384048" cy="384048"/>
          </a:xfrm>
          <a:prstGeom prst="roundRect">
            <a:avLst>
              <a:gd name="adj" fmla="val 19048"/>
            </a:avLst>
          </a:prstGeom>
          <a:solidFill>
            <a:srgbClr val="DC2626"/>
          </a:solidFill>
          <a:ln/>
        </p:spPr>
      </p:sp>
      <p:sp>
        <p:nvSpPr>
          <p:cNvPr id="3" name="Text 1"/>
          <p:cNvSpPr/>
          <p:nvPr/>
        </p:nvSpPr>
        <p:spPr>
          <a:xfrm>
            <a:off x="411480" y="347472"/>
            <a:ext cx="384048" cy="384048"/>
          </a:xfrm>
          <a:prstGeom prst="rect">
            <a:avLst/>
          </a:prstGeom>
          <a:noFill/>
          <a:ln/>
        </p:spPr>
        <p:txBody>
          <a:bodyPr wrap="square" rtlCol="0" anchor="ctr"/>
          <a:lstStyle/>
          <a:p>
            <a:pPr algn="ctr" indent="0" marL="0">
              <a:buNone/>
            </a:pPr>
            <a:r>
              <a:rPr lang="en-US" sz="1600" b="1" dirty="0">
                <a:solidFill>
                  <a:srgbClr val="FFFFFF"/>
                </a:solidFill>
                <a:latin typeface="Chakra Petch" pitchFamily="34" charset="0"/>
                <a:ea typeface="Chakra Petch" pitchFamily="34" charset="-122"/>
                <a:cs typeface="Chakra Petch" pitchFamily="34" charset="-120"/>
              </a:rPr>
              <a:t>N</a:t>
            </a:r>
            <a:endParaRPr lang="en-US" sz="1600" dirty="0"/>
          </a:p>
        </p:txBody>
      </p:sp>
      <p:sp>
        <p:nvSpPr>
          <p:cNvPr id="4" name="Text 2"/>
          <p:cNvSpPr/>
          <p:nvPr/>
        </p:nvSpPr>
        <p:spPr>
          <a:xfrm>
            <a:off x="886968" y="365760"/>
            <a:ext cx="2926080" cy="347472"/>
          </a:xfrm>
          <a:prstGeom prst="rect">
            <a:avLst/>
          </a:prstGeom>
          <a:noFill/>
          <a:ln/>
        </p:spPr>
        <p:txBody>
          <a:bodyPr wrap="square" rtlCol="0" anchor="ctr"/>
          <a:lstStyle/>
          <a:p>
            <a:pPr indent="0" marL="0">
              <a:buNone/>
            </a:pPr>
            <a:r>
              <a:rPr lang="en-US" b="1" dirty="0">
                <a:solidFill>
                  <a:srgbClr val="F5F5F5"/>
                </a:solidFill>
                <a:latin typeface="Chakra Petch" pitchFamily="34" charset="0"/>
                <a:ea typeface="Chakra Petch" pitchFamily="34" charset="-122"/>
                <a:cs typeface="Chakra Petch" pitchFamily="34" charset="-120"/>
              </a:rPr>
              <a:t>NX-913  </a:t>
            </a:r>
            <a:pPr indent="0" marL="0">
              <a:buNone/>
            </a:pPr>
            <a:r>
              <a:rPr lang="en-US" sz="1100" dirty="0">
                <a:solidFill>
                  <a:srgbClr val="71717A"/>
                </a:solidFill>
                <a:latin typeface="Rajdhani" pitchFamily="34" charset="0"/>
                <a:ea typeface="Rajdhani" pitchFamily="34" charset="-122"/>
                <a:cs typeface="Rajdhani" pitchFamily="34" charset="-120"/>
              </a:rPr>
              <a:t>CAMPUS OS</a:t>
            </a:r>
            <a:endParaRPr lang="en-US" sz="1100" dirty="0"/>
          </a:p>
        </p:txBody>
      </p:sp>
      <p:sp>
        <p:nvSpPr>
          <p:cNvPr id="5" name="Text 3"/>
          <p:cNvSpPr/>
          <p:nvPr/>
        </p:nvSpPr>
        <p:spPr>
          <a:xfrm>
            <a:off x="9814255" y="402336"/>
            <a:ext cx="1965960" cy="274320"/>
          </a:xfrm>
          <a:prstGeom prst="rect">
            <a:avLst/>
          </a:prstGeom>
          <a:noFill/>
          <a:ln/>
        </p:spPr>
        <p:txBody>
          <a:bodyPr wrap="square" rtlCol="0" anchor="ctr"/>
          <a:lstStyle/>
          <a:p>
            <a:pPr algn="r" indent="0" marL="0">
              <a:buNone/>
            </a:pPr>
            <a:r>
              <a:rPr lang="en-US" sz="900" spc="200" kern="0" dirty="0">
                <a:solidFill>
                  <a:srgbClr val="71717A"/>
                </a:solidFill>
                <a:latin typeface="JetBrains Mono" pitchFamily="34" charset="0"/>
                <a:ea typeface="JetBrains Mono" pitchFamily="34" charset="-122"/>
                <a:cs typeface="JetBrains Mono" pitchFamily="34" charset="-120"/>
              </a:rPr>
              <a:t>PITCH DECK</a:t>
            </a:r>
            <a:endParaRPr lang="en-US" sz="900" dirty="0"/>
          </a:p>
        </p:txBody>
      </p:sp>
      <p:sp>
        <p:nvSpPr>
          <p:cNvPr id="6" name="Shape 4"/>
          <p:cNvSpPr/>
          <p:nvPr/>
        </p:nvSpPr>
        <p:spPr>
          <a:xfrm>
            <a:off x="411480" y="960120"/>
            <a:ext cx="1143000" cy="347472"/>
          </a:xfrm>
          <a:prstGeom prst="roundRect">
            <a:avLst>
              <a:gd name="adj" fmla="val 50000"/>
            </a:avLst>
          </a:prstGeom>
          <a:solidFill>
            <a:srgbClr val="1A0D0D"/>
          </a:solidFill>
          <a:ln w="12700">
            <a:solidFill>
              <a:srgbClr val="7F1D1D"/>
            </a:solidFill>
            <a:prstDash val="solid"/>
          </a:ln>
        </p:spPr>
      </p:sp>
      <p:sp>
        <p:nvSpPr>
          <p:cNvPr id="7" name="Text 5"/>
          <p:cNvSpPr/>
          <p:nvPr/>
        </p:nvSpPr>
        <p:spPr>
          <a:xfrm>
            <a:off x="411480" y="960120"/>
            <a:ext cx="1143000" cy="347472"/>
          </a:xfrm>
          <a:prstGeom prst="rect">
            <a:avLst/>
          </a:prstGeom>
          <a:noFill/>
          <a:ln/>
        </p:spPr>
        <p:txBody>
          <a:bodyPr wrap="square" rtlCol="0" anchor="ctr"/>
          <a:lstStyle/>
          <a:p>
            <a:pPr algn="ctr" indent="0" marL="0">
              <a:buNone/>
            </a:pPr>
            <a:r>
              <a:rPr lang="en-US" sz="900" spc="100" kern="0" dirty="0">
                <a:solidFill>
                  <a:srgbClr val="F87171"/>
                </a:solidFill>
                <a:latin typeface="JetBrains Mono" pitchFamily="34" charset="0"/>
                <a:ea typeface="JetBrains Mono" pitchFamily="34" charset="-122"/>
                <a:cs typeface="JetBrains Mono" pitchFamily="34" charset="-120"/>
              </a:rPr>
              <a:t>13 THE ROADMAP</a:t>
            </a:r>
            <a:endParaRPr lang="en-US" sz="900" dirty="0"/>
          </a:p>
        </p:txBody>
      </p:sp>
      <p:sp>
        <p:nvSpPr>
          <p:cNvPr id="8" name="Text 6"/>
          <p:cNvSpPr/>
          <p:nvPr/>
        </p:nvSpPr>
        <p:spPr>
          <a:xfrm>
            <a:off x="384048" y="1371600"/>
            <a:ext cx="11368735" cy="822960"/>
          </a:xfrm>
          <a:prstGeom prst="rect">
            <a:avLst/>
          </a:prstGeom>
          <a:noFill/>
          <a:ln/>
        </p:spPr>
        <p:txBody>
          <a:bodyPr wrap="square" rtlCol="0" anchor="ctr"/>
          <a:lstStyle/>
          <a:p>
            <a:pPr indent="0" marL="0">
              <a:buNone/>
            </a:pPr>
            <a:r>
              <a:rPr lang="en-US" sz="3400" b="1" dirty="0">
                <a:solidFill>
                  <a:srgbClr val="F5F5F5"/>
                </a:solidFill>
                <a:latin typeface="Chakra Petch" pitchFamily="34" charset="0"/>
                <a:ea typeface="Chakra Petch" pitchFamily="34" charset="-122"/>
                <a:cs typeface="Chakra Petch" pitchFamily="34" charset="-120"/>
              </a:rPr>
              <a:t>Live Demonstration Workflow</a:t>
            </a:r>
            <a:endParaRPr lang="en-US" sz="3400" dirty="0"/>
          </a:p>
        </p:txBody>
      </p:sp>
      <p:sp>
        <p:nvSpPr>
          <p:cNvPr id="9" name="Text 7"/>
          <p:cNvSpPr/>
          <p:nvPr/>
        </p:nvSpPr>
        <p:spPr>
          <a:xfrm>
            <a:off x="411480" y="2121408"/>
            <a:ext cx="10545775" cy="411480"/>
          </a:xfrm>
          <a:prstGeom prst="rect">
            <a:avLst/>
          </a:prstGeom>
          <a:noFill/>
          <a:ln/>
        </p:spPr>
        <p:txBody>
          <a:bodyPr wrap="square" rtlCol="0" anchor="t"/>
          <a:lstStyle/>
          <a:p>
            <a:pPr indent="0" marL="0">
              <a:buNone/>
            </a:pPr>
            <a:r>
              <a:rPr lang="en-US" sz="1500" dirty="0">
                <a:solidFill>
                  <a:srgbClr val="9CA3AF"/>
                </a:solidFill>
                <a:latin typeface="Rajdhani" pitchFamily="34" charset="0"/>
                <a:ea typeface="Rajdhani" pitchFamily="34" charset="-122"/>
                <a:cs typeface="Rajdhani" pitchFamily="34" charset="-120"/>
              </a:rPr>
              <a:t>A 3-minute walkthrough of the complete journey — end to end.</a:t>
            </a:r>
            <a:endParaRPr lang="en-US" sz="1500" dirty="0"/>
          </a:p>
        </p:txBody>
      </p:sp>
      <p:sp>
        <p:nvSpPr>
          <p:cNvPr id="10" name="Shape 8"/>
          <p:cNvSpPr/>
          <p:nvPr/>
        </p:nvSpPr>
        <p:spPr>
          <a:xfrm>
            <a:off x="411480" y="2743200"/>
            <a:ext cx="3429000" cy="1623060"/>
          </a:xfrm>
          <a:prstGeom prst="roundRect">
            <a:avLst>
              <a:gd name="adj" fmla="val 5634"/>
            </a:avLst>
          </a:prstGeom>
          <a:solidFill>
            <a:srgbClr val="0F0F14"/>
          </a:solidFill>
          <a:ln w="12700">
            <a:solidFill>
              <a:srgbClr val="26262D"/>
            </a:solidFill>
            <a:prstDash val="solid"/>
          </a:ln>
        </p:spPr>
      </p:sp>
      <p:sp>
        <p:nvSpPr>
          <p:cNvPr id="11" name="Shape 9"/>
          <p:cNvSpPr/>
          <p:nvPr/>
        </p:nvSpPr>
        <p:spPr>
          <a:xfrm>
            <a:off x="411480" y="2852928"/>
            <a:ext cx="45720" cy="1403604"/>
          </a:xfrm>
          <a:prstGeom prst="rect">
            <a:avLst/>
          </a:prstGeom>
          <a:solidFill>
            <a:srgbClr val="DC2626"/>
          </a:solidFill>
          <a:ln/>
        </p:spPr>
      </p:sp>
      <p:sp>
        <p:nvSpPr>
          <p:cNvPr id="12" name="Text 10"/>
          <p:cNvSpPr/>
          <p:nvPr/>
        </p:nvSpPr>
        <p:spPr>
          <a:xfrm>
            <a:off x="612648" y="2834640"/>
            <a:ext cx="3063240"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1️⃣ Student Flow</a:t>
            </a:r>
            <a:endParaRPr lang="en-US" sz="1450" dirty="0"/>
          </a:p>
        </p:txBody>
      </p:sp>
      <p:sp>
        <p:nvSpPr>
          <p:cNvPr id="13" name="Text 11"/>
          <p:cNvSpPr/>
          <p:nvPr/>
        </p:nvSpPr>
        <p:spPr>
          <a:xfrm>
            <a:off x="612648" y="3273552"/>
            <a:ext cx="3063240" cy="982980"/>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Browse events → Register in 1 click → QR Pass appears in wallet.</a:t>
            </a:r>
            <a:endParaRPr lang="en-US" sz="1250" dirty="0"/>
          </a:p>
        </p:txBody>
      </p:sp>
      <p:sp>
        <p:nvSpPr>
          <p:cNvPr id="14" name="Shape 12"/>
          <p:cNvSpPr/>
          <p:nvPr/>
        </p:nvSpPr>
        <p:spPr>
          <a:xfrm>
            <a:off x="4023360" y="2743200"/>
            <a:ext cx="3429000" cy="1623060"/>
          </a:xfrm>
          <a:prstGeom prst="roundRect">
            <a:avLst>
              <a:gd name="adj" fmla="val 5634"/>
            </a:avLst>
          </a:prstGeom>
          <a:solidFill>
            <a:srgbClr val="0F0F14"/>
          </a:solidFill>
          <a:ln w="12700">
            <a:solidFill>
              <a:srgbClr val="26262D"/>
            </a:solidFill>
            <a:prstDash val="solid"/>
          </a:ln>
        </p:spPr>
      </p:sp>
      <p:sp>
        <p:nvSpPr>
          <p:cNvPr id="15" name="Shape 13"/>
          <p:cNvSpPr/>
          <p:nvPr/>
        </p:nvSpPr>
        <p:spPr>
          <a:xfrm>
            <a:off x="4023360" y="2852928"/>
            <a:ext cx="45720" cy="1403604"/>
          </a:xfrm>
          <a:prstGeom prst="rect">
            <a:avLst/>
          </a:prstGeom>
          <a:solidFill>
            <a:srgbClr val="DC2626"/>
          </a:solidFill>
          <a:ln/>
        </p:spPr>
      </p:sp>
      <p:sp>
        <p:nvSpPr>
          <p:cNvPr id="16" name="Text 14"/>
          <p:cNvSpPr/>
          <p:nvPr/>
        </p:nvSpPr>
        <p:spPr>
          <a:xfrm>
            <a:off x="4224528" y="2834640"/>
            <a:ext cx="3063240"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2️⃣ Hackathon Flow</a:t>
            </a:r>
            <a:endParaRPr lang="en-US" sz="1450" dirty="0"/>
          </a:p>
        </p:txBody>
      </p:sp>
      <p:sp>
        <p:nvSpPr>
          <p:cNvPr id="17" name="Text 15"/>
          <p:cNvSpPr/>
          <p:nvPr/>
        </p:nvSpPr>
        <p:spPr>
          <a:xfrm>
            <a:off x="4224528" y="3273552"/>
            <a:ext cx="3063240" cy="982980"/>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Form team with invite code → Submit demo URL &amp; GitHub repo.</a:t>
            </a:r>
            <a:endParaRPr lang="en-US" sz="1250" dirty="0"/>
          </a:p>
        </p:txBody>
      </p:sp>
      <p:sp>
        <p:nvSpPr>
          <p:cNvPr id="18" name="Shape 16"/>
          <p:cNvSpPr/>
          <p:nvPr/>
        </p:nvSpPr>
        <p:spPr>
          <a:xfrm>
            <a:off x="411480" y="4549140"/>
            <a:ext cx="3429000" cy="1623060"/>
          </a:xfrm>
          <a:prstGeom prst="roundRect">
            <a:avLst>
              <a:gd name="adj" fmla="val 5634"/>
            </a:avLst>
          </a:prstGeom>
          <a:solidFill>
            <a:srgbClr val="0F0F14"/>
          </a:solidFill>
          <a:ln w="12700">
            <a:solidFill>
              <a:srgbClr val="26262D"/>
            </a:solidFill>
            <a:prstDash val="solid"/>
          </a:ln>
        </p:spPr>
      </p:sp>
      <p:sp>
        <p:nvSpPr>
          <p:cNvPr id="19" name="Shape 17"/>
          <p:cNvSpPr/>
          <p:nvPr/>
        </p:nvSpPr>
        <p:spPr>
          <a:xfrm>
            <a:off x="411480" y="4658868"/>
            <a:ext cx="45720" cy="1403604"/>
          </a:xfrm>
          <a:prstGeom prst="rect">
            <a:avLst/>
          </a:prstGeom>
          <a:solidFill>
            <a:srgbClr val="DC2626"/>
          </a:solidFill>
          <a:ln/>
        </p:spPr>
      </p:sp>
      <p:sp>
        <p:nvSpPr>
          <p:cNvPr id="20" name="Text 18"/>
          <p:cNvSpPr/>
          <p:nvPr/>
        </p:nvSpPr>
        <p:spPr>
          <a:xfrm>
            <a:off x="612648" y="4640580"/>
            <a:ext cx="3063240"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3️⃣ Gate Scanner</a:t>
            </a:r>
            <a:endParaRPr lang="en-US" sz="1450" dirty="0"/>
          </a:p>
        </p:txBody>
      </p:sp>
      <p:sp>
        <p:nvSpPr>
          <p:cNvPr id="21" name="Text 19"/>
          <p:cNvSpPr/>
          <p:nvPr/>
        </p:nvSpPr>
        <p:spPr>
          <a:xfrm>
            <a:off x="612648" y="5079492"/>
            <a:ext cx="3063240" cy="982980"/>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Organizer mobile camera scans student QR → sub-second attendance confirmation.</a:t>
            </a:r>
            <a:endParaRPr lang="en-US" sz="1250" dirty="0"/>
          </a:p>
        </p:txBody>
      </p:sp>
      <p:sp>
        <p:nvSpPr>
          <p:cNvPr id="22" name="Shape 20"/>
          <p:cNvSpPr/>
          <p:nvPr/>
        </p:nvSpPr>
        <p:spPr>
          <a:xfrm>
            <a:off x="4023360" y="4549140"/>
            <a:ext cx="3429000" cy="1623060"/>
          </a:xfrm>
          <a:prstGeom prst="roundRect">
            <a:avLst>
              <a:gd name="adj" fmla="val 5634"/>
            </a:avLst>
          </a:prstGeom>
          <a:solidFill>
            <a:srgbClr val="0F0F14"/>
          </a:solidFill>
          <a:ln w="12700">
            <a:solidFill>
              <a:srgbClr val="26262D"/>
            </a:solidFill>
            <a:prstDash val="solid"/>
          </a:ln>
        </p:spPr>
      </p:sp>
      <p:sp>
        <p:nvSpPr>
          <p:cNvPr id="23" name="Shape 21"/>
          <p:cNvSpPr/>
          <p:nvPr/>
        </p:nvSpPr>
        <p:spPr>
          <a:xfrm>
            <a:off x="4023360" y="4658868"/>
            <a:ext cx="45720" cy="1403604"/>
          </a:xfrm>
          <a:prstGeom prst="rect">
            <a:avLst/>
          </a:prstGeom>
          <a:solidFill>
            <a:srgbClr val="DC2626"/>
          </a:solidFill>
          <a:ln/>
        </p:spPr>
      </p:sp>
      <p:sp>
        <p:nvSpPr>
          <p:cNvPr id="24" name="Text 22"/>
          <p:cNvSpPr/>
          <p:nvPr/>
        </p:nvSpPr>
        <p:spPr>
          <a:xfrm>
            <a:off x="4224528" y="4640580"/>
            <a:ext cx="3063240"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4️⃣ Admin / Faculty Flow</a:t>
            </a:r>
            <a:endParaRPr lang="en-US" sz="1450" dirty="0"/>
          </a:p>
        </p:txBody>
      </p:sp>
      <p:sp>
        <p:nvSpPr>
          <p:cNvPr id="25" name="Text 23"/>
          <p:cNvSpPr/>
          <p:nvPr/>
        </p:nvSpPr>
        <p:spPr>
          <a:xfrm>
            <a:off x="4224528" y="5079492"/>
            <a:ext cx="3063240" cy="982980"/>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One-click certificate release with QR verification → one-click NAAC/IQAC report download.</a:t>
            </a:r>
            <a:endParaRPr lang="en-US" sz="1250" dirty="0"/>
          </a:p>
        </p:txBody>
      </p:sp>
      <p:sp>
        <p:nvSpPr>
          <p:cNvPr id="26" name="Shape 24"/>
          <p:cNvSpPr/>
          <p:nvPr/>
        </p:nvSpPr>
        <p:spPr>
          <a:xfrm>
            <a:off x="7680960" y="2514600"/>
            <a:ext cx="3977640" cy="3794760"/>
          </a:xfrm>
          <a:prstGeom prst="roundRect">
            <a:avLst>
              <a:gd name="adj" fmla="val 2169"/>
            </a:avLst>
          </a:prstGeom>
          <a:solidFill>
            <a:srgbClr val="0C0C10"/>
          </a:solidFill>
          <a:ln w="12700">
            <a:solidFill>
              <a:srgbClr val="333333"/>
            </a:solidFill>
            <a:prstDash val="solid"/>
          </a:ln>
        </p:spPr>
      </p:sp>
      <p:sp>
        <p:nvSpPr>
          <p:cNvPr id="27" name="Shape 25"/>
          <p:cNvSpPr/>
          <p:nvPr/>
        </p:nvSpPr>
        <p:spPr>
          <a:xfrm>
            <a:off x="7735824" y="2569464"/>
            <a:ext cx="3867912" cy="310896"/>
          </a:xfrm>
          <a:prstGeom prst="rect">
            <a:avLst/>
          </a:prstGeom>
          <a:solidFill>
            <a:srgbClr val="14141A"/>
          </a:solidFill>
          <a:ln/>
        </p:spPr>
      </p:sp>
      <p:sp>
        <p:nvSpPr>
          <p:cNvPr id="28" name="Shape 26"/>
          <p:cNvSpPr/>
          <p:nvPr/>
        </p:nvSpPr>
        <p:spPr>
          <a:xfrm>
            <a:off x="7808976" y="2656332"/>
            <a:ext cx="109728" cy="109728"/>
          </a:xfrm>
          <a:prstGeom prst="ellipse">
            <a:avLst/>
          </a:prstGeom>
          <a:solidFill>
            <a:srgbClr val="7F1D1D"/>
          </a:solidFill>
          <a:ln/>
        </p:spPr>
      </p:sp>
      <p:sp>
        <p:nvSpPr>
          <p:cNvPr id="29" name="Shape 27"/>
          <p:cNvSpPr/>
          <p:nvPr/>
        </p:nvSpPr>
        <p:spPr>
          <a:xfrm>
            <a:off x="7991856" y="2656332"/>
            <a:ext cx="109728" cy="109728"/>
          </a:xfrm>
          <a:prstGeom prst="ellipse">
            <a:avLst/>
          </a:prstGeom>
          <a:solidFill>
            <a:srgbClr val="B45309"/>
          </a:solidFill>
          <a:ln/>
        </p:spPr>
      </p:sp>
      <p:sp>
        <p:nvSpPr>
          <p:cNvPr id="30" name="Shape 28"/>
          <p:cNvSpPr/>
          <p:nvPr/>
        </p:nvSpPr>
        <p:spPr>
          <a:xfrm>
            <a:off x="8174736" y="2656332"/>
            <a:ext cx="109728" cy="109728"/>
          </a:xfrm>
          <a:prstGeom prst="ellipse">
            <a:avLst/>
          </a:prstGeom>
          <a:solidFill>
            <a:srgbClr val="166534"/>
          </a:solidFill>
          <a:ln/>
        </p:spPr>
      </p:sp>
      <p:sp>
        <p:nvSpPr>
          <p:cNvPr id="31" name="Shape 29"/>
          <p:cNvSpPr/>
          <p:nvPr/>
        </p:nvSpPr>
        <p:spPr>
          <a:xfrm>
            <a:off x="8339328" y="2633472"/>
            <a:ext cx="3063240" cy="182880"/>
          </a:xfrm>
          <a:prstGeom prst="roundRect">
            <a:avLst>
              <a:gd name="adj" fmla="val 50000"/>
            </a:avLst>
          </a:prstGeom>
          <a:solidFill>
            <a:srgbClr val="0A0A0E"/>
          </a:solidFill>
          <a:ln w="6350">
            <a:solidFill>
              <a:srgbClr val="26262D"/>
            </a:solidFill>
            <a:prstDash val="solid"/>
          </a:ln>
        </p:spPr>
      </p:sp>
      <p:sp>
        <p:nvSpPr>
          <p:cNvPr id="32" name="Text 30"/>
          <p:cNvSpPr/>
          <p:nvPr/>
        </p:nvSpPr>
        <p:spPr>
          <a:xfrm>
            <a:off x="8394192" y="2633472"/>
            <a:ext cx="2971800" cy="182880"/>
          </a:xfrm>
          <a:prstGeom prst="rect">
            <a:avLst/>
          </a:prstGeom>
          <a:noFill/>
          <a:ln/>
        </p:spPr>
        <p:txBody>
          <a:bodyPr wrap="square" rtlCol="0" anchor="ctr"/>
          <a:lstStyle/>
          <a:p>
            <a:pPr algn="ctr" indent="0" marL="0">
              <a:buNone/>
            </a:pPr>
            <a:r>
              <a:rPr lang="en-US" sz="800" dirty="0">
                <a:solidFill>
                  <a:srgbClr val="71717A"/>
                </a:solidFill>
                <a:latin typeface="JetBrains Mono" pitchFamily="34" charset="0"/>
                <a:ea typeface="JetBrains Mono" pitchFamily="34" charset="-122"/>
                <a:cs typeface="JetBrains Mono" pitchFamily="34" charset="-120"/>
              </a:rPr>
              <a:t>https://nx-913.com/hackathons</a:t>
            </a:r>
            <a:endParaRPr lang="en-US" sz="800" dirty="0"/>
          </a:p>
        </p:txBody>
      </p:sp>
      <p:pic>
        <p:nvPicPr>
          <p:cNvPr id="33" name="Image 0" descr="/Users/vivek/Trend/assets/site/03-hackathons.png">    </p:cNvPr>
          <p:cNvPicPr>
            <a:picLocks noChangeAspect="1"/>
          </p:cNvPicPr>
          <p:nvPr/>
        </p:nvPicPr>
        <p:blipFill>
          <a:blip r:embed="rId1"/>
          <a:stretch>
            <a:fillRect/>
          </a:stretch>
        </p:blipFill>
        <p:spPr>
          <a:xfrm>
            <a:off x="7735824" y="2935224"/>
            <a:ext cx="3867912" cy="3282696"/>
          </a:xfrm>
          <a:prstGeom prst="rect">
            <a:avLst/>
          </a:prstGeom>
        </p:spPr>
      </p:pic>
      <p:sp>
        <p:nvSpPr>
          <p:cNvPr id="34" name="Shape 31"/>
          <p:cNvSpPr/>
          <p:nvPr/>
        </p:nvSpPr>
        <p:spPr>
          <a:xfrm>
            <a:off x="8206740" y="5989320"/>
            <a:ext cx="2926080" cy="457200"/>
          </a:xfrm>
          <a:prstGeom prst="ellipse">
            <a:avLst/>
          </a:prstGeom>
          <a:solidFill>
            <a:srgbClr val="DC2626">
              <a:alpha val="14000"/>
            </a:srgbClr>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411480" y="347472"/>
            <a:ext cx="384048" cy="384048"/>
          </a:xfrm>
          <a:prstGeom prst="roundRect">
            <a:avLst>
              <a:gd name="adj" fmla="val 19048"/>
            </a:avLst>
          </a:prstGeom>
          <a:solidFill>
            <a:srgbClr val="DC2626"/>
          </a:solidFill>
          <a:ln/>
        </p:spPr>
      </p:sp>
      <p:sp>
        <p:nvSpPr>
          <p:cNvPr id="3" name="Text 1"/>
          <p:cNvSpPr/>
          <p:nvPr/>
        </p:nvSpPr>
        <p:spPr>
          <a:xfrm>
            <a:off x="411480" y="347472"/>
            <a:ext cx="384048" cy="384048"/>
          </a:xfrm>
          <a:prstGeom prst="rect">
            <a:avLst/>
          </a:prstGeom>
          <a:noFill/>
          <a:ln/>
        </p:spPr>
        <p:txBody>
          <a:bodyPr wrap="square" rtlCol="0" anchor="ctr"/>
          <a:lstStyle/>
          <a:p>
            <a:pPr algn="ctr" indent="0" marL="0">
              <a:buNone/>
            </a:pPr>
            <a:r>
              <a:rPr lang="en-US" sz="1600" b="1" dirty="0">
                <a:solidFill>
                  <a:srgbClr val="FFFFFF"/>
                </a:solidFill>
                <a:latin typeface="Chakra Petch" pitchFamily="34" charset="0"/>
                <a:ea typeface="Chakra Petch" pitchFamily="34" charset="-122"/>
                <a:cs typeface="Chakra Petch" pitchFamily="34" charset="-120"/>
              </a:rPr>
              <a:t>N</a:t>
            </a:r>
            <a:endParaRPr lang="en-US" sz="1600" dirty="0"/>
          </a:p>
        </p:txBody>
      </p:sp>
      <p:sp>
        <p:nvSpPr>
          <p:cNvPr id="4" name="Text 2"/>
          <p:cNvSpPr/>
          <p:nvPr/>
        </p:nvSpPr>
        <p:spPr>
          <a:xfrm>
            <a:off x="886968" y="365760"/>
            <a:ext cx="2926080" cy="347472"/>
          </a:xfrm>
          <a:prstGeom prst="rect">
            <a:avLst/>
          </a:prstGeom>
          <a:noFill/>
          <a:ln/>
        </p:spPr>
        <p:txBody>
          <a:bodyPr wrap="square" rtlCol="0" anchor="ctr"/>
          <a:lstStyle/>
          <a:p>
            <a:pPr indent="0" marL="0">
              <a:buNone/>
            </a:pPr>
            <a:r>
              <a:rPr lang="en-US" b="1" dirty="0">
                <a:solidFill>
                  <a:srgbClr val="F5F5F5"/>
                </a:solidFill>
                <a:latin typeface="Chakra Petch" pitchFamily="34" charset="0"/>
                <a:ea typeface="Chakra Petch" pitchFamily="34" charset="-122"/>
                <a:cs typeface="Chakra Petch" pitchFamily="34" charset="-120"/>
              </a:rPr>
              <a:t>NX-913  </a:t>
            </a:r>
            <a:pPr indent="0" marL="0">
              <a:buNone/>
            </a:pPr>
            <a:r>
              <a:rPr lang="en-US" sz="1100" dirty="0">
                <a:solidFill>
                  <a:srgbClr val="71717A"/>
                </a:solidFill>
                <a:latin typeface="Rajdhani" pitchFamily="34" charset="0"/>
                <a:ea typeface="Rajdhani" pitchFamily="34" charset="-122"/>
                <a:cs typeface="Rajdhani" pitchFamily="34" charset="-120"/>
              </a:rPr>
              <a:t>CAMPUS OS</a:t>
            </a:r>
            <a:endParaRPr lang="en-US" sz="1100" dirty="0"/>
          </a:p>
        </p:txBody>
      </p:sp>
      <p:sp>
        <p:nvSpPr>
          <p:cNvPr id="5" name="Text 3"/>
          <p:cNvSpPr/>
          <p:nvPr/>
        </p:nvSpPr>
        <p:spPr>
          <a:xfrm>
            <a:off x="9814255" y="402336"/>
            <a:ext cx="1965960" cy="274320"/>
          </a:xfrm>
          <a:prstGeom prst="rect">
            <a:avLst/>
          </a:prstGeom>
          <a:noFill/>
          <a:ln/>
        </p:spPr>
        <p:txBody>
          <a:bodyPr wrap="square" rtlCol="0" anchor="ctr"/>
          <a:lstStyle/>
          <a:p>
            <a:pPr algn="r" indent="0" marL="0">
              <a:buNone/>
            </a:pPr>
            <a:r>
              <a:rPr lang="en-US" sz="900" spc="200" kern="0" dirty="0">
                <a:solidFill>
                  <a:srgbClr val="71717A"/>
                </a:solidFill>
                <a:latin typeface="JetBrains Mono" pitchFamily="34" charset="0"/>
                <a:ea typeface="JetBrains Mono" pitchFamily="34" charset="-122"/>
                <a:cs typeface="JetBrains Mono" pitchFamily="34" charset="-120"/>
              </a:rPr>
              <a:t>PITCH DECK</a:t>
            </a:r>
            <a:endParaRPr lang="en-US" sz="900" dirty="0"/>
          </a:p>
        </p:txBody>
      </p:sp>
      <p:sp>
        <p:nvSpPr>
          <p:cNvPr id="6" name="Shape 4"/>
          <p:cNvSpPr/>
          <p:nvPr/>
        </p:nvSpPr>
        <p:spPr>
          <a:xfrm>
            <a:off x="411480" y="960120"/>
            <a:ext cx="1143000" cy="347472"/>
          </a:xfrm>
          <a:prstGeom prst="roundRect">
            <a:avLst>
              <a:gd name="adj" fmla="val 50000"/>
            </a:avLst>
          </a:prstGeom>
          <a:solidFill>
            <a:srgbClr val="1A0D0D"/>
          </a:solidFill>
          <a:ln w="12700">
            <a:solidFill>
              <a:srgbClr val="7F1D1D"/>
            </a:solidFill>
            <a:prstDash val="solid"/>
          </a:ln>
        </p:spPr>
      </p:sp>
      <p:sp>
        <p:nvSpPr>
          <p:cNvPr id="7" name="Text 5"/>
          <p:cNvSpPr/>
          <p:nvPr/>
        </p:nvSpPr>
        <p:spPr>
          <a:xfrm>
            <a:off x="411480" y="960120"/>
            <a:ext cx="1143000" cy="347472"/>
          </a:xfrm>
          <a:prstGeom prst="rect">
            <a:avLst/>
          </a:prstGeom>
          <a:noFill/>
          <a:ln/>
        </p:spPr>
        <p:txBody>
          <a:bodyPr wrap="square" rtlCol="0" anchor="ctr"/>
          <a:lstStyle/>
          <a:p>
            <a:pPr algn="ctr" indent="0" marL="0">
              <a:buNone/>
            </a:pPr>
            <a:r>
              <a:rPr lang="en-US" sz="900" spc="100" kern="0" dirty="0">
                <a:solidFill>
                  <a:srgbClr val="F87171"/>
                </a:solidFill>
                <a:latin typeface="JetBrains Mono" pitchFamily="34" charset="0"/>
                <a:ea typeface="JetBrains Mono" pitchFamily="34" charset="-122"/>
                <a:cs typeface="JetBrains Mono" pitchFamily="34" charset="-120"/>
              </a:rPr>
              <a:t>14 THE ROADMAP</a:t>
            </a:r>
            <a:endParaRPr lang="en-US" sz="900" dirty="0"/>
          </a:p>
        </p:txBody>
      </p:sp>
      <p:sp>
        <p:nvSpPr>
          <p:cNvPr id="8" name="Text 6"/>
          <p:cNvSpPr/>
          <p:nvPr/>
        </p:nvSpPr>
        <p:spPr>
          <a:xfrm>
            <a:off x="384048" y="1371600"/>
            <a:ext cx="11368735" cy="822960"/>
          </a:xfrm>
          <a:prstGeom prst="rect">
            <a:avLst/>
          </a:prstGeom>
          <a:noFill/>
          <a:ln/>
        </p:spPr>
        <p:txBody>
          <a:bodyPr wrap="square" rtlCol="0" anchor="ctr"/>
          <a:lstStyle/>
          <a:p>
            <a:pPr indent="0" marL="0">
              <a:buNone/>
            </a:pPr>
            <a:r>
              <a:rPr lang="en-US" sz="3400" b="1" dirty="0">
                <a:solidFill>
                  <a:srgbClr val="F5F5F5"/>
                </a:solidFill>
                <a:latin typeface="Chakra Petch" pitchFamily="34" charset="0"/>
                <a:ea typeface="Chakra Petch" pitchFamily="34" charset="-122"/>
                <a:cs typeface="Chakra Petch" pitchFamily="34" charset="-120"/>
              </a:rPr>
              <a:t>Phased Rollout Plan &amp; Institutional Call-to-Action</a:t>
            </a:r>
            <a:endParaRPr lang="en-US" sz="3400" dirty="0"/>
          </a:p>
        </p:txBody>
      </p:sp>
      <p:sp>
        <p:nvSpPr>
          <p:cNvPr id="9" name="Text 7"/>
          <p:cNvSpPr/>
          <p:nvPr/>
        </p:nvSpPr>
        <p:spPr>
          <a:xfrm>
            <a:off x="411480" y="2121408"/>
            <a:ext cx="10545775" cy="411480"/>
          </a:xfrm>
          <a:prstGeom prst="rect">
            <a:avLst/>
          </a:prstGeom>
          <a:noFill/>
          <a:ln/>
        </p:spPr>
        <p:txBody>
          <a:bodyPr wrap="square" rtlCol="0" anchor="t"/>
          <a:lstStyle/>
          <a:p>
            <a:pPr indent="0" marL="0">
              <a:buNone/>
            </a:pPr>
            <a:r>
              <a:rPr lang="en-US" sz="1500" dirty="0">
                <a:solidFill>
                  <a:srgbClr val="9CA3AF"/>
                </a:solidFill>
                <a:latin typeface="Rajdhani" pitchFamily="34" charset="0"/>
                <a:ea typeface="Rajdhani" pitchFamily="34" charset="-122"/>
                <a:cs typeface="Rajdhani" pitchFamily="34" charset="-120"/>
              </a:rPr>
              <a:t>From pilot to official college portal — in three phases.</a:t>
            </a:r>
            <a:endParaRPr lang="en-US" sz="1500" dirty="0"/>
          </a:p>
        </p:txBody>
      </p:sp>
      <p:sp>
        <p:nvSpPr>
          <p:cNvPr id="10" name="Shape 8"/>
          <p:cNvSpPr/>
          <p:nvPr/>
        </p:nvSpPr>
        <p:spPr>
          <a:xfrm>
            <a:off x="411480" y="2697480"/>
            <a:ext cx="3655466" cy="1636776"/>
          </a:xfrm>
          <a:prstGeom prst="roundRect">
            <a:avLst>
              <a:gd name="adj" fmla="val 5587"/>
            </a:avLst>
          </a:prstGeom>
          <a:solidFill>
            <a:srgbClr val="0F0F14"/>
          </a:solidFill>
          <a:ln w="12700">
            <a:solidFill>
              <a:srgbClr val="26262D"/>
            </a:solidFill>
            <a:prstDash val="solid"/>
          </a:ln>
        </p:spPr>
      </p:sp>
      <p:sp>
        <p:nvSpPr>
          <p:cNvPr id="11" name="Shape 9"/>
          <p:cNvSpPr/>
          <p:nvPr/>
        </p:nvSpPr>
        <p:spPr>
          <a:xfrm>
            <a:off x="411480" y="2807208"/>
            <a:ext cx="45720" cy="1417320"/>
          </a:xfrm>
          <a:prstGeom prst="rect">
            <a:avLst/>
          </a:prstGeom>
          <a:solidFill>
            <a:srgbClr val="DC2626"/>
          </a:solidFill>
          <a:ln/>
        </p:spPr>
      </p:sp>
      <p:sp>
        <p:nvSpPr>
          <p:cNvPr id="12" name="Text 10"/>
          <p:cNvSpPr/>
          <p:nvPr/>
        </p:nvSpPr>
        <p:spPr>
          <a:xfrm>
            <a:off x="612648" y="2788920"/>
            <a:ext cx="3289706"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Phase 1 — Pilot Deployment</a:t>
            </a:r>
            <a:endParaRPr lang="en-US" sz="1450" dirty="0"/>
          </a:p>
        </p:txBody>
      </p:sp>
      <p:sp>
        <p:nvSpPr>
          <p:cNvPr id="13" name="Text 11"/>
          <p:cNvSpPr/>
          <p:nvPr/>
        </p:nvSpPr>
        <p:spPr>
          <a:xfrm>
            <a:off x="612648" y="3227832"/>
            <a:ext cx="3289706" cy="996696"/>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Weeks 1–2 · Deploy for 2 departmental workshops; validate gate scanning &amp; certificate dispatch.</a:t>
            </a:r>
            <a:endParaRPr lang="en-US" sz="1250" dirty="0"/>
          </a:p>
        </p:txBody>
      </p:sp>
      <p:sp>
        <p:nvSpPr>
          <p:cNvPr id="14" name="Shape 12"/>
          <p:cNvSpPr/>
          <p:nvPr/>
        </p:nvSpPr>
        <p:spPr>
          <a:xfrm>
            <a:off x="4268114" y="2697480"/>
            <a:ext cx="3655466" cy="1636776"/>
          </a:xfrm>
          <a:prstGeom prst="roundRect">
            <a:avLst>
              <a:gd name="adj" fmla="val 5587"/>
            </a:avLst>
          </a:prstGeom>
          <a:solidFill>
            <a:srgbClr val="0F0F14"/>
          </a:solidFill>
          <a:ln w="12700">
            <a:solidFill>
              <a:srgbClr val="26262D"/>
            </a:solidFill>
            <a:prstDash val="solid"/>
          </a:ln>
        </p:spPr>
      </p:sp>
      <p:sp>
        <p:nvSpPr>
          <p:cNvPr id="15" name="Shape 13"/>
          <p:cNvSpPr/>
          <p:nvPr/>
        </p:nvSpPr>
        <p:spPr>
          <a:xfrm>
            <a:off x="4268114" y="2807208"/>
            <a:ext cx="45720" cy="1417320"/>
          </a:xfrm>
          <a:prstGeom prst="rect">
            <a:avLst/>
          </a:prstGeom>
          <a:solidFill>
            <a:srgbClr val="DC2626"/>
          </a:solidFill>
          <a:ln/>
        </p:spPr>
      </p:sp>
      <p:sp>
        <p:nvSpPr>
          <p:cNvPr id="16" name="Text 14"/>
          <p:cNvSpPr/>
          <p:nvPr/>
        </p:nvSpPr>
        <p:spPr>
          <a:xfrm>
            <a:off x="4469282" y="2788920"/>
            <a:ext cx="3289706"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Phase 2 — Club &amp; Faculty Onboarding</a:t>
            </a:r>
            <a:endParaRPr lang="en-US" sz="1450" dirty="0"/>
          </a:p>
        </p:txBody>
      </p:sp>
      <p:sp>
        <p:nvSpPr>
          <p:cNvPr id="17" name="Text 15"/>
          <p:cNvSpPr/>
          <p:nvPr/>
        </p:nvSpPr>
        <p:spPr>
          <a:xfrm>
            <a:off x="4469282" y="3227832"/>
            <a:ext cx="3289706" cy="996696"/>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Weeks 3–4 · 30-min training for club leads, societies (IEEE, GDSC, ACM, Cultural) &amp; coordinators.</a:t>
            </a:r>
            <a:endParaRPr lang="en-US" sz="1250" dirty="0"/>
          </a:p>
        </p:txBody>
      </p:sp>
      <p:sp>
        <p:nvSpPr>
          <p:cNvPr id="18" name="Shape 16"/>
          <p:cNvSpPr/>
          <p:nvPr/>
        </p:nvSpPr>
        <p:spPr>
          <a:xfrm>
            <a:off x="8124749" y="2697480"/>
            <a:ext cx="3655466" cy="1636776"/>
          </a:xfrm>
          <a:prstGeom prst="roundRect">
            <a:avLst>
              <a:gd name="adj" fmla="val 5587"/>
            </a:avLst>
          </a:prstGeom>
          <a:solidFill>
            <a:srgbClr val="0F0F14"/>
          </a:solidFill>
          <a:ln w="12700">
            <a:solidFill>
              <a:srgbClr val="26262D"/>
            </a:solidFill>
            <a:prstDash val="solid"/>
          </a:ln>
        </p:spPr>
      </p:sp>
      <p:sp>
        <p:nvSpPr>
          <p:cNvPr id="19" name="Shape 17"/>
          <p:cNvSpPr/>
          <p:nvPr/>
        </p:nvSpPr>
        <p:spPr>
          <a:xfrm>
            <a:off x="8124749" y="2807208"/>
            <a:ext cx="45720" cy="1417320"/>
          </a:xfrm>
          <a:prstGeom prst="rect">
            <a:avLst/>
          </a:prstGeom>
          <a:solidFill>
            <a:srgbClr val="DC2626"/>
          </a:solidFill>
          <a:ln/>
        </p:spPr>
      </p:sp>
      <p:sp>
        <p:nvSpPr>
          <p:cNvPr id="20" name="Text 18"/>
          <p:cNvSpPr/>
          <p:nvPr/>
        </p:nvSpPr>
        <p:spPr>
          <a:xfrm>
            <a:off x="8325917" y="2788920"/>
            <a:ext cx="3289706"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Phase 3 — Campus-Wide Launch</a:t>
            </a:r>
            <a:endParaRPr lang="en-US" sz="1450" dirty="0"/>
          </a:p>
        </p:txBody>
      </p:sp>
      <p:sp>
        <p:nvSpPr>
          <p:cNvPr id="21" name="Text 19"/>
          <p:cNvSpPr/>
          <p:nvPr/>
        </p:nvSpPr>
        <p:spPr>
          <a:xfrm>
            <a:off x="8325917" y="3227832"/>
            <a:ext cx="3289706" cy="996696"/>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Month 2 · Official event portal linked on the college website &amp; student app.</a:t>
            </a:r>
            <a:endParaRPr lang="en-US" sz="1250" dirty="0"/>
          </a:p>
        </p:txBody>
      </p:sp>
      <p:sp>
        <p:nvSpPr>
          <p:cNvPr id="22" name="Shape 20"/>
          <p:cNvSpPr/>
          <p:nvPr/>
        </p:nvSpPr>
        <p:spPr>
          <a:xfrm>
            <a:off x="411480" y="4535424"/>
            <a:ext cx="3655466" cy="1636776"/>
          </a:xfrm>
          <a:prstGeom prst="roundRect">
            <a:avLst>
              <a:gd name="adj" fmla="val 5587"/>
            </a:avLst>
          </a:prstGeom>
          <a:solidFill>
            <a:srgbClr val="0F0F14"/>
          </a:solidFill>
          <a:ln w="12700">
            <a:solidFill>
              <a:srgbClr val="26262D"/>
            </a:solidFill>
            <a:prstDash val="solid"/>
          </a:ln>
        </p:spPr>
      </p:sp>
      <p:sp>
        <p:nvSpPr>
          <p:cNvPr id="23" name="Shape 21"/>
          <p:cNvSpPr/>
          <p:nvPr/>
        </p:nvSpPr>
        <p:spPr>
          <a:xfrm>
            <a:off x="411480" y="4645152"/>
            <a:ext cx="45720" cy="1417320"/>
          </a:xfrm>
          <a:prstGeom prst="rect">
            <a:avLst/>
          </a:prstGeom>
          <a:solidFill>
            <a:srgbClr val="DC2626"/>
          </a:solidFill>
          <a:ln/>
        </p:spPr>
      </p:sp>
      <p:sp>
        <p:nvSpPr>
          <p:cNvPr id="24" name="Text 22"/>
          <p:cNvSpPr/>
          <p:nvPr/>
        </p:nvSpPr>
        <p:spPr>
          <a:xfrm>
            <a:off x="612648" y="4626864"/>
            <a:ext cx="3289706"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 Our Request Today</a:t>
            </a:r>
            <a:endParaRPr lang="en-US" sz="1450" dirty="0"/>
          </a:p>
        </p:txBody>
      </p:sp>
      <p:sp>
        <p:nvSpPr>
          <p:cNvPr id="25" name="Text 23"/>
          <p:cNvSpPr/>
          <p:nvPr/>
        </p:nvSpPr>
        <p:spPr>
          <a:xfrm>
            <a:off x="612648" y="5065776"/>
            <a:ext cx="3289706" cy="996696"/>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Seeking official approval from College Administration to launch the Phase 1 Pilot.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411480" y="347472"/>
            <a:ext cx="384048" cy="384048"/>
          </a:xfrm>
          <a:prstGeom prst="roundRect">
            <a:avLst>
              <a:gd name="adj" fmla="val 19048"/>
            </a:avLst>
          </a:prstGeom>
          <a:solidFill>
            <a:srgbClr val="DC2626"/>
          </a:solidFill>
          <a:ln/>
        </p:spPr>
      </p:sp>
      <p:sp>
        <p:nvSpPr>
          <p:cNvPr id="3" name="Text 1"/>
          <p:cNvSpPr/>
          <p:nvPr/>
        </p:nvSpPr>
        <p:spPr>
          <a:xfrm>
            <a:off x="411480" y="347472"/>
            <a:ext cx="384048" cy="384048"/>
          </a:xfrm>
          <a:prstGeom prst="rect">
            <a:avLst/>
          </a:prstGeom>
          <a:noFill/>
          <a:ln/>
        </p:spPr>
        <p:txBody>
          <a:bodyPr wrap="square" rtlCol="0" anchor="ctr"/>
          <a:lstStyle/>
          <a:p>
            <a:pPr algn="ctr" indent="0" marL="0">
              <a:buNone/>
            </a:pPr>
            <a:r>
              <a:rPr lang="en-US" sz="1600" b="1" dirty="0">
                <a:solidFill>
                  <a:srgbClr val="FFFFFF"/>
                </a:solidFill>
                <a:latin typeface="Chakra Petch" pitchFamily="34" charset="0"/>
                <a:ea typeface="Chakra Petch" pitchFamily="34" charset="-122"/>
                <a:cs typeface="Chakra Petch" pitchFamily="34" charset="-120"/>
              </a:rPr>
              <a:t>N</a:t>
            </a:r>
            <a:endParaRPr lang="en-US" sz="1600" dirty="0"/>
          </a:p>
        </p:txBody>
      </p:sp>
      <p:sp>
        <p:nvSpPr>
          <p:cNvPr id="4" name="Text 2"/>
          <p:cNvSpPr/>
          <p:nvPr/>
        </p:nvSpPr>
        <p:spPr>
          <a:xfrm>
            <a:off x="886968" y="365760"/>
            <a:ext cx="2926080" cy="347472"/>
          </a:xfrm>
          <a:prstGeom prst="rect">
            <a:avLst/>
          </a:prstGeom>
          <a:noFill/>
          <a:ln/>
        </p:spPr>
        <p:txBody>
          <a:bodyPr wrap="square" rtlCol="0" anchor="ctr"/>
          <a:lstStyle/>
          <a:p>
            <a:pPr indent="0" marL="0">
              <a:buNone/>
            </a:pPr>
            <a:r>
              <a:rPr lang="en-US" b="1" dirty="0">
                <a:solidFill>
                  <a:srgbClr val="F5F5F5"/>
                </a:solidFill>
                <a:latin typeface="Chakra Petch" pitchFamily="34" charset="0"/>
                <a:ea typeface="Chakra Petch" pitchFamily="34" charset="-122"/>
                <a:cs typeface="Chakra Petch" pitchFamily="34" charset="-120"/>
              </a:rPr>
              <a:t>NX-913  </a:t>
            </a:r>
            <a:pPr indent="0" marL="0">
              <a:buNone/>
            </a:pPr>
            <a:r>
              <a:rPr lang="en-US" sz="1100" dirty="0">
                <a:solidFill>
                  <a:srgbClr val="71717A"/>
                </a:solidFill>
                <a:latin typeface="Rajdhani" pitchFamily="34" charset="0"/>
                <a:ea typeface="Rajdhani" pitchFamily="34" charset="-122"/>
                <a:cs typeface="Rajdhani" pitchFamily="34" charset="-120"/>
              </a:rPr>
              <a:t>CAMPUS OS</a:t>
            </a:r>
            <a:endParaRPr lang="en-US" sz="1100" dirty="0"/>
          </a:p>
        </p:txBody>
      </p:sp>
      <p:sp>
        <p:nvSpPr>
          <p:cNvPr id="5" name="Text 3"/>
          <p:cNvSpPr/>
          <p:nvPr/>
        </p:nvSpPr>
        <p:spPr>
          <a:xfrm>
            <a:off x="9814255" y="402336"/>
            <a:ext cx="1965960" cy="274320"/>
          </a:xfrm>
          <a:prstGeom prst="rect">
            <a:avLst/>
          </a:prstGeom>
          <a:noFill/>
          <a:ln/>
        </p:spPr>
        <p:txBody>
          <a:bodyPr wrap="square" rtlCol="0" anchor="ctr"/>
          <a:lstStyle/>
          <a:p>
            <a:pPr algn="r" indent="0" marL="0">
              <a:buNone/>
            </a:pPr>
            <a:r>
              <a:rPr lang="en-US" sz="900" spc="200" kern="0" dirty="0">
                <a:solidFill>
                  <a:srgbClr val="71717A"/>
                </a:solidFill>
                <a:latin typeface="JetBrains Mono" pitchFamily="34" charset="0"/>
                <a:ea typeface="JetBrains Mono" pitchFamily="34" charset="-122"/>
                <a:cs typeface="JetBrains Mono" pitchFamily="34" charset="-120"/>
              </a:rPr>
              <a:t>PITCH DECK</a:t>
            </a:r>
            <a:endParaRPr lang="en-US" sz="900" dirty="0"/>
          </a:p>
        </p:txBody>
      </p:sp>
      <p:sp>
        <p:nvSpPr>
          <p:cNvPr id="6" name="Shape 4"/>
          <p:cNvSpPr/>
          <p:nvPr/>
        </p:nvSpPr>
        <p:spPr>
          <a:xfrm>
            <a:off x="411480" y="960120"/>
            <a:ext cx="1143000" cy="347472"/>
          </a:xfrm>
          <a:prstGeom prst="roundRect">
            <a:avLst>
              <a:gd name="adj" fmla="val 50000"/>
            </a:avLst>
          </a:prstGeom>
          <a:solidFill>
            <a:srgbClr val="1A0D0D"/>
          </a:solidFill>
          <a:ln w="12700">
            <a:solidFill>
              <a:srgbClr val="7F1D1D"/>
            </a:solidFill>
            <a:prstDash val="solid"/>
          </a:ln>
        </p:spPr>
      </p:sp>
      <p:sp>
        <p:nvSpPr>
          <p:cNvPr id="7" name="Text 5"/>
          <p:cNvSpPr/>
          <p:nvPr/>
        </p:nvSpPr>
        <p:spPr>
          <a:xfrm>
            <a:off x="411480" y="960120"/>
            <a:ext cx="1143000" cy="347472"/>
          </a:xfrm>
          <a:prstGeom prst="rect">
            <a:avLst/>
          </a:prstGeom>
          <a:noFill/>
          <a:ln/>
        </p:spPr>
        <p:txBody>
          <a:bodyPr wrap="square" rtlCol="0" anchor="ctr"/>
          <a:lstStyle/>
          <a:p>
            <a:pPr algn="ctr" indent="0" marL="0">
              <a:buNone/>
            </a:pPr>
            <a:r>
              <a:rPr lang="en-US" sz="900" spc="100" kern="0" dirty="0">
                <a:solidFill>
                  <a:srgbClr val="F87171"/>
                </a:solidFill>
                <a:latin typeface="JetBrains Mono" pitchFamily="34" charset="0"/>
                <a:ea typeface="JetBrains Mono" pitchFamily="34" charset="-122"/>
                <a:cs typeface="JetBrains Mono" pitchFamily="34" charset="-120"/>
              </a:rPr>
              <a:t>15 Q&amp;A PREP</a:t>
            </a:r>
            <a:endParaRPr lang="en-US" sz="900" dirty="0"/>
          </a:p>
        </p:txBody>
      </p:sp>
      <p:sp>
        <p:nvSpPr>
          <p:cNvPr id="8" name="Text 6"/>
          <p:cNvSpPr/>
          <p:nvPr/>
        </p:nvSpPr>
        <p:spPr>
          <a:xfrm>
            <a:off x="384048" y="1371600"/>
            <a:ext cx="11368735" cy="822960"/>
          </a:xfrm>
          <a:prstGeom prst="rect">
            <a:avLst/>
          </a:prstGeom>
          <a:noFill/>
          <a:ln/>
        </p:spPr>
        <p:txBody>
          <a:bodyPr wrap="square" rtlCol="0" anchor="ctr"/>
          <a:lstStyle/>
          <a:p>
            <a:pPr indent="0" marL="0">
              <a:buNone/>
            </a:pPr>
            <a:r>
              <a:rPr lang="en-US" sz="3400" b="1" dirty="0">
                <a:solidFill>
                  <a:srgbClr val="F5F5F5"/>
                </a:solidFill>
                <a:latin typeface="Chakra Petch" pitchFamily="34" charset="0"/>
                <a:ea typeface="Chakra Petch" pitchFamily="34" charset="-122"/>
                <a:cs typeface="Chakra Petch" pitchFamily="34" charset="-120"/>
              </a:rPr>
              <a:t>Tough Questions, Confident Answers</a:t>
            </a:r>
            <a:endParaRPr lang="en-US" sz="3400" dirty="0"/>
          </a:p>
        </p:txBody>
      </p:sp>
      <p:sp>
        <p:nvSpPr>
          <p:cNvPr id="9" name="Text 7"/>
          <p:cNvSpPr/>
          <p:nvPr/>
        </p:nvSpPr>
        <p:spPr>
          <a:xfrm>
            <a:off x="411480" y="2121408"/>
            <a:ext cx="10545775" cy="411480"/>
          </a:xfrm>
          <a:prstGeom prst="rect">
            <a:avLst/>
          </a:prstGeom>
          <a:noFill/>
          <a:ln/>
        </p:spPr>
        <p:txBody>
          <a:bodyPr wrap="square" rtlCol="0" anchor="t"/>
          <a:lstStyle/>
          <a:p>
            <a:pPr indent="0" marL="0">
              <a:buNone/>
            </a:pPr>
            <a:r>
              <a:rPr lang="en-US" sz="1500" dirty="0">
                <a:solidFill>
                  <a:srgbClr val="9CA3AF"/>
                </a:solidFill>
                <a:latin typeface="Rajdhani" pitchFamily="34" charset="0"/>
                <a:ea typeface="Rajdhani" pitchFamily="34" charset="-122"/>
                <a:cs typeface="Rajdhani" pitchFamily="34" charset="-120"/>
              </a:rPr>
              <a:t>What the Dean, Principal &amp; faculty may ask — and the evidence-backed response.</a:t>
            </a:r>
            <a:endParaRPr lang="en-US" sz="1500" dirty="0"/>
          </a:p>
        </p:txBody>
      </p:sp>
      <p:sp>
        <p:nvSpPr>
          <p:cNvPr id="10" name="Shape 8"/>
          <p:cNvSpPr/>
          <p:nvPr/>
        </p:nvSpPr>
        <p:spPr>
          <a:xfrm>
            <a:off x="411480" y="2697480"/>
            <a:ext cx="5583784" cy="1024128"/>
          </a:xfrm>
          <a:prstGeom prst="roundRect">
            <a:avLst>
              <a:gd name="adj" fmla="val 8929"/>
            </a:avLst>
          </a:prstGeom>
          <a:solidFill>
            <a:srgbClr val="0F0F14"/>
          </a:solidFill>
          <a:ln w="12700">
            <a:solidFill>
              <a:srgbClr val="26262D"/>
            </a:solidFill>
            <a:prstDash val="solid"/>
          </a:ln>
        </p:spPr>
      </p:sp>
      <p:sp>
        <p:nvSpPr>
          <p:cNvPr id="11" name="Shape 9"/>
          <p:cNvSpPr/>
          <p:nvPr/>
        </p:nvSpPr>
        <p:spPr>
          <a:xfrm>
            <a:off x="411480" y="2807208"/>
            <a:ext cx="45720" cy="804672"/>
          </a:xfrm>
          <a:prstGeom prst="rect">
            <a:avLst/>
          </a:prstGeom>
          <a:solidFill>
            <a:srgbClr val="DC2626"/>
          </a:solidFill>
          <a:ln/>
        </p:spPr>
      </p:sp>
      <p:sp>
        <p:nvSpPr>
          <p:cNvPr id="12" name="Text 10"/>
          <p:cNvSpPr/>
          <p:nvPr/>
        </p:nvSpPr>
        <p:spPr>
          <a:xfrm>
            <a:off x="612648" y="2788920"/>
            <a:ext cx="5218024"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"What if the internet fails during a 1,000-person fest?"</a:t>
            </a:r>
            <a:endParaRPr lang="en-US" sz="1450" dirty="0"/>
          </a:p>
        </p:txBody>
      </p:sp>
      <p:sp>
        <p:nvSpPr>
          <p:cNvPr id="13" name="Text 11"/>
          <p:cNvSpPr/>
          <p:nvPr/>
        </p:nvSpPr>
        <p:spPr>
          <a:xfrm>
            <a:off x="612648" y="3227832"/>
            <a:ext cx="5218024" cy="384048"/>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Offline PWA Protocol — encrypted local cache, sub-0.5s validation, auto-sync on reconnect.</a:t>
            </a:r>
            <a:endParaRPr lang="en-US" sz="1250" dirty="0"/>
          </a:p>
        </p:txBody>
      </p:sp>
      <p:sp>
        <p:nvSpPr>
          <p:cNvPr id="14" name="Shape 12"/>
          <p:cNvSpPr/>
          <p:nvPr/>
        </p:nvSpPr>
        <p:spPr>
          <a:xfrm>
            <a:off x="6196432" y="2697480"/>
            <a:ext cx="5583784" cy="1024128"/>
          </a:xfrm>
          <a:prstGeom prst="roundRect">
            <a:avLst>
              <a:gd name="adj" fmla="val 8929"/>
            </a:avLst>
          </a:prstGeom>
          <a:solidFill>
            <a:srgbClr val="0F0F14"/>
          </a:solidFill>
          <a:ln w="12700">
            <a:solidFill>
              <a:srgbClr val="26262D"/>
            </a:solidFill>
            <a:prstDash val="solid"/>
          </a:ln>
        </p:spPr>
      </p:sp>
      <p:sp>
        <p:nvSpPr>
          <p:cNvPr id="15" name="Shape 13"/>
          <p:cNvSpPr/>
          <p:nvPr/>
        </p:nvSpPr>
        <p:spPr>
          <a:xfrm>
            <a:off x="6196432" y="2807208"/>
            <a:ext cx="45720" cy="804672"/>
          </a:xfrm>
          <a:prstGeom prst="rect">
            <a:avLst/>
          </a:prstGeom>
          <a:solidFill>
            <a:srgbClr val="DC2626"/>
          </a:solidFill>
          <a:ln/>
        </p:spPr>
      </p:sp>
      <p:sp>
        <p:nvSpPr>
          <p:cNvPr id="16" name="Text 14"/>
          <p:cNvSpPr/>
          <p:nvPr/>
        </p:nvSpPr>
        <p:spPr>
          <a:xfrm>
            <a:off x="6397600" y="2788920"/>
            <a:ext cx="5218024"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"Can a student create a fake or inappropriate event?"</a:t>
            </a:r>
            <a:endParaRPr lang="en-US" sz="1450" dirty="0"/>
          </a:p>
        </p:txBody>
      </p:sp>
      <p:sp>
        <p:nvSpPr>
          <p:cNvPr id="17" name="Text 15"/>
          <p:cNvSpPr/>
          <p:nvPr/>
        </p:nvSpPr>
        <p:spPr>
          <a:xfrm>
            <a:off x="6397600" y="3227832"/>
            <a:ext cx="5218024" cy="384048"/>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Strict RBAC — only verified club organizers can create, and events need faculty/admin approval.</a:t>
            </a:r>
            <a:endParaRPr lang="en-US" sz="1250" dirty="0"/>
          </a:p>
        </p:txBody>
      </p:sp>
      <p:sp>
        <p:nvSpPr>
          <p:cNvPr id="18" name="Shape 16"/>
          <p:cNvSpPr/>
          <p:nvPr/>
        </p:nvSpPr>
        <p:spPr>
          <a:xfrm>
            <a:off x="411480" y="3922776"/>
            <a:ext cx="5583784" cy="1024128"/>
          </a:xfrm>
          <a:prstGeom prst="roundRect">
            <a:avLst>
              <a:gd name="adj" fmla="val 8929"/>
            </a:avLst>
          </a:prstGeom>
          <a:solidFill>
            <a:srgbClr val="0F0F14"/>
          </a:solidFill>
          <a:ln w="12700">
            <a:solidFill>
              <a:srgbClr val="26262D"/>
            </a:solidFill>
            <a:prstDash val="solid"/>
          </a:ln>
        </p:spPr>
      </p:sp>
      <p:sp>
        <p:nvSpPr>
          <p:cNvPr id="19" name="Shape 17"/>
          <p:cNvSpPr/>
          <p:nvPr/>
        </p:nvSpPr>
        <p:spPr>
          <a:xfrm>
            <a:off x="411480" y="4032504"/>
            <a:ext cx="45720" cy="804672"/>
          </a:xfrm>
          <a:prstGeom prst="rect">
            <a:avLst/>
          </a:prstGeom>
          <a:solidFill>
            <a:srgbClr val="DC2626"/>
          </a:solidFill>
          <a:ln/>
        </p:spPr>
      </p:sp>
      <p:sp>
        <p:nvSpPr>
          <p:cNvPr id="20" name="Text 18"/>
          <p:cNvSpPr/>
          <p:nvPr/>
        </p:nvSpPr>
        <p:spPr>
          <a:xfrm>
            <a:off x="612648" y="4014216"/>
            <a:ext cx="5218024"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"How does this help NAAC / NBA accreditation?"</a:t>
            </a:r>
            <a:endParaRPr lang="en-US" sz="1450" dirty="0"/>
          </a:p>
        </p:txBody>
      </p:sp>
      <p:sp>
        <p:nvSpPr>
          <p:cNvPr id="21" name="Text 19"/>
          <p:cNvSpPr/>
          <p:nvPr/>
        </p:nvSpPr>
        <p:spPr>
          <a:xfrm>
            <a:off x="612648" y="4453128"/>
            <a:ext cx="5218024" cy="384048"/>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AI report generator exports structured DOCX/PDF formatted for NAAC Criterion V.</a:t>
            </a:r>
            <a:endParaRPr lang="en-US" sz="1250" dirty="0"/>
          </a:p>
        </p:txBody>
      </p:sp>
      <p:sp>
        <p:nvSpPr>
          <p:cNvPr id="22" name="Shape 20"/>
          <p:cNvSpPr/>
          <p:nvPr/>
        </p:nvSpPr>
        <p:spPr>
          <a:xfrm>
            <a:off x="6196432" y="3922776"/>
            <a:ext cx="5583784" cy="1024128"/>
          </a:xfrm>
          <a:prstGeom prst="roundRect">
            <a:avLst>
              <a:gd name="adj" fmla="val 8929"/>
            </a:avLst>
          </a:prstGeom>
          <a:solidFill>
            <a:srgbClr val="0F0F14"/>
          </a:solidFill>
          <a:ln w="12700">
            <a:solidFill>
              <a:srgbClr val="26262D"/>
            </a:solidFill>
            <a:prstDash val="solid"/>
          </a:ln>
        </p:spPr>
      </p:sp>
      <p:sp>
        <p:nvSpPr>
          <p:cNvPr id="23" name="Shape 21"/>
          <p:cNvSpPr/>
          <p:nvPr/>
        </p:nvSpPr>
        <p:spPr>
          <a:xfrm>
            <a:off x="6196432" y="4032504"/>
            <a:ext cx="45720" cy="804672"/>
          </a:xfrm>
          <a:prstGeom prst="rect">
            <a:avLst/>
          </a:prstGeom>
          <a:solidFill>
            <a:srgbClr val="DC2626"/>
          </a:solidFill>
          <a:ln/>
        </p:spPr>
      </p:sp>
      <p:sp>
        <p:nvSpPr>
          <p:cNvPr id="24" name="Text 22"/>
          <p:cNvSpPr/>
          <p:nvPr/>
        </p:nvSpPr>
        <p:spPr>
          <a:xfrm>
            <a:off x="6397600" y="4014216"/>
            <a:ext cx="5218024"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"Is student data secure and private?"</a:t>
            </a:r>
            <a:endParaRPr lang="en-US" sz="1450" dirty="0"/>
          </a:p>
        </p:txBody>
      </p:sp>
      <p:sp>
        <p:nvSpPr>
          <p:cNvPr id="25" name="Text 23"/>
          <p:cNvSpPr/>
          <p:nvPr/>
        </p:nvSpPr>
        <p:spPr>
          <a:xfrm>
            <a:off x="6397600" y="4453128"/>
            <a:ext cx="5218024" cy="384048"/>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JWT with refresh rotation, 2FA, encrypted hashing, role-based queries &amp; rate-limiting.</a:t>
            </a:r>
            <a:endParaRPr lang="en-US" sz="1250" dirty="0"/>
          </a:p>
        </p:txBody>
      </p:sp>
      <p:sp>
        <p:nvSpPr>
          <p:cNvPr id="26" name="Shape 24"/>
          <p:cNvSpPr/>
          <p:nvPr/>
        </p:nvSpPr>
        <p:spPr>
          <a:xfrm>
            <a:off x="411480" y="5148072"/>
            <a:ext cx="5583784" cy="1024128"/>
          </a:xfrm>
          <a:prstGeom prst="roundRect">
            <a:avLst>
              <a:gd name="adj" fmla="val 8929"/>
            </a:avLst>
          </a:prstGeom>
          <a:solidFill>
            <a:srgbClr val="0F0F14"/>
          </a:solidFill>
          <a:ln w="12700">
            <a:solidFill>
              <a:srgbClr val="26262D"/>
            </a:solidFill>
            <a:prstDash val="solid"/>
          </a:ln>
        </p:spPr>
      </p:sp>
      <p:sp>
        <p:nvSpPr>
          <p:cNvPr id="27" name="Shape 25"/>
          <p:cNvSpPr/>
          <p:nvPr/>
        </p:nvSpPr>
        <p:spPr>
          <a:xfrm>
            <a:off x="411480" y="5257800"/>
            <a:ext cx="45720" cy="804672"/>
          </a:xfrm>
          <a:prstGeom prst="rect">
            <a:avLst/>
          </a:prstGeom>
          <a:solidFill>
            <a:srgbClr val="DC2626"/>
          </a:solidFill>
          <a:ln/>
        </p:spPr>
      </p:sp>
      <p:sp>
        <p:nvSpPr>
          <p:cNvPr id="28" name="Text 26"/>
          <p:cNvSpPr/>
          <p:nvPr/>
        </p:nvSpPr>
        <p:spPr>
          <a:xfrm>
            <a:off x="612648" y="5239512"/>
            <a:ext cx="5218024" cy="384048"/>
          </a:xfrm>
          <a:prstGeom prst="rect">
            <a:avLst/>
          </a:prstGeom>
          <a:noFill/>
          <a:ln/>
        </p:spPr>
        <p:txBody>
          <a:bodyPr wrap="square" rtlCol="0" anchor="t"/>
          <a:lstStyle/>
          <a:p>
            <a:pPr indent="0" marL="0">
              <a:buNone/>
            </a:pPr>
            <a:r>
              <a:rPr lang="en-US" sz="1450" b="1" dirty="0">
                <a:solidFill>
                  <a:srgbClr val="F5F5F5"/>
                </a:solidFill>
                <a:latin typeface="Chakra Petch" pitchFamily="34" charset="0"/>
                <a:ea typeface="Chakra Petch" pitchFamily="34" charset="-122"/>
                <a:cs typeface="Chakra Petch" pitchFamily="34" charset="-120"/>
              </a:rPr>
              <a:t>"Will the server crash if 2,000 students register at once?"</a:t>
            </a:r>
            <a:endParaRPr lang="en-US" sz="1450" dirty="0"/>
          </a:p>
        </p:txBody>
      </p:sp>
      <p:sp>
        <p:nvSpPr>
          <p:cNvPr id="29" name="Text 27"/>
          <p:cNvSpPr/>
          <p:nvPr/>
        </p:nvSpPr>
        <p:spPr>
          <a:xfrm>
            <a:off x="612648" y="5678424"/>
            <a:ext cx="5218024" cy="384048"/>
          </a:xfrm>
          <a:prstGeom prst="rect">
            <a:avLst/>
          </a:prstGeom>
          <a:noFill/>
          <a:ln/>
        </p:spPr>
        <p:txBody>
          <a:bodyPr wrap="square" rtlCol="0" anchor="t"/>
          <a:lstStyle/>
          <a:p>
            <a:pPr indent="0" marL="0">
              <a:lnSpc>
                <a:spcPts val="1800"/>
              </a:lnSpc>
              <a:buNone/>
            </a:pPr>
            <a:r>
              <a:rPr lang="en-US" sz="1250" dirty="0">
                <a:solidFill>
                  <a:srgbClr val="9CA3AF"/>
                </a:solidFill>
                <a:latin typeface="Rajdhani" pitchFamily="34" charset="0"/>
                <a:ea typeface="Rajdhani" pitchFamily="34" charset="-122"/>
                <a:cs typeface="Rajdhani" pitchFamily="34" charset="-120"/>
              </a:rPr>
              <a:t>Async BullMQ/Redis workers handle PDFs, certificates &amp; mail — API stays light.</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411480" y="347472"/>
            <a:ext cx="384048" cy="384048"/>
          </a:xfrm>
          <a:prstGeom prst="roundRect">
            <a:avLst>
              <a:gd name="adj" fmla="val 19048"/>
            </a:avLst>
          </a:prstGeom>
          <a:solidFill>
            <a:srgbClr val="DC2626"/>
          </a:solidFill>
          <a:ln/>
        </p:spPr>
      </p:sp>
      <p:sp>
        <p:nvSpPr>
          <p:cNvPr id="3" name="Text 1"/>
          <p:cNvSpPr/>
          <p:nvPr/>
        </p:nvSpPr>
        <p:spPr>
          <a:xfrm>
            <a:off x="411480" y="347472"/>
            <a:ext cx="384048" cy="384048"/>
          </a:xfrm>
          <a:prstGeom prst="rect">
            <a:avLst/>
          </a:prstGeom>
          <a:noFill/>
          <a:ln/>
        </p:spPr>
        <p:txBody>
          <a:bodyPr wrap="square" rtlCol="0" anchor="ctr"/>
          <a:lstStyle/>
          <a:p>
            <a:pPr algn="ctr" indent="0" marL="0">
              <a:buNone/>
            </a:pPr>
            <a:r>
              <a:rPr lang="en-US" sz="1600" b="1" dirty="0">
                <a:solidFill>
                  <a:srgbClr val="FFFFFF"/>
                </a:solidFill>
                <a:latin typeface="Chakra Petch" pitchFamily="34" charset="0"/>
                <a:ea typeface="Chakra Petch" pitchFamily="34" charset="-122"/>
                <a:cs typeface="Chakra Petch" pitchFamily="34" charset="-120"/>
              </a:rPr>
              <a:t>N</a:t>
            </a:r>
            <a:endParaRPr lang="en-US" sz="1600" dirty="0"/>
          </a:p>
        </p:txBody>
      </p:sp>
      <p:sp>
        <p:nvSpPr>
          <p:cNvPr id="4" name="Text 2"/>
          <p:cNvSpPr/>
          <p:nvPr/>
        </p:nvSpPr>
        <p:spPr>
          <a:xfrm>
            <a:off x="886968" y="365760"/>
            <a:ext cx="2926080" cy="347472"/>
          </a:xfrm>
          <a:prstGeom prst="rect">
            <a:avLst/>
          </a:prstGeom>
          <a:noFill/>
          <a:ln/>
        </p:spPr>
        <p:txBody>
          <a:bodyPr wrap="square" rtlCol="0" anchor="ctr"/>
          <a:lstStyle/>
          <a:p>
            <a:pPr indent="0" marL="0">
              <a:buNone/>
            </a:pPr>
            <a:r>
              <a:rPr lang="en-US" b="1" dirty="0">
                <a:solidFill>
                  <a:srgbClr val="F5F5F5"/>
                </a:solidFill>
                <a:latin typeface="Chakra Petch" pitchFamily="34" charset="0"/>
                <a:ea typeface="Chakra Petch" pitchFamily="34" charset="-122"/>
                <a:cs typeface="Chakra Petch" pitchFamily="34" charset="-120"/>
              </a:rPr>
              <a:t>NX-913  </a:t>
            </a:r>
            <a:pPr indent="0" marL="0">
              <a:buNone/>
            </a:pPr>
            <a:r>
              <a:rPr lang="en-US" sz="1100" dirty="0">
                <a:solidFill>
                  <a:srgbClr val="71717A"/>
                </a:solidFill>
                <a:latin typeface="Rajdhani" pitchFamily="34" charset="0"/>
                <a:ea typeface="Rajdhani" pitchFamily="34" charset="-122"/>
                <a:cs typeface="Rajdhani" pitchFamily="34" charset="-120"/>
              </a:rPr>
              <a:t>CAMPUS OS</a:t>
            </a:r>
            <a:endParaRPr lang="en-US" sz="1100" dirty="0"/>
          </a:p>
        </p:txBody>
      </p:sp>
      <p:sp>
        <p:nvSpPr>
          <p:cNvPr id="5" name="Text 3"/>
          <p:cNvSpPr/>
          <p:nvPr/>
        </p:nvSpPr>
        <p:spPr>
          <a:xfrm>
            <a:off x="9814255" y="402336"/>
            <a:ext cx="1965960" cy="274320"/>
          </a:xfrm>
          <a:prstGeom prst="rect">
            <a:avLst/>
          </a:prstGeom>
          <a:noFill/>
          <a:ln/>
        </p:spPr>
        <p:txBody>
          <a:bodyPr wrap="square" rtlCol="0" anchor="ctr"/>
          <a:lstStyle/>
          <a:p>
            <a:pPr algn="r" indent="0" marL="0">
              <a:buNone/>
            </a:pPr>
            <a:r>
              <a:rPr lang="en-US" sz="900" spc="200" kern="0" dirty="0">
                <a:solidFill>
                  <a:srgbClr val="71717A"/>
                </a:solidFill>
                <a:latin typeface="JetBrains Mono" pitchFamily="34" charset="0"/>
                <a:ea typeface="JetBrains Mono" pitchFamily="34" charset="-122"/>
                <a:cs typeface="JetBrains Mono" pitchFamily="34" charset="-120"/>
              </a:rPr>
              <a:t>PITCH DECK</a:t>
            </a:r>
            <a:endParaRPr lang="en-US" sz="900" dirty="0"/>
          </a:p>
        </p:txBody>
      </p:sp>
      <p:sp>
        <p:nvSpPr>
          <p:cNvPr id="6" name="Shape 4"/>
          <p:cNvSpPr/>
          <p:nvPr/>
        </p:nvSpPr>
        <p:spPr>
          <a:xfrm>
            <a:off x="7162495" y="-1371600"/>
            <a:ext cx="6400800" cy="6400800"/>
          </a:xfrm>
          <a:prstGeom prst="ellipse">
            <a:avLst/>
          </a:prstGeom>
          <a:solidFill>
            <a:srgbClr val="DC2626">
              <a:alpha val="10000"/>
            </a:srgbClr>
          </a:solidFill>
          <a:ln/>
        </p:spPr>
      </p:sp>
      <p:sp>
        <p:nvSpPr>
          <p:cNvPr id="7" name="Text 5"/>
          <p:cNvSpPr/>
          <p:nvPr/>
        </p:nvSpPr>
        <p:spPr>
          <a:xfrm>
            <a:off x="0" y="2011680"/>
            <a:ext cx="12191695" cy="1371600"/>
          </a:xfrm>
          <a:prstGeom prst="rect">
            <a:avLst/>
          </a:prstGeom>
          <a:noFill/>
          <a:ln/>
        </p:spPr>
        <p:txBody>
          <a:bodyPr wrap="square" rtlCol="0" anchor="ctr"/>
          <a:lstStyle/>
          <a:p>
            <a:pPr algn="ctr" indent="0" marL="0">
              <a:buNone/>
            </a:pPr>
            <a:r>
              <a:rPr lang="en-US" sz="6600" b="1" dirty="0">
                <a:solidFill>
                  <a:srgbClr val="F5F5F5"/>
                </a:solidFill>
                <a:latin typeface="Chakra Petch" pitchFamily="34" charset="0"/>
                <a:ea typeface="Chakra Petch" pitchFamily="34" charset="-122"/>
                <a:cs typeface="Chakra Petch" pitchFamily="34" charset="-120"/>
              </a:rPr>
              <a:t>Thank You</a:t>
            </a:r>
            <a:endParaRPr lang="en-US" sz="6600" dirty="0"/>
          </a:p>
        </p:txBody>
      </p:sp>
      <p:sp>
        <p:nvSpPr>
          <p:cNvPr id="8" name="Text 6"/>
          <p:cNvSpPr/>
          <p:nvPr/>
        </p:nvSpPr>
        <p:spPr>
          <a:xfrm>
            <a:off x="2255368" y="3611880"/>
            <a:ext cx="7680960" cy="502920"/>
          </a:xfrm>
          <a:prstGeom prst="rect">
            <a:avLst/>
          </a:prstGeom>
          <a:noFill/>
          <a:ln/>
        </p:spPr>
        <p:txBody>
          <a:bodyPr wrap="square" rtlCol="0" anchor="ctr"/>
          <a:lstStyle/>
          <a:p>
            <a:pPr algn="ctr" indent="0" marL="0">
              <a:buNone/>
            </a:pPr>
            <a:r>
              <a:rPr lang="en-US" sz="1600" dirty="0">
                <a:solidFill>
                  <a:srgbClr val="9CA3AF"/>
                </a:solidFill>
                <a:latin typeface="Rajdhani" pitchFamily="34" charset="0"/>
                <a:ea typeface="Rajdhani" pitchFamily="34" charset="-122"/>
                <a:cs typeface="Rajdhani" pitchFamily="34" charset="-120"/>
              </a:rPr>
              <a:t>NX-913 — the unified operating system for every campus event, hackathon &amp; accreditation report.</a:t>
            </a:r>
            <a:endParaRPr lang="en-US" sz="1600" dirty="0"/>
          </a:p>
        </p:txBody>
      </p:sp>
      <p:sp>
        <p:nvSpPr>
          <p:cNvPr id="9" name="Text 7"/>
          <p:cNvSpPr/>
          <p:nvPr/>
        </p:nvSpPr>
        <p:spPr>
          <a:xfrm>
            <a:off x="2895448" y="4206240"/>
            <a:ext cx="6400800" cy="365760"/>
          </a:xfrm>
          <a:prstGeom prst="rect">
            <a:avLst/>
          </a:prstGeom>
          <a:noFill/>
          <a:ln/>
        </p:spPr>
        <p:txBody>
          <a:bodyPr wrap="square" rtlCol="0" anchor="ctr"/>
          <a:lstStyle/>
          <a:p>
            <a:pPr algn="ctr" indent="0" marL="0">
              <a:buNone/>
            </a:pPr>
            <a:r>
              <a:rPr lang="en-US" sz="1350" dirty="0">
                <a:solidFill>
                  <a:srgbClr val="FFD700"/>
                </a:solidFill>
                <a:latin typeface="Rajdhani" pitchFamily="34" charset="0"/>
                <a:ea typeface="Rajdhani" pitchFamily="34" charset="-122"/>
                <a:cs typeface="Rajdhani" pitchFamily="34" charset="-120"/>
              </a:rPr>
              <a:t>“From Registration to NAAC Reports — In One Click.”</a:t>
            </a:r>
            <a:endParaRPr lang="en-US" sz="1350" dirty="0"/>
          </a:p>
        </p:txBody>
      </p:sp>
      <p:sp>
        <p:nvSpPr>
          <p:cNvPr id="10" name="Shape 8"/>
          <p:cNvSpPr/>
          <p:nvPr/>
        </p:nvSpPr>
        <p:spPr>
          <a:xfrm>
            <a:off x="1386688" y="4846320"/>
            <a:ext cx="2148840" cy="457200"/>
          </a:xfrm>
          <a:prstGeom prst="roundRect">
            <a:avLst>
              <a:gd name="adj" fmla="val 50000"/>
            </a:avLst>
          </a:prstGeom>
          <a:solidFill>
            <a:srgbClr val="19191E"/>
          </a:solidFill>
          <a:ln w="12700">
            <a:solidFill>
              <a:srgbClr val="26262D"/>
            </a:solidFill>
            <a:prstDash val="solid"/>
          </a:ln>
        </p:spPr>
      </p:sp>
      <p:sp>
        <p:nvSpPr>
          <p:cNvPr id="11" name="Text 9"/>
          <p:cNvSpPr/>
          <p:nvPr/>
        </p:nvSpPr>
        <p:spPr>
          <a:xfrm>
            <a:off x="1386688" y="4846320"/>
            <a:ext cx="2148840" cy="457200"/>
          </a:xfrm>
          <a:prstGeom prst="rect">
            <a:avLst/>
          </a:prstGeom>
          <a:noFill/>
          <a:ln/>
        </p:spPr>
        <p:txBody>
          <a:bodyPr wrap="square" rtlCol="0" anchor="ctr"/>
          <a:lstStyle/>
          <a:p>
            <a:pPr algn="ctr" indent="0" marL="0">
              <a:buNone/>
            </a:pPr>
            <a:r>
              <a:rPr lang="en-US" sz="1200" b="1" dirty="0">
                <a:solidFill>
                  <a:srgbClr val="F5F5F5"/>
                </a:solidFill>
                <a:latin typeface="Rajdhani" pitchFamily="34" charset="0"/>
                <a:ea typeface="Rajdhani" pitchFamily="34" charset="-122"/>
                <a:cs typeface="Rajdhani" pitchFamily="34" charset="-120"/>
              </a:rPr>
              <a:t>🎟️ Events &amp; Passes</a:t>
            </a:r>
            <a:endParaRPr lang="en-US" sz="1200" dirty="0"/>
          </a:p>
        </p:txBody>
      </p:sp>
      <p:sp>
        <p:nvSpPr>
          <p:cNvPr id="12" name="Shape 10"/>
          <p:cNvSpPr/>
          <p:nvPr/>
        </p:nvSpPr>
        <p:spPr>
          <a:xfrm>
            <a:off x="3809848" y="4846320"/>
            <a:ext cx="2148840" cy="457200"/>
          </a:xfrm>
          <a:prstGeom prst="roundRect">
            <a:avLst>
              <a:gd name="adj" fmla="val 50000"/>
            </a:avLst>
          </a:prstGeom>
          <a:solidFill>
            <a:srgbClr val="19191E"/>
          </a:solidFill>
          <a:ln w="12700">
            <a:solidFill>
              <a:srgbClr val="26262D"/>
            </a:solidFill>
            <a:prstDash val="solid"/>
          </a:ln>
        </p:spPr>
      </p:sp>
      <p:sp>
        <p:nvSpPr>
          <p:cNvPr id="13" name="Text 11"/>
          <p:cNvSpPr/>
          <p:nvPr/>
        </p:nvSpPr>
        <p:spPr>
          <a:xfrm>
            <a:off x="3809848" y="4846320"/>
            <a:ext cx="2148840" cy="457200"/>
          </a:xfrm>
          <a:prstGeom prst="rect">
            <a:avLst/>
          </a:prstGeom>
          <a:noFill/>
          <a:ln/>
        </p:spPr>
        <p:txBody>
          <a:bodyPr wrap="square" rtlCol="0" anchor="ctr"/>
          <a:lstStyle/>
          <a:p>
            <a:pPr algn="ctr" indent="0" marL="0">
              <a:buNone/>
            </a:pPr>
            <a:r>
              <a:rPr lang="en-US" sz="1200" b="1" dirty="0">
                <a:solidFill>
                  <a:srgbClr val="F5F5F5"/>
                </a:solidFill>
                <a:latin typeface="Rajdhani" pitchFamily="34" charset="0"/>
                <a:ea typeface="Rajdhani" pitchFamily="34" charset="-122"/>
                <a:cs typeface="Rajdhani" pitchFamily="34" charset="-120"/>
              </a:rPr>
              <a:t>🏆 Hackathons</a:t>
            </a:r>
            <a:endParaRPr lang="en-US" sz="1200" dirty="0"/>
          </a:p>
        </p:txBody>
      </p:sp>
      <p:sp>
        <p:nvSpPr>
          <p:cNvPr id="14" name="Shape 12"/>
          <p:cNvSpPr/>
          <p:nvPr/>
        </p:nvSpPr>
        <p:spPr>
          <a:xfrm>
            <a:off x="6233008" y="4846320"/>
            <a:ext cx="2148840" cy="457200"/>
          </a:xfrm>
          <a:prstGeom prst="roundRect">
            <a:avLst>
              <a:gd name="adj" fmla="val 50000"/>
            </a:avLst>
          </a:prstGeom>
          <a:solidFill>
            <a:srgbClr val="19191E"/>
          </a:solidFill>
          <a:ln w="12700">
            <a:solidFill>
              <a:srgbClr val="26262D"/>
            </a:solidFill>
            <a:prstDash val="solid"/>
          </a:ln>
        </p:spPr>
      </p:sp>
      <p:sp>
        <p:nvSpPr>
          <p:cNvPr id="15" name="Text 13"/>
          <p:cNvSpPr/>
          <p:nvPr/>
        </p:nvSpPr>
        <p:spPr>
          <a:xfrm>
            <a:off x="6233008" y="4846320"/>
            <a:ext cx="2148840" cy="457200"/>
          </a:xfrm>
          <a:prstGeom prst="rect">
            <a:avLst/>
          </a:prstGeom>
          <a:noFill/>
          <a:ln/>
        </p:spPr>
        <p:txBody>
          <a:bodyPr wrap="square" rtlCol="0" anchor="ctr"/>
          <a:lstStyle/>
          <a:p>
            <a:pPr algn="ctr" indent="0" marL="0">
              <a:buNone/>
            </a:pPr>
            <a:r>
              <a:rPr lang="en-US" sz="1200" b="1" dirty="0">
                <a:solidFill>
                  <a:srgbClr val="F5F5F5"/>
                </a:solidFill>
                <a:latin typeface="Rajdhani" pitchFamily="34" charset="0"/>
                <a:ea typeface="Rajdhani" pitchFamily="34" charset="-122"/>
                <a:cs typeface="Rajdhani" pitchFamily="34" charset="-120"/>
              </a:rPr>
              <a:t>📜 Certificates</a:t>
            </a:r>
            <a:endParaRPr lang="en-US" sz="1200" dirty="0"/>
          </a:p>
        </p:txBody>
      </p:sp>
      <p:sp>
        <p:nvSpPr>
          <p:cNvPr id="16" name="Shape 14"/>
          <p:cNvSpPr/>
          <p:nvPr/>
        </p:nvSpPr>
        <p:spPr>
          <a:xfrm>
            <a:off x="8656168" y="4846320"/>
            <a:ext cx="2148840" cy="457200"/>
          </a:xfrm>
          <a:prstGeom prst="roundRect">
            <a:avLst>
              <a:gd name="adj" fmla="val 50000"/>
            </a:avLst>
          </a:prstGeom>
          <a:solidFill>
            <a:srgbClr val="19191E"/>
          </a:solidFill>
          <a:ln w="12700">
            <a:solidFill>
              <a:srgbClr val="26262D"/>
            </a:solidFill>
            <a:prstDash val="solid"/>
          </a:ln>
        </p:spPr>
      </p:sp>
      <p:sp>
        <p:nvSpPr>
          <p:cNvPr id="17" name="Text 15"/>
          <p:cNvSpPr/>
          <p:nvPr/>
        </p:nvSpPr>
        <p:spPr>
          <a:xfrm>
            <a:off x="8656168" y="4846320"/>
            <a:ext cx="2148840" cy="457200"/>
          </a:xfrm>
          <a:prstGeom prst="rect">
            <a:avLst/>
          </a:prstGeom>
          <a:noFill/>
          <a:ln/>
        </p:spPr>
        <p:txBody>
          <a:bodyPr wrap="square" rtlCol="0" anchor="ctr"/>
          <a:lstStyle/>
          <a:p>
            <a:pPr algn="ctr" indent="0" marL="0">
              <a:buNone/>
            </a:pPr>
            <a:r>
              <a:rPr lang="en-US" sz="1200" b="1" dirty="0">
                <a:solidFill>
                  <a:srgbClr val="F5F5F5"/>
                </a:solidFill>
                <a:latin typeface="Rajdhani" pitchFamily="34" charset="0"/>
                <a:ea typeface="Rajdhani" pitchFamily="34" charset="-122"/>
                <a:cs typeface="Rajdhani" pitchFamily="34" charset="-120"/>
              </a:rPr>
              <a:t>📄 NAAC Reports</a:t>
            </a:r>
            <a:endParaRPr lang="en-US" sz="1200" dirty="0"/>
          </a:p>
        </p:txBody>
      </p:sp>
      <p:sp>
        <p:nvSpPr>
          <p:cNvPr id="18" name="Text 16"/>
          <p:cNvSpPr/>
          <p:nvPr/>
        </p:nvSpPr>
        <p:spPr>
          <a:xfrm>
            <a:off x="3352648" y="5623560"/>
            <a:ext cx="5486400" cy="365760"/>
          </a:xfrm>
          <a:prstGeom prst="rect">
            <a:avLst/>
          </a:prstGeom>
          <a:noFill/>
          <a:ln/>
        </p:spPr>
        <p:txBody>
          <a:bodyPr wrap="square" rtlCol="0" anchor="ctr"/>
          <a:lstStyle/>
          <a:p>
            <a:pPr algn="ctr" indent="0" marL="0">
              <a:buNone/>
            </a:pPr>
            <a:r>
              <a:rPr lang="en-US" sz="1100" spc="200" kern="0" dirty="0">
                <a:solidFill>
                  <a:srgbClr val="F87171"/>
                </a:solidFill>
                <a:latin typeface="JetBrains Mono" pitchFamily="34" charset="0"/>
                <a:ea typeface="JetBrains Mono" pitchFamily="34" charset="-122"/>
                <a:cs typeface="JetBrains Mono" pitchFamily="34" charset="-120"/>
              </a:rPr>
              <a:t>QUESTIONS &amp; DISCUSSION — OPEN FLOOR</a:t>
            </a:r>
            <a:endParaRPr lang="en-US" sz="1100" dirty="0"/>
          </a:p>
        </p:txBody>
      </p:sp>
      <p:sp>
        <p:nvSpPr>
          <p:cNvPr id="19" name="Shape 17"/>
          <p:cNvSpPr/>
          <p:nvPr/>
        </p:nvSpPr>
        <p:spPr>
          <a:xfrm>
            <a:off x="0" y="6775704"/>
            <a:ext cx="12191695" cy="45720"/>
          </a:xfrm>
          <a:prstGeom prst="rect">
            <a:avLst/>
          </a:prstGeom>
          <a:solidFill>
            <a:srgbClr val="DC2626"/>
          </a:solidFill>
          <a:ln/>
        </p:spPr>
      </p:sp>
      <p:sp>
        <p:nvSpPr>
          <p:cNvPr id="20" name="Text 18"/>
          <p:cNvSpPr/>
          <p:nvPr/>
        </p:nvSpPr>
        <p:spPr>
          <a:xfrm>
            <a:off x="411480" y="6355080"/>
            <a:ext cx="5486400" cy="274320"/>
          </a:xfrm>
          <a:prstGeom prst="rect">
            <a:avLst/>
          </a:prstGeom>
          <a:noFill/>
          <a:ln/>
        </p:spPr>
        <p:txBody>
          <a:bodyPr wrap="square" rtlCol="0" anchor="ctr"/>
          <a:lstStyle/>
          <a:p>
            <a:pPr indent="0" marL="0">
              <a:buNone/>
            </a:pPr>
            <a:r>
              <a:rPr lang="en-US" sz="900" spc="150" kern="0" dirty="0">
                <a:solidFill>
                  <a:srgbClr val="71717A"/>
                </a:solidFill>
                <a:latin typeface="Rajdhani" pitchFamily="34" charset="0"/>
                <a:ea typeface="Rajdhani" pitchFamily="34" charset="-122"/>
                <a:cs typeface="Rajdhani" pitchFamily="34" charset="-120"/>
              </a:rPr>
              <a:t>NX-913 · CAMPUS EVENT &amp; HACKATHON OS</a:t>
            </a:r>
            <a:endParaRPr lang="en-US" sz="900" dirty="0"/>
          </a:p>
        </p:txBody>
      </p:sp>
      <p:sp>
        <p:nvSpPr>
          <p:cNvPr id="21" name="Text 19"/>
          <p:cNvSpPr/>
          <p:nvPr/>
        </p:nvSpPr>
        <p:spPr>
          <a:xfrm>
            <a:off x="10728655" y="6355080"/>
            <a:ext cx="1051560" cy="274320"/>
          </a:xfrm>
          <a:prstGeom prst="rect">
            <a:avLst/>
          </a:prstGeom>
          <a:noFill/>
          <a:ln/>
        </p:spPr>
        <p:txBody>
          <a:bodyPr wrap="square" rtlCol="0" anchor="ctr"/>
          <a:lstStyle/>
          <a:p>
            <a:pPr algn="r" indent="0" marL="0">
              <a:buNone/>
            </a:pPr>
            <a:r>
              <a:rPr lang="en-US" sz="1000" dirty="0">
                <a:solidFill>
                  <a:srgbClr val="9CA3AF"/>
                </a:solidFill>
                <a:latin typeface="JetBrains Mono" pitchFamily="34" charset="0"/>
                <a:ea typeface="JetBrains Mono" pitchFamily="34" charset="-122"/>
                <a:cs typeface="JetBrains Mono" pitchFamily="34" charset="-120"/>
              </a:rPr>
              <a:t>16 / 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NX-913 — Campus Event &amp; Hackathon Operating System</dc:title>
  <dc:subject>Pitch Deck</dc:subject>
  <dc:creator>NX-913</dc:creator>
  <cp:lastModifiedBy>NX-913</cp:lastModifiedBy>
  <cp:revision>1</cp:revision>
  <dcterms:created xsi:type="dcterms:W3CDTF">2026-08-14T08:59:47Z</dcterms:created>
  <dcterms:modified xsi:type="dcterms:W3CDTF">2026-08-14T08:59:47Z</dcterms:modified>
</cp:coreProperties>
</file>